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f64cfa7014824e32" /><Relationship Type="http://schemas.openxmlformats.org/package/2006/relationships/metadata/core-properties" Target="/docProps/core.xml" Id="R5ae06337f6c14336" /><Relationship Type="http://schemas.openxmlformats.org/officeDocument/2006/relationships/extended-properties" Target="/docProps/app.xml" Id="Ree971065cc1049a3" /><Relationship Type="http://schemas.openxmlformats.org/officeDocument/2006/relationships/custom-properties" Target="/docProps/custom.xml" Id="R908f8c7be366458b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Id1"/>
  </p:sldMasterIdLst>
  <p:notesMasterIdLst>
    <p:notesMasterId r:id="R01bd0726596e4667"/>
  </p:notesMasterIdLst>
  <p:sldIdLst>
    <p:sldId id="256" r:id="R7744d44b5dbb424e"/>
    <p:sldId id="257" r:id="R86d0bc2af1c24fb7"/>
    <p:sldId id="258" r:id="Rebf68b684e124ac0"/>
    <p:sldId id="259" r:id="R1ef6c946e5624a12"/>
    <p:sldId id="260" r:id="Rf1b59df36ee24218"/>
    <p:sldId id="261" r:id="Rfaa480658da749b3"/>
    <p:sldId id="262" r:id="Rc82d7ac5bfd740d6"/>
    <p:sldId id="263" r:id="R099709d599594569"/>
  </p:sldIdLst>
  <p:sldSz cx="12192000" cy="6858000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1" /><Relationship Type="http://schemas.openxmlformats.org/officeDocument/2006/relationships/theme" Target="/ppt/theme/theme1.xml" Id="rId2" /><Relationship Type="http://schemas.openxmlformats.org/officeDocument/2006/relationships/slide" Target="/ppt/slides/slide1.xml" Id="R7744d44b5dbb424e" /><Relationship Type="http://schemas.openxmlformats.org/officeDocument/2006/relationships/notesMaster" Target="/ppt/notesMasters/notesMaster1.xml" Id="R01bd0726596e4667" /><Relationship Type="http://schemas.openxmlformats.org/officeDocument/2006/relationships/slide" Target="/ppt/slides/slide2.xml" Id="R86d0bc2af1c24fb7" /><Relationship Type="http://schemas.openxmlformats.org/officeDocument/2006/relationships/slide" Target="/ppt/slides/slide3.xml" Id="Rebf68b684e124ac0" /><Relationship Type="http://schemas.openxmlformats.org/officeDocument/2006/relationships/slide" Target="/ppt/slides/slide4.xml" Id="R1ef6c946e5624a12" /><Relationship Type="http://schemas.openxmlformats.org/officeDocument/2006/relationships/slide" Target="/ppt/slides/slide5.xml" Id="Rf1b59df36ee24218" /><Relationship Type="http://schemas.openxmlformats.org/officeDocument/2006/relationships/slide" Target="/ppt/slides/slide6.xml" Id="Rfaa480658da749b3" /><Relationship Type="http://schemas.openxmlformats.org/officeDocument/2006/relationships/slide" Target="/ppt/slides/slide7.xml" Id="Rc82d7ac5bfd740d6" /><Relationship Type="http://schemas.openxmlformats.org/officeDocument/2006/relationships/slide" Target="/ppt/slides/slide8.xml" Id="R099709d599594569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3759e9fbdc9245e5" 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fld id="{B1E4B0A2-5C8E-4E5F-9C1D-2F3A4B5C6D71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25717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3429000"/>
            <a:ext cx="5486400" cy="4114800"/>
          </a:xfrm>
          <a:prstGeom prst="rect">
            <a:avLst/>
          </a:prstGeom>
        </p:spPr>
        <p:txBody>
          <a:bodyPr vert="horz" lIns="91440" tIns="45720" rIns="91440" bIns="4572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fld id="{B1E4B0A2-5C8E-4E5F-9C1D-2F3A4B5C6D72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>
          <a:solidFill>
            <a:schemeClr val="phClr"/>
          </a:solidFill>
        </a:ln>
        <a:ln w="12700" cap="flat">
          <a:solidFill>
            <a:schemeClr val="phClr"/>
          </a:solidFill>
        </a:ln>
        <a:ln w="19050" cap="flat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b9b6dadc6d3d4781" /><Relationship Type="http://schemas.openxmlformats.org/officeDocument/2006/relationships/slide" Target="/ppt/slides/slide1.xml" Id="R10ffc2142d454a45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d2510d52d81f4b9a" /><Relationship Type="http://schemas.openxmlformats.org/officeDocument/2006/relationships/slide" Target="/ppt/slides/slide2.xml" Id="R9c074f46918043e5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fa8c736f373f4558" /><Relationship Type="http://schemas.openxmlformats.org/officeDocument/2006/relationships/slide" Target="/ppt/slides/slide3.xml" Id="R48bd38664fcf4b76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d676e52a0bdf4ff2" /><Relationship Type="http://schemas.openxmlformats.org/officeDocument/2006/relationships/slide" Target="/ppt/slides/slide4.xml" Id="Ra34f208c573a447b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f26cc2593158494c" /><Relationship Type="http://schemas.openxmlformats.org/officeDocument/2006/relationships/slide" Target="/ppt/slides/slide5.xml" Id="R62ee77bf9a1d4723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09f0817976954c12" /><Relationship Type="http://schemas.openxmlformats.org/officeDocument/2006/relationships/slide" Target="/ppt/slides/slide6.xml" Id="R73c9a31889364d25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a873721c577b4634" /><Relationship Type="http://schemas.openxmlformats.org/officeDocument/2006/relationships/slide" Target="/ppt/slides/slide7.xml" Id="R03cc372830db40f6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81328c14c83d46e5" /><Relationship Type="http://schemas.openxmlformats.org/officeDocument/2006/relationships/slide" Target="/ppt/slides/slide8.xml" Id="R5b8dab3d8bf24b7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Welcome slide. Project: ColdChain AI Copilot. Team: Error Fellows. IBM Bob AI Hackathon 2026.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This slide covers the problem statement. Cold-chain pharmaceutical logistics is a high-stakes domain where late detection of disruptions or temperature excursions directly translates to financial loss and patient safety risk.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The architecture has 4 layers: IoT ingestion, deterministic AI engines, watsonx.ai generative layer, and the Next.js operator UI. Every numerical fact is deterministic. watsonx.ai is used only as explainer and orchestrator.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The key differentiator: deterministic engines produce all numbers, risk scores and routes. watsonx.ai is the explainer and language layer only — never the decision-maker. This ensures correctness-by-design.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Walk through this scenario step by step in the live demo. Total time from disruption trigger to first approved action: under 60 seconds.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Three distinct watsonx.ai integration patterns: structured classification, recommendation generation, and full conversational copilot. Model: meta-llama/llama-4-maverick-17b-128e-instruct-fp8.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Key metrics: sub-60 second end-to-end pipeline, 45 minute early excursion detection, full audit trail, 3 ranked route alternatives, and zero AI-hallucinated numbers.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Thank you slide. Team: Error Fellows. Lead: Priyank. ColdChain AI Copilot — IBM Bob AI Hackathon 2026.</a:t>
            </a:r>
          </a:p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2f3b1c9f4da4412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93b0fc84ead49df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3eb051150ca4775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8bc068983c542ab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05eb0a5a6a44a19" /></Relationships>
</file>

<file path=ppt/slideLayouts/slideLayout1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/>
    </p:spTree>
  </p:cSld>
</p:sldLayout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ctrTitle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Subtitle"/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3.xml><?xml version="1.0" encoding="utf-8"?>
<p:sldLayout xmlns:p="http://schemas.openxmlformats.org/presentationml/2006/main" type="objTx">
  <p:cSld name="Title and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ColTx">
  <p:cSld name="Two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 Left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4" name="Content Right"/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5.xml><?xml version="1.0" encoding="utf-8"?>
<p:sldLayout xmlns:p="http://schemas.openxmlformats.org/presentationml/2006/main" type="titleOnly">
  <p:cSld name="Title Only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1" /><Relationship Type="http://schemas.openxmlformats.org/officeDocument/2006/relationships/theme" Target="/ppt/theme/theme1.xml" Id="Re0686806e7624270" /><Relationship Type="http://schemas.openxmlformats.org/officeDocument/2006/relationships/slideLayout" Target="/ppt/slideLayouts/slideLayout2.xml" Id="rId2" /><Relationship Type="http://schemas.openxmlformats.org/officeDocument/2006/relationships/slideLayout" Target="/ppt/slideLayouts/slideLayout3.xml" Id="rId3" /><Relationship Type="http://schemas.openxmlformats.org/officeDocument/2006/relationships/slideLayout" Target="/ppt/slideLayouts/slideLayout4.xml" Id="rId4" /><Relationship Type="http://schemas.openxmlformats.org/officeDocument/2006/relationships/slideLayout" Target="/ppt/slideLayouts/slideLayout5.xml" Id="rId5" /></Relationships>
</file>

<file path=ppt/slideMasters/slideMaster1.xml><?xml version="1.0" encoding="utf-8"?>
<p:sldMaster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1"/>
    <p:sldLayoutId xmlns:r="http://schemas.openxmlformats.org/officeDocument/2006/relationships" id="2147483650" r:id="rId2"/>
    <p:sldLayoutId xmlns:r="http://schemas.openxmlformats.org/officeDocument/2006/relationships" id="2147483651" r:id="rId3"/>
    <p:sldLayoutId xmlns:r="http://schemas.openxmlformats.org/officeDocument/2006/relationships" id="2147483652" r:id="rId4"/>
    <p:sldLayoutId xmlns:r="http://schemas.openxmlformats.org/officeDocument/2006/relationships" id="2147483653" r:id="rId5"/>
  </p:sldLayoutIdLst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0d3b7eef1a145aa" /><Relationship Type="http://schemas.openxmlformats.org/officeDocument/2006/relationships/notesSlide" Target="/ppt/notesSlides/notesSlide1.xml" Id="Rf550400c7a2d498c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5adee0cf24b4cde" /><Relationship Type="http://schemas.openxmlformats.org/officeDocument/2006/relationships/notesSlide" Target="/ppt/notesSlides/notesSlide2.xml" Id="R6e09fce9c22a445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c978e880f9f4772" /><Relationship Type="http://schemas.openxmlformats.org/officeDocument/2006/relationships/notesSlide" Target="/ppt/notesSlides/notesSlide3.xml" Id="R5f9fd50f1d194276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42a430d0f1f475d" /><Relationship Type="http://schemas.openxmlformats.org/officeDocument/2006/relationships/notesSlide" Target="/ppt/notesSlides/notesSlide4.xml" Id="Rbc9c0c42712243ac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fee4bd4d66643c4" /><Relationship Type="http://schemas.openxmlformats.org/officeDocument/2006/relationships/notesSlide" Target="/ppt/notesSlides/notesSlide5.xml" Id="R2a0cffacc4644fa6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d523c9cd7a24756" /><Relationship Type="http://schemas.openxmlformats.org/officeDocument/2006/relationships/notesSlide" Target="/ppt/notesSlides/notesSlide6.xml" Id="R3d670446fa144671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42cee38924d444a" /><Relationship Type="http://schemas.openxmlformats.org/officeDocument/2006/relationships/notesSlide" Target="/ppt/notesSlides/notesSlide7.xml" Id="R8753ae7210f94fe9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1e7b54e017b4ac6" /><Relationship Type="http://schemas.openxmlformats.org/officeDocument/2006/relationships/notesSlide" Target="/ppt/notesSlides/notesSlide8.xml" Id="Rde021b115513494d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A0F1A"/>
        </a:solidFill>
      </p:bgPr>
    </p:bg>
    <p:spTree>
      <p:nvGrpSpPr>
        <p:cNvPr id="1" name=""/>
        <p:cNvGrpSpPr/>
        <p:nvPr/>
      </p:nvGrpSpPr>
      <p:grpSpPr/>
      <p:sp>
        <p:nvSpPr>
          <p:cNvPr id="100000" name="TopBar"/>
          <p:cNvSpPr txBox="1"/>
          <p:nvPr/>
        </p:nvSpPr>
        <p:spPr>
          <a:xfrm xmlns:a="http://schemas.openxmlformats.org/drawingml/2006/main">
            <a:off x="0" y="0"/>
            <a:ext cx="12193200" cy="14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6FA5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 sz="800">
              <a:solidFill>
                <a:srgbClr val="1D6FA5"/>
              </a:solidFill>
            </a:endParaRPr>
          </a:p>
        </p:txBody>
      </p:sp>
      <p:sp>
        <p:nvSpPr>
          <p:cNvPr id="100001" name="Tag"/>
          <p:cNvSpPr txBox="1"/>
          <p:nvPr/>
        </p:nvSpPr>
        <p:spPr>
          <a:xfrm xmlns:a="http://schemas.openxmlformats.org/drawingml/2006/main">
            <a:off x="540000" y="432000"/>
            <a:ext cx="10800000" cy="28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300" b="0">
                <a:solidFill>
                  <a:srgbClr val="5BA8D4"/>
                </a:solidFill>
              </a:rPr>
              <a:t>IBM Bob AI Hackathon 2026</a:t>
            </a:r>
          </a:p>
        </p:txBody>
      </p:sp>
      <p:sp>
        <p:nvSpPr>
          <p:cNvPr id="100002" name="Title"/>
          <p:cNvSpPr txBox="1"/>
          <p:nvPr/>
        </p:nvSpPr>
        <p:spPr>
          <a:xfrm xmlns:a="http://schemas.openxmlformats.org/drawingml/2006/main">
            <a:off x="540000" y="864000"/>
            <a:ext cx="10800000" cy="126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5400" b="1">
                <a:solidFill>
                  <a:srgbClr val="FFFFFF"/>
                </a:solidFill>
              </a:rPr>
              <a:t>ColdChain AI Copilot</a:t>
            </a:r>
          </a:p>
        </p:txBody>
      </p:sp>
      <p:sp>
        <p:nvSpPr>
          <p:cNvPr id="100003" name="Subtitle"/>
          <p:cNvSpPr txBox="1"/>
          <p:nvPr/>
        </p:nvSpPr>
        <p:spPr>
          <a:xfrm xmlns:a="http://schemas.openxmlformats.org/drawingml/2006/main">
            <a:off x="540000" y="2232000"/>
            <a:ext cx="10800000" cy="90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200" b="0">
                <a:solidFill>
                  <a:srgbClr val="B0C8E0"/>
                </a:solidFill>
              </a:rPr>
              <a:t>Real-Time Supply Chain Disruption Detection &amp; Fleet Optimisation</a:t>
            </a:r>
          </a:p>
          <a:p xmlns:a="http://schemas.openxmlformats.org/drawingml/2006/main">
            <a:r>
              <a:rPr lang="en-US" sz="2200" b="0">
                <a:solidFill>
                  <a:srgbClr val="B0C8E0"/>
                </a:solidFill>
              </a:rPr>
              <a:t>powered by IBM watsonx.ai</a:t>
            </a:r>
          </a:p>
        </p:txBody>
      </p:sp>
      <p:sp>
        <p:nvSpPr>
          <p:cNvPr id="100004" name="Team"/>
          <p:cNvSpPr txBox="1"/>
          <p:nvPr/>
        </p:nvSpPr>
        <p:spPr>
          <a:xfrm xmlns:a="http://schemas.openxmlformats.org/drawingml/2006/main">
            <a:off x="540000" y="5940000"/>
            <a:ext cx="10800000" cy="28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400">
                <a:solidFill>
                  <a:srgbClr val="5BA8D4"/>
                </a:solidFill>
              </a:rPr>
              <a:t>Team Error Fellows  ·  Track: AI</a:t>
            </a:r>
          </a:p>
        </p:txBody>
      </p:sp>
    </p:spTree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D1117"/>
        </a:solidFill>
      </p:bgPr>
    </p:bg>
    <p:spTree>
      <p:nvGrpSpPr>
        <p:cNvPr id="1" name=""/>
        <p:cNvGrpSpPr/>
        <p:nvPr/>
      </p:nvGrpSpPr>
      <p:grpSpPr/>
      <p:sp>
        <p:nvSpPr>
          <p:cNvPr id="100005" name="TopBar"/>
          <p:cNvSpPr txBox="1"/>
          <p:nvPr/>
        </p:nvSpPr>
        <p:spPr>
          <a:xfrm xmlns:a="http://schemas.openxmlformats.org/drawingml/2006/main">
            <a:off x="0" y="0"/>
            <a:ext cx="12193200" cy="14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0392B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 sz="800">
              <a:solidFill>
                <a:srgbClr val="C0392B"/>
              </a:solidFill>
            </a:endParaRPr>
          </a:p>
        </p:txBody>
      </p:sp>
      <p:sp>
        <p:nvSpPr>
          <p:cNvPr id="100006" name="SlideNum"/>
          <p:cNvSpPr txBox="1"/>
          <p:nvPr/>
        </p:nvSpPr>
        <p:spPr>
          <a:xfrm xmlns:a="http://schemas.openxmlformats.org/drawingml/2006/main">
            <a:off x="10440000" y="216000"/>
            <a:ext cx="1440000" cy="21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000">
                <a:solidFill>
                  <a:srgbClr val="5B6070"/>
                </a:solidFill>
              </a:rPr>
              <a:t>02 / 08</a:t>
            </a:r>
          </a:p>
        </p:txBody>
      </p:sp>
      <p:sp>
        <p:nvSpPr>
          <p:cNvPr id="100007" name="Title"/>
          <p:cNvSpPr txBox="1"/>
          <p:nvPr/>
        </p:nvSpPr>
        <p:spPr>
          <a:xfrm xmlns:a="http://schemas.openxmlformats.org/drawingml/2006/main">
            <a:off x="540000" y="432000"/>
            <a:ext cx="9000000" cy="57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600" b="1">
                <a:solidFill>
                  <a:srgbClr val="FFFFFF"/>
                </a:solidFill>
              </a:rPr>
              <a:t>The Problem</a:t>
            </a:r>
          </a:p>
        </p:txBody>
      </p:sp>
      <p:sp>
        <p:nvSpPr>
          <p:cNvPr id="100008" name="Stat1Box"/>
          <p:cNvSpPr txBox="1"/>
          <p:nvPr/>
        </p:nvSpPr>
        <p:spPr>
          <a:xfrm xmlns:a="http://schemas.openxmlformats.org/drawingml/2006/main">
            <a:off x="540000" y="1188000"/>
            <a:ext cx="3420000" cy="162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1F2E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 sz="1200">
              <a:solidFill>
                <a:srgbClr val="1A1F2E"/>
              </a:solidFill>
            </a:endParaRPr>
          </a:p>
        </p:txBody>
      </p:sp>
      <p:sp>
        <p:nvSpPr>
          <p:cNvPr id="100009" name="Stat1Val"/>
          <p:cNvSpPr txBox="1"/>
          <p:nvPr/>
        </p:nvSpPr>
        <p:spPr>
          <a:xfrm xmlns:a="http://schemas.openxmlformats.org/drawingml/2006/main">
            <a:off x="648000" y="1296000"/>
            <a:ext cx="3240000" cy="72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4200" b="1">
                <a:solidFill>
                  <a:srgbClr val="E74C3C"/>
                </a:solidFill>
              </a:rPr>
              <a:t>$500K+</a:t>
            </a:r>
          </a:p>
        </p:txBody>
      </p:sp>
      <p:sp>
        <p:nvSpPr>
          <p:cNvPr id="100010" name="Stat1Lbl"/>
          <p:cNvSpPr txBox="1"/>
          <p:nvPr/>
        </p:nvSpPr>
        <p:spPr>
          <a:xfrm xmlns:a="http://schemas.openxmlformats.org/drawingml/2006/main">
            <a:off x="648000" y="2016000"/>
            <a:ext cx="3240000" cy="64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400">
                <a:solidFill>
                  <a:srgbClr val="9AAABB"/>
                </a:solidFill>
              </a:rPr>
              <a:t>average cold-chain cargo</a:t>
            </a:r>
          </a:p>
          <a:p xmlns:a="http://schemas.openxmlformats.org/drawingml/2006/main">
            <a:r>
              <a:rPr lang="en-US" sz="1400">
                <a:solidFill>
                  <a:srgbClr val="9AAABB"/>
                </a:solidFill>
              </a:rPr>
              <a:t>loss per spoilage event</a:t>
            </a:r>
          </a:p>
        </p:txBody>
      </p:sp>
      <p:sp>
        <p:nvSpPr>
          <p:cNvPr id="100011" name="Stat2Box"/>
          <p:cNvSpPr txBox="1"/>
          <p:nvPr/>
        </p:nvSpPr>
        <p:spPr>
          <a:xfrm xmlns:a="http://schemas.openxmlformats.org/drawingml/2006/main">
            <a:off x="4320000" y="1188000"/>
            <a:ext cx="3420000" cy="162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1F2E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 sz="1200">
              <a:solidFill>
                <a:srgbClr val="1A1F2E"/>
              </a:solidFill>
            </a:endParaRPr>
          </a:p>
        </p:txBody>
      </p:sp>
      <p:sp>
        <p:nvSpPr>
          <p:cNvPr id="100012" name="Stat2Val"/>
          <p:cNvSpPr txBox="1"/>
          <p:nvPr/>
        </p:nvSpPr>
        <p:spPr>
          <a:xfrm xmlns:a="http://schemas.openxmlformats.org/drawingml/2006/main">
            <a:off x="4428000" y="1296000"/>
            <a:ext cx="3240000" cy="72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4200" b="1">
                <a:solidFill>
                  <a:srgbClr val="E67E22"/>
                </a:solidFill>
              </a:rPr>
              <a:t>72 hrs</a:t>
            </a:r>
          </a:p>
        </p:txBody>
      </p:sp>
      <p:sp>
        <p:nvSpPr>
          <p:cNvPr id="100013" name="Stat2Lbl"/>
          <p:cNvSpPr txBox="1"/>
          <p:nvPr/>
        </p:nvSpPr>
        <p:spPr>
          <a:xfrm xmlns:a="http://schemas.openxmlformats.org/drawingml/2006/main">
            <a:off x="4428000" y="2016000"/>
            <a:ext cx="3240000" cy="64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400">
                <a:solidFill>
                  <a:srgbClr val="9AAABB"/>
                </a:solidFill>
              </a:rPr>
              <a:t>average delay before</a:t>
            </a:r>
          </a:p>
          <a:p xmlns:a="http://schemas.openxmlformats.org/drawingml/2006/main">
            <a:r>
              <a:rPr lang="en-US" sz="1400">
                <a:solidFill>
                  <a:srgbClr val="9AAABB"/>
                </a:solidFill>
              </a:rPr>
              <a:t>disruption is actioned</a:t>
            </a:r>
          </a:p>
        </p:txBody>
      </p:sp>
      <p:sp>
        <p:nvSpPr>
          <p:cNvPr id="100014" name="Stat3Box"/>
          <p:cNvSpPr txBox="1"/>
          <p:nvPr/>
        </p:nvSpPr>
        <p:spPr>
          <a:xfrm xmlns:a="http://schemas.openxmlformats.org/drawingml/2006/main">
            <a:off x="8100000" y="1188000"/>
            <a:ext cx="3420000" cy="162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1F2E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 sz="1200">
              <a:solidFill>
                <a:srgbClr val="1A1F2E"/>
              </a:solidFill>
            </a:endParaRPr>
          </a:p>
        </p:txBody>
      </p:sp>
      <p:sp>
        <p:nvSpPr>
          <p:cNvPr id="100015" name="Stat3Val"/>
          <p:cNvSpPr txBox="1"/>
          <p:nvPr/>
        </p:nvSpPr>
        <p:spPr>
          <a:xfrm xmlns:a="http://schemas.openxmlformats.org/drawingml/2006/main">
            <a:off x="8208000" y="1296000"/>
            <a:ext cx="3240000" cy="72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4200" b="1">
                <a:solidFill>
                  <a:srgbClr val="F1C40F"/>
                </a:solidFill>
              </a:rPr>
              <a:t>1000s</a:t>
            </a:r>
          </a:p>
        </p:txBody>
      </p:sp>
      <p:sp>
        <p:nvSpPr>
          <p:cNvPr id="100016" name="Stat3Lbl"/>
          <p:cNvSpPr txBox="1"/>
          <p:nvPr/>
        </p:nvSpPr>
        <p:spPr>
          <a:xfrm xmlns:a="http://schemas.openxmlformats.org/drawingml/2006/main">
            <a:off x="8208000" y="2016000"/>
            <a:ext cx="3240000" cy="64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400">
                <a:solidFill>
                  <a:srgbClr val="9AAABB"/>
                </a:solidFill>
              </a:rPr>
              <a:t>daily IoT sensor readings</a:t>
            </a:r>
          </a:p>
          <a:p xmlns:a="http://schemas.openxmlformats.org/drawingml/2006/main">
            <a:r>
              <a:rPr lang="en-US" sz="1400">
                <a:solidFill>
                  <a:srgbClr val="9AAABB"/>
                </a:solidFill>
              </a:rPr>
              <a:t>reviewed manually</a:t>
            </a:r>
          </a:p>
        </p:txBody>
      </p:sp>
      <p:sp>
        <p:nvSpPr>
          <p:cNvPr id="100017" name="Body"/>
          <p:cNvSpPr txBox="1"/>
          <p:nvPr/>
        </p:nvSpPr>
        <p:spPr>
          <a:xfrm xmlns:a="http://schemas.openxmlformats.org/drawingml/2006/main">
            <a:off x="540000" y="3024000"/>
            <a:ext cx="10980000" cy="288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700">
                <a:solidFill>
                  <a:srgbClr val="C8D8E8"/>
                </a:solidFill>
              </a:rPr>
              <a:t>Operations managers managing cold-chain pharmaceutical shipments (vaccines, biologics) face a dual crisis:</a:t>
            </a:r>
          </a:p>
          <a:p xmlns:a="http://schemas.openxmlformats.org/drawingml/2006/main">
            <a:r>
              <a:rPr lang="en-US" sz="1700">
                <a:solidFill>
                  <a:srgbClr val="C8D8E8"/>
                </a:solidFill>
              </a:rPr>
              <a:t/>
            </a:r>
          </a:p>
          <a:p xmlns:a="http://schemas.openxmlformats.org/drawingml/2006/main">
            <a:r>
              <a:rPr lang="en-US" sz="1700">
                <a:solidFill>
                  <a:srgbClr val="C8D8E8"/>
                </a:solidFill>
              </a:rPr>
              <a:t>• Port strikes, blizzards and hurricanes cascade across hundreds of active shipments in ways impossible to track manually</a:t>
            </a:r>
          </a:p>
          <a:p xmlns:a="http://schemas.openxmlformats.org/drawingml/2006/main">
            <a:r>
              <a:rPr lang="en-US" sz="1700">
                <a:solidFill>
                  <a:srgbClr val="C8D8E8"/>
                </a:solidFill>
              </a:rPr>
              <a:t/>
            </a:r>
          </a:p>
          <a:p xmlns:a="http://schemas.openxmlformats.org/drawingml/2006/main">
            <a:r>
              <a:rPr lang="en-US" sz="1700">
                <a:solidFill>
                  <a:srgbClr val="C8D8E8"/>
                </a:solidFill>
              </a:rPr>
              <a:t>• IoT sensors generate thousands of temperature readings per day that go unanalysed — until a $500K+ cargo arrives spoiled</a:t>
            </a:r>
          </a:p>
          <a:p xmlns:a="http://schemas.openxmlformats.org/drawingml/2006/main">
            <a:r>
              <a:rPr lang="en-US" sz="1700">
                <a:solidFill>
                  <a:srgbClr val="C8D8E8"/>
                </a:solidFill>
              </a:rPr>
              <a:t/>
            </a:r>
          </a:p>
          <a:p xmlns:a="http://schemas.openxmlformats.org/drawingml/2006/main">
            <a:r>
              <a:rPr lang="en-US" sz="1700">
                <a:solidFill>
                  <a:srgbClr val="C8D8E8"/>
                </a:solidFill>
              </a:rPr>
              <a:t>The result: teams are always reacting too late, after the damage is done.</a:t>
            </a:r>
          </a:p>
        </p:txBody>
      </p:sp>
    </p:spTree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D1117"/>
        </a:solidFill>
      </p:bgPr>
    </p:bg>
    <p:spTree>
      <p:nvGrpSpPr>
        <p:cNvPr id="1" name=""/>
        <p:cNvGrpSpPr/>
        <p:nvPr/>
      </p:nvGrpSpPr>
      <p:grpSpPr/>
      <p:sp>
        <p:nvSpPr>
          <p:cNvPr id="100018" name="TopBar"/>
          <p:cNvSpPr txBox="1"/>
          <p:nvPr/>
        </p:nvSpPr>
        <p:spPr>
          <a:xfrm xmlns:a="http://schemas.openxmlformats.org/drawingml/2006/main">
            <a:off x="0" y="0"/>
            <a:ext cx="12193200" cy="14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6FA5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 sz="800">
              <a:solidFill>
                <a:srgbClr val="1D6FA5"/>
              </a:solidFill>
            </a:endParaRPr>
          </a:p>
        </p:txBody>
      </p:sp>
      <p:sp>
        <p:nvSpPr>
          <p:cNvPr id="100019" name="SlideNum"/>
          <p:cNvSpPr txBox="1"/>
          <p:nvPr/>
        </p:nvSpPr>
        <p:spPr>
          <a:xfrm xmlns:a="http://schemas.openxmlformats.org/drawingml/2006/main">
            <a:off x="10440000" y="216000"/>
            <a:ext cx="1440000" cy="21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000">
                <a:solidFill>
                  <a:srgbClr val="5B6070"/>
                </a:solidFill>
              </a:rPr>
              <a:t>03 / 08</a:t>
            </a:r>
          </a:p>
        </p:txBody>
      </p:sp>
      <p:sp>
        <p:nvSpPr>
          <p:cNvPr id="100020" name="Title"/>
          <p:cNvSpPr txBox="1"/>
          <p:nvPr/>
        </p:nvSpPr>
        <p:spPr>
          <a:xfrm xmlns:a="http://schemas.openxmlformats.org/drawingml/2006/main">
            <a:off x="540000" y="432000"/>
            <a:ext cx="9000000" cy="57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600" b="1">
                <a:solidFill>
                  <a:srgbClr val="FFFFFF"/>
                </a:solidFill>
              </a:rPr>
              <a:t>Solution Architecture</a:t>
            </a:r>
          </a:p>
        </p:txBody>
      </p:sp>
      <p:sp>
        <p:nvSpPr>
          <p:cNvPr id="100021" name="Pipeline"/>
          <p:cNvSpPr txBox="1"/>
          <p:nvPr/>
        </p:nvSpPr>
        <p:spPr>
          <a:xfrm xmlns:a="http://schemas.openxmlformats.org/drawingml/2006/main">
            <a:off x="540000" y="1080000"/>
            <a:ext cx="10980000" cy="43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200" b="1">
                <a:solidFill>
                  <a:srgbClr val="5BA8D4"/>
                </a:solidFill>
              </a:rPr>
              <a:t>DETECT  →  ASSESS  →  OPTIMISE  →  ACT</a:t>
            </a:r>
          </a:p>
        </p:txBody>
      </p:sp>
      <p:sp>
        <p:nvSpPr>
          <p:cNvPr id="100022" name="Layer1Box"/>
          <p:cNvSpPr txBox="1"/>
          <p:nvPr/>
        </p:nvSpPr>
        <p:spPr>
          <a:xfrm xmlns:a="http://schemas.openxmlformats.org/drawingml/2006/main">
            <a:off x="540000" y="1728000"/>
            <a:ext cx="2520000" cy="21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2236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 sz="1200">
              <a:solidFill>
                <a:srgbClr val="112236"/>
              </a:solidFill>
            </a:endParaRPr>
          </a:p>
        </p:txBody>
      </p:sp>
      <p:sp>
        <p:nvSpPr>
          <p:cNvPr id="100023" name="Layer1Ttl"/>
          <p:cNvSpPr txBox="1"/>
          <p:nvPr/>
        </p:nvSpPr>
        <p:spPr>
          <a:xfrm xmlns:a="http://schemas.openxmlformats.org/drawingml/2006/main">
            <a:off x="612000" y="1800000"/>
            <a:ext cx="2376000" cy="28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500" b="1">
                <a:solidFill>
                  <a:srgbClr val="5BA8D4"/>
                </a:solidFill>
              </a:rPr>
              <a:t>IoT Layer</a:t>
            </a:r>
          </a:p>
        </p:txBody>
      </p:sp>
      <p:sp>
        <p:nvSpPr>
          <p:cNvPr id="100024" name="Layer1Body"/>
          <p:cNvSpPr txBox="1"/>
          <p:nvPr/>
        </p:nvSpPr>
        <p:spPr>
          <a:xfrm xmlns:a="http://schemas.openxmlformats.org/drawingml/2006/main">
            <a:off x="612000" y="2124000"/>
            <a:ext cx="2376000" cy="144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300">
                <a:solidFill>
                  <a:srgbClr val="B0C8E0"/>
                </a:solidFill>
              </a:rPr>
              <a:t>• Simulated temp sensors</a:t>
            </a:r>
          </a:p>
          <a:p xmlns:a="http://schemas.openxmlformats.org/drawingml/2006/main">
            <a:r>
              <a:rPr lang="en-US" sz="1300">
                <a:solidFill>
                  <a:srgbClr val="B0C8E0"/>
                </a:solidFill>
              </a:rPr>
              <a:t>• 5-sec polling interval</a:t>
            </a:r>
          </a:p>
          <a:p xmlns:a="http://schemas.openxmlformats.org/drawingml/2006/main">
            <a:r>
              <a:rPr lang="en-US" sz="1300">
                <a:solidFill>
                  <a:srgbClr val="B0C8E0"/>
                </a:solidFill>
              </a:rPr>
              <a:t>• GDP excursion rules</a:t>
            </a:r>
          </a:p>
          <a:p xmlns:a="http://schemas.openxmlformats.org/drawingml/2006/main">
            <a:r>
              <a:rPr lang="en-US" sz="1300">
                <a:solidFill>
                  <a:srgbClr val="B0C8E0"/>
                </a:solidFill>
              </a:rPr>
              <a:t>• Socket.IO stream</a:t>
            </a:r>
          </a:p>
        </p:txBody>
      </p:sp>
      <p:sp>
        <p:nvSpPr>
          <p:cNvPr id="100025" name="Layer2Box"/>
          <p:cNvSpPr txBox="1"/>
          <p:nvPr/>
        </p:nvSpPr>
        <p:spPr>
          <a:xfrm xmlns:a="http://schemas.openxmlformats.org/drawingml/2006/main">
            <a:off x="3420000" y="1728000"/>
            <a:ext cx="2520000" cy="21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2236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 sz="1200">
              <a:solidFill>
                <a:srgbClr val="112236"/>
              </a:solidFill>
            </a:endParaRPr>
          </a:p>
        </p:txBody>
      </p:sp>
      <p:sp>
        <p:nvSpPr>
          <p:cNvPr id="100026" name="Layer2Ttl"/>
          <p:cNvSpPr txBox="1"/>
          <p:nvPr/>
        </p:nvSpPr>
        <p:spPr>
          <a:xfrm xmlns:a="http://schemas.openxmlformats.org/drawingml/2006/main">
            <a:off x="3492000" y="1800000"/>
            <a:ext cx="2376000" cy="28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500" b="1">
                <a:solidFill>
                  <a:srgbClr val="27AE60"/>
                </a:solidFill>
              </a:rPr>
              <a:t>AI Engines</a:t>
            </a:r>
          </a:p>
        </p:txBody>
      </p:sp>
      <p:sp>
        <p:nvSpPr>
          <p:cNvPr id="100027" name="Layer2Body"/>
          <p:cNvSpPr txBox="1"/>
          <p:nvPr/>
        </p:nvSpPr>
        <p:spPr>
          <a:xfrm xmlns:a="http://schemas.openxmlformats.org/drawingml/2006/main">
            <a:off x="3492000" y="2124000"/>
            <a:ext cx="2376000" cy="144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300">
                <a:solidFill>
                  <a:srgbClr val="B0C8E0"/>
                </a:solidFill>
              </a:rPr>
              <a:t>• coldChainEngine</a:t>
            </a:r>
          </a:p>
          <a:p xmlns:a="http://schemas.openxmlformats.org/drawingml/2006/main">
            <a:r>
              <a:rPr lang="en-US" sz="1300">
                <a:solidFill>
                  <a:srgbClr val="B0C8E0"/>
                </a:solidFill>
              </a:rPr>
              <a:t>• riskEngine (6 factors)</a:t>
            </a:r>
          </a:p>
          <a:p xmlns:a="http://schemas.openxmlformats.org/drawingml/2006/main">
            <a:r>
              <a:rPr lang="en-US" sz="1300">
                <a:solidFill>
                  <a:srgbClr val="B0C8E0"/>
                </a:solidFill>
              </a:rPr>
              <a:t>• impactEngine</a:t>
            </a:r>
          </a:p>
          <a:p xmlns:a="http://schemas.openxmlformats.org/drawingml/2006/main">
            <a:r>
              <a:rPr lang="en-US" sz="1300">
                <a:solidFill>
                  <a:srgbClr val="B0C8E0"/>
                </a:solidFill>
              </a:rPr>
              <a:t>• routeOptimizer</a:t>
            </a:r>
          </a:p>
          <a:p xmlns:a="http://schemas.openxmlformats.org/drawingml/2006/main">
            <a:r>
              <a:rPr lang="en-US" sz="1300">
                <a:solidFill>
                  <a:srgbClr val="B0C8E0"/>
                </a:solidFill>
              </a:rPr>
              <a:t>• fleetMatcher</a:t>
            </a:r>
          </a:p>
        </p:txBody>
      </p:sp>
      <p:sp>
        <p:nvSpPr>
          <p:cNvPr id="100028" name="Layer3Box"/>
          <p:cNvSpPr txBox="1"/>
          <p:nvPr/>
        </p:nvSpPr>
        <p:spPr>
          <a:xfrm xmlns:a="http://schemas.openxmlformats.org/drawingml/2006/main">
            <a:off x="6300000" y="1728000"/>
            <a:ext cx="2700000" cy="21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2236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 sz="1200">
              <a:solidFill>
                <a:srgbClr val="112236"/>
              </a:solidFill>
            </a:endParaRPr>
          </a:p>
        </p:txBody>
      </p:sp>
      <p:sp>
        <p:nvSpPr>
          <p:cNvPr id="100029" name="Layer3Ttl"/>
          <p:cNvSpPr txBox="1"/>
          <p:nvPr/>
        </p:nvSpPr>
        <p:spPr>
          <a:xfrm xmlns:a="http://schemas.openxmlformats.org/drawingml/2006/main">
            <a:off x="6372000" y="1800000"/>
            <a:ext cx="2520000" cy="28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500" b="1">
                <a:solidFill>
                  <a:srgbClr val="9B59B6"/>
                </a:solidFill>
              </a:rPr>
              <a:t>watsonx.ai</a:t>
            </a:r>
          </a:p>
        </p:txBody>
      </p:sp>
      <p:sp>
        <p:nvSpPr>
          <p:cNvPr id="100030" name="Layer3Body"/>
          <p:cNvSpPr txBox="1"/>
          <p:nvPr/>
        </p:nvSpPr>
        <p:spPr>
          <a:xfrm xmlns:a="http://schemas.openxmlformats.org/drawingml/2006/main">
            <a:off x="6372000" y="2124000"/>
            <a:ext cx="2520000" cy="144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300">
                <a:solidFill>
                  <a:srgbClr val="B0C8E0"/>
                </a:solidFill>
              </a:rPr>
              <a:t>• Llama 4 Maverick</a:t>
            </a:r>
          </a:p>
          <a:p xmlns:a="http://schemas.openxmlformats.org/drawingml/2006/main">
            <a:r>
              <a:rPr lang="en-US" sz="1300">
                <a:solidFill>
                  <a:srgbClr val="B0C8E0"/>
                </a:solidFill>
              </a:rPr>
              <a:t>• Excursion classifier</a:t>
            </a:r>
          </a:p>
          <a:p xmlns:a="http://schemas.openxmlformats.org/drawingml/2006/main">
            <a:r>
              <a:rPr lang="en-US" sz="1300">
                <a:solidFill>
                  <a:srgbClr val="B0C8E0"/>
                </a:solidFill>
              </a:rPr>
              <a:t>• Copilot (Q&amp;A)</a:t>
            </a:r>
          </a:p>
          <a:p xmlns:a="http://schemas.openxmlformats.org/drawingml/2006/main">
            <a:r>
              <a:rPr lang="en-US" sz="1300">
                <a:solidFill>
                  <a:srgbClr val="B0C8E0"/>
                </a:solidFill>
              </a:rPr>
              <a:t>• Recommendation</a:t>
            </a:r>
          </a:p>
          <a:p xmlns:a="http://schemas.openxmlformats.org/drawingml/2006/main">
            <a:r>
              <a:rPr lang="en-US" sz="1300">
                <a:solidFill>
                  <a:srgbClr val="B0C8E0"/>
                </a:solidFill>
              </a:rPr>
              <a:t>  rationale generator</a:t>
            </a:r>
          </a:p>
        </p:txBody>
      </p:sp>
      <p:sp>
        <p:nvSpPr>
          <p:cNvPr id="100031" name="Layer4Box"/>
          <p:cNvSpPr txBox="1"/>
          <p:nvPr/>
        </p:nvSpPr>
        <p:spPr>
          <a:xfrm xmlns:a="http://schemas.openxmlformats.org/drawingml/2006/main">
            <a:off x="9360000" y="1728000"/>
            <a:ext cx="2520000" cy="21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2236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 sz="1200">
              <a:solidFill>
                <a:srgbClr val="112236"/>
              </a:solidFill>
            </a:endParaRPr>
          </a:p>
        </p:txBody>
      </p:sp>
      <p:sp>
        <p:nvSpPr>
          <p:cNvPr id="100032" name="Layer4Ttl"/>
          <p:cNvSpPr txBox="1"/>
          <p:nvPr/>
        </p:nvSpPr>
        <p:spPr>
          <a:xfrm xmlns:a="http://schemas.openxmlformats.org/drawingml/2006/main">
            <a:off x="9432000" y="1800000"/>
            <a:ext cx="2376000" cy="28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500" b="1">
                <a:solidFill>
                  <a:srgbClr val="E67E22"/>
                </a:solidFill>
              </a:rPr>
              <a:t>Operator UI</a:t>
            </a:r>
          </a:p>
        </p:txBody>
      </p:sp>
      <p:sp>
        <p:nvSpPr>
          <p:cNvPr id="100033" name="Layer4Body"/>
          <p:cNvSpPr txBox="1"/>
          <p:nvPr/>
        </p:nvSpPr>
        <p:spPr>
          <a:xfrm xmlns:a="http://schemas.openxmlformats.org/drawingml/2006/main">
            <a:off x="9432000" y="2124000"/>
            <a:ext cx="2376000" cy="144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300">
                <a:solidFill>
                  <a:srgbClr val="B0C8E0"/>
                </a:solidFill>
              </a:rPr>
              <a:t>• Live Leaflet map</a:t>
            </a:r>
          </a:p>
          <a:p xmlns:a="http://schemas.openxmlformats.org/drawingml/2006/main">
            <a:r>
              <a:rPr lang="en-US" sz="1300">
                <a:solidFill>
                  <a:srgbClr val="B0C8E0"/>
                </a:solidFill>
              </a:rPr>
              <a:t>• KPI dashboard</a:t>
            </a:r>
          </a:p>
          <a:p xmlns:a="http://schemas.openxmlformats.org/drawingml/2006/main">
            <a:r>
              <a:rPr lang="en-US" sz="1300">
                <a:solidFill>
                  <a:srgbClr val="B0C8E0"/>
                </a:solidFill>
              </a:rPr>
              <a:t>• Approve / Reject</a:t>
            </a:r>
          </a:p>
          <a:p xmlns:a="http://schemas.openxmlformats.org/drawingml/2006/main">
            <a:r>
              <a:rPr lang="en-US" sz="1300">
                <a:solidFill>
                  <a:srgbClr val="B0C8E0"/>
                </a:solidFill>
              </a:rPr>
              <a:t>• Audit trail</a:t>
            </a:r>
          </a:p>
          <a:p xmlns:a="http://schemas.openxmlformats.org/drawingml/2006/main">
            <a:r>
              <a:rPr lang="en-US" sz="1300">
                <a:solidFill>
                  <a:srgbClr val="B0C8E0"/>
                </a:solidFill>
              </a:rPr>
              <a:t>• AI Copilot chat</a:t>
            </a:r>
          </a:p>
        </p:txBody>
      </p:sp>
      <p:sp>
        <p:nvSpPr>
          <p:cNvPr id="100034" name="TechStack"/>
          <p:cNvSpPr txBox="1"/>
          <p:nvPr/>
        </p:nvSpPr>
        <p:spPr>
          <a:xfrm xmlns:a="http://schemas.openxmlformats.org/drawingml/2006/main">
            <a:off x="540000" y="4140000"/>
            <a:ext cx="10980000" cy="32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300">
                <a:solidFill>
                  <a:srgbClr val="5B6070"/>
                </a:solidFill>
              </a:rPr>
              <a:t>Next.js 16 · React 19 · Express 5 · Socket.IO · MongoDB · Mongoose · Leaflet · Recharts · IBM watsonx.ai SDK</a:t>
            </a:r>
          </a:p>
        </p:txBody>
      </p:sp>
    </p:spTree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D1117"/>
        </a:solidFill>
      </p:bgPr>
    </p:bg>
    <p:spTree>
      <p:nvGrpSpPr>
        <p:cNvPr id="1" name=""/>
        <p:cNvGrpSpPr/>
        <p:nvPr/>
      </p:nvGrpSpPr>
      <p:grpSpPr/>
      <p:sp>
        <p:nvSpPr>
          <p:cNvPr id="100035" name="TopBar"/>
          <p:cNvSpPr txBox="1"/>
          <p:nvPr/>
        </p:nvSpPr>
        <p:spPr>
          <a:xfrm xmlns:a="http://schemas.openxmlformats.org/drawingml/2006/main">
            <a:off x="0" y="0"/>
            <a:ext cx="12193200" cy="14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AE60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 sz="800">
              <a:solidFill>
                <a:srgbClr val="27AE60"/>
              </a:solidFill>
            </a:endParaRPr>
          </a:p>
        </p:txBody>
      </p:sp>
      <p:sp>
        <p:nvSpPr>
          <p:cNvPr id="100036" name="SlideNum"/>
          <p:cNvSpPr txBox="1"/>
          <p:nvPr/>
        </p:nvSpPr>
        <p:spPr>
          <a:xfrm xmlns:a="http://schemas.openxmlformats.org/drawingml/2006/main">
            <a:off x="10440000" y="216000"/>
            <a:ext cx="1440000" cy="21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000">
                <a:solidFill>
                  <a:srgbClr val="5B6070"/>
                </a:solidFill>
              </a:rPr>
              <a:t>04 / 08</a:t>
            </a:r>
          </a:p>
        </p:txBody>
      </p:sp>
      <p:sp>
        <p:nvSpPr>
          <p:cNvPr id="100037" name="Title"/>
          <p:cNvSpPr txBox="1"/>
          <p:nvPr/>
        </p:nvSpPr>
        <p:spPr>
          <a:xfrm xmlns:a="http://schemas.openxmlformats.org/drawingml/2006/main">
            <a:off x="540000" y="432000"/>
            <a:ext cx="9000000" cy="57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600" b="1">
                <a:solidFill>
                  <a:srgbClr val="FFFFFF"/>
                </a:solidFill>
              </a:rPr>
              <a:t>Technical Deep Dive</a:t>
            </a:r>
          </a:p>
        </p:txBody>
      </p:sp>
      <p:sp>
        <p:nvSpPr>
          <p:cNvPr id="100038" name="ColLeft"/>
          <p:cNvSpPr txBox="1"/>
          <p:nvPr/>
        </p:nvSpPr>
        <p:spPr>
          <a:xfrm xmlns:a="http://schemas.openxmlformats.org/drawingml/2006/main">
            <a:off x="540000" y="1188000"/>
            <a:ext cx="5400000" cy="486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400">
                <a:solidFill>
                  <a:srgbClr val="C8D8E8"/>
                </a:solidFill>
              </a:rPr>
              <a:t>Deterministic Engines</a:t>
            </a:r>
          </a:p>
          <a:p xmlns:a="http://schemas.openxmlformats.org/drawingml/2006/main">
            <a:r>
              <a:rPr lang="en-US" sz="1400">
                <a:solidFill>
                  <a:srgbClr val="C8D8E8"/>
                </a:solidFill>
              </a:rPr>
              <a:t/>
            </a:r>
          </a:p>
          <a:p xmlns:a="http://schemas.openxmlformats.org/drawingml/2006/main">
            <a:r>
              <a:rPr lang="en-US" sz="1400">
                <a:solidFill>
                  <a:srgbClr val="C8D8E8"/>
                </a:solidFill>
              </a:rPr>
              <a:t>riskEngine — 6-factor weighted scoring:</a:t>
            </a:r>
          </a:p>
          <a:p xmlns:a="http://schemas.openxmlformats.org/drawingml/2006/main">
            <a:r>
              <a:rPr lang="en-US" sz="1400">
                <a:solidFill>
                  <a:srgbClr val="C8D8E8"/>
                </a:solidFill>
              </a:rPr>
              <a:t>  • Disruption exposure (25%)</a:t>
            </a:r>
          </a:p>
          <a:p xmlns:a="http://schemas.openxmlformats.org/drawingml/2006/main">
            <a:r>
              <a:rPr lang="en-US" sz="1400">
                <a:solidFill>
                  <a:srgbClr val="C8D8E8"/>
                </a:solidFill>
              </a:rPr>
              <a:t>  • Deadline pressure (20%)</a:t>
            </a:r>
          </a:p>
          <a:p xmlns:a="http://schemas.openxmlformats.org/drawingml/2006/main">
            <a:r>
              <a:rPr lang="en-US" sz="1400">
                <a:solidFill>
                  <a:srgbClr val="C8D8E8"/>
                </a:solidFill>
              </a:rPr>
              <a:t>  • Cargo criticality (20%)</a:t>
            </a:r>
          </a:p>
          <a:p xmlns:a="http://schemas.openxmlformats.org/drawingml/2006/main">
            <a:r>
              <a:rPr lang="en-US" sz="1400">
                <a:solidFill>
                  <a:srgbClr val="C8D8E8"/>
                </a:solidFill>
              </a:rPr>
              <a:t>  • Cold-chain risk (15%)</a:t>
            </a:r>
          </a:p>
          <a:p xmlns:a="http://schemas.openxmlformats.org/drawingml/2006/main">
            <a:r>
              <a:rPr lang="en-US" sz="1400">
                <a:solidFill>
                  <a:srgbClr val="C8D8E8"/>
                </a:solidFill>
              </a:rPr>
              <a:t>  • Financial exposure (10%)</a:t>
            </a:r>
          </a:p>
          <a:p xmlns:a="http://schemas.openxmlformats.org/drawingml/2006/main">
            <a:r>
              <a:rPr lang="en-US" sz="1400">
                <a:solidFill>
                  <a:srgbClr val="C8D8E8"/>
                </a:solidFill>
              </a:rPr>
              <a:t>  • Route dependency (10%)</a:t>
            </a:r>
          </a:p>
          <a:p xmlns:a="http://schemas.openxmlformats.org/drawingml/2006/main">
            <a:r>
              <a:rPr lang="en-US" sz="1400">
                <a:solidFill>
                  <a:srgbClr val="C8D8E8"/>
                </a:solidFill>
              </a:rPr>
              <a:t/>
            </a:r>
          </a:p>
          <a:p xmlns:a="http://schemas.openxmlformats.org/drawingml/2006/main">
            <a:r>
              <a:rPr lang="en-US" sz="1400">
                <a:solidFill>
                  <a:srgbClr val="C8D8E8"/>
                </a:solidFill>
              </a:rPr>
              <a:t>coldChainEngine — GDP-compliant classification:</a:t>
            </a:r>
          </a:p>
          <a:p xmlns:a="http://schemas.openxmlformats.org/drawingml/2006/main">
            <a:r>
              <a:rPr lang="en-US" sz="1400">
                <a:solidFill>
                  <a:srgbClr val="C8D8E8"/>
                </a:solidFill>
              </a:rPr>
              <a:t>  • Minor: 2–8°C for &lt; 15 min</a:t>
            </a:r>
          </a:p>
          <a:p xmlns:a="http://schemas.openxmlformats.org/drawingml/2006/main">
            <a:r>
              <a:rPr lang="en-US" sz="1400">
                <a:solidFill>
                  <a:srgbClr val="C8D8E8"/>
                </a:solidFill>
              </a:rPr>
              <a:t>  • Major: 2–8°C for 15–60 min</a:t>
            </a:r>
          </a:p>
          <a:p xmlns:a="http://schemas.openxmlformats.org/drawingml/2006/main">
            <a:r>
              <a:rPr lang="en-US" sz="1400">
                <a:solidFill>
                  <a:srgbClr val="C8D8E8"/>
                </a:solidFill>
              </a:rPr>
              <a:t>  • Critical: &gt; 1 hr or temp &gt; 25°C</a:t>
            </a:r>
          </a:p>
          <a:p xmlns:a="http://schemas.openxmlformats.org/drawingml/2006/main">
            <a:r>
              <a:rPr lang="en-US" sz="1400">
                <a:solidFill>
                  <a:srgbClr val="C8D8E8"/>
                </a:solidFill>
              </a:rPr>
              <a:t/>
            </a:r>
          </a:p>
          <a:p xmlns:a="http://schemas.openxmlformats.org/drawingml/2006/main">
            <a:r>
              <a:rPr lang="en-US" sz="1400">
                <a:solidFill>
                  <a:srgbClr val="C8D8E8"/>
                </a:solidFill>
              </a:rPr>
              <a:t>routeOptimizer — Dijkstra on 5-hub US graph</a:t>
            </a:r>
          </a:p>
          <a:p xmlns:a="http://schemas.openxmlformats.org/drawingml/2006/main">
            <a:r>
              <a:rPr lang="en-US" sz="1400">
                <a:solidFill>
                  <a:srgbClr val="C8D8E8"/>
                </a:solidFill>
              </a:rPr>
              <a:t>fleetMatcher — Haversine proximity + capacity</a:t>
            </a:r>
          </a:p>
          <a:p xmlns:a="http://schemas.openxmlformats.org/drawingml/2006/main">
            <a:r>
              <a:rPr lang="en-US" sz="1400">
                <a:solidFill>
                  <a:srgbClr val="C8D8E8"/>
                </a:solidFill>
              </a:rPr>
              <a:t>impactEngine — geo-intersection with disruption radius</a:t>
            </a:r>
          </a:p>
        </p:txBody>
      </p:sp>
      <p:sp>
        <p:nvSpPr>
          <p:cNvPr id="100039" name="Divider"/>
          <p:cNvSpPr txBox="1"/>
          <p:nvPr/>
        </p:nvSpPr>
        <p:spPr>
          <a:xfrm xmlns:a="http://schemas.openxmlformats.org/drawingml/2006/main">
            <a:off x="6300000" y="1188000"/>
            <a:ext cx="36000" cy="48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3550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 sz="800">
              <a:solidFill>
                <a:srgbClr val="2A3550"/>
              </a:solidFill>
            </a:endParaRPr>
          </a:p>
        </p:txBody>
      </p:sp>
      <p:sp>
        <p:nvSpPr>
          <p:cNvPr id="100040" name="ColRight"/>
          <p:cNvSpPr txBox="1"/>
          <p:nvPr/>
        </p:nvSpPr>
        <p:spPr>
          <a:xfrm xmlns:a="http://schemas.openxmlformats.org/drawingml/2006/main">
            <a:off x="6480000" y="1188000"/>
            <a:ext cx="5220000" cy="486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400">
                <a:solidFill>
                  <a:srgbClr val="C8D8E8"/>
                </a:solidFill>
              </a:rPr>
              <a:t>watsonx.ai Integration</a:t>
            </a:r>
          </a:p>
          <a:p xmlns:a="http://schemas.openxmlformats.org/drawingml/2006/main">
            <a:r>
              <a:rPr lang="en-US" sz="1400">
                <a:solidFill>
                  <a:srgbClr val="C8D8E8"/>
                </a:solidFill>
              </a:rPr>
              <a:t/>
            </a:r>
          </a:p>
          <a:p xmlns:a="http://schemas.openxmlformats.org/drawingml/2006/main">
            <a:r>
              <a:rPr lang="en-US" sz="1400">
                <a:solidFill>
                  <a:srgbClr val="C8D8E8"/>
                </a:solidFill>
              </a:rPr>
              <a:t>Model: meta-llama/llama-4-maverick-17b-128e-instruct-fp8</a:t>
            </a:r>
          </a:p>
          <a:p xmlns:a="http://schemas.openxmlformats.org/drawingml/2006/main">
            <a:r>
              <a:rPr lang="en-US" sz="1400">
                <a:solidFill>
                  <a:srgbClr val="C8D8E8"/>
                </a:solidFill>
              </a:rPr>
              <a:t>SDK: @ibm-cloud/watsonx-ai</a:t>
            </a:r>
          </a:p>
          <a:p xmlns:a="http://schemas.openxmlformats.org/drawingml/2006/main">
            <a:r>
              <a:rPr lang="en-US" sz="1400">
                <a:solidFill>
                  <a:srgbClr val="C8D8E8"/>
                </a:solidFill>
              </a:rPr>
              <a:t/>
            </a:r>
          </a:p>
          <a:p xmlns:a="http://schemas.openxmlformats.org/drawingml/2006/main">
            <a:r>
              <a:rPr lang="en-US" sz="1400">
                <a:solidFill>
                  <a:srgbClr val="C8D8E8"/>
                </a:solidFill>
              </a:rPr>
              <a:t>3 distinct call types:</a:t>
            </a:r>
          </a:p>
          <a:p xmlns:a="http://schemas.openxmlformats.org/drawingml/2006/main">
            <a:r>
              <a:rPr lang="en-US" sz="1400">
                <a:solidFill>
                  <a:srgbClr val="C8D8E8"/>
                </a:solidFill>
              </a:rPr>
              <a:t/>
            </a:r>
          </a:p>
          <a:p xmlns:a="http://schemas.openxmlformats.org/drawingml/2006/main">
            <a:r>
              <a:rPr lang="en-US" sz="1400">
                <a:solidFill>
                  <a:srgbClr val="C8D8E8"/>
                </a:solidFill>
              </a:rPr>
              <a:t>1. Cold-chain classifier</a:t>
            </a:r>
          </a:p>
          <a:p xmlns:a="http://schemas.openxmlformats.org/drawingml/2006/main">
            <a:r>
              <a:rPr lang="en-US" sz="1400">
                <a:solidFill>
                  <a:srgbClr val="C8D8E8"/>
                </a:solidFill>
              </a:rPr>
              <a:t>   Input: temp, duration, cargo type</a:t>
            </a:r>
          </a:p>
          <a:p xmlns:a="http://schemas.openxmlformats.org/drawingml/2006/main">
            <a:r>
              <a:rPr lang="en-US" sz="1400">
                <a:solidFill>
                  <a:srgbClr val="C8D8E8"/>
                </a:solidFill>
              </a:rPr>
              <a:t>   Output: severity + GDP rationale</a:t>
            </a:r>
          </a:p>
          <a:p xmlns:a="http://schemas.openxmlformats.org/drawingml/2006/main">
            <a:r>
              <a:rPr lang="en-US" sz="1400">
                <a:solidFill>
                  <a:srgbClr val="C8D8E8"/>
                </a:solidFill>
              </a:rPr>
              <a:t/>
            </a:r>
          </a:p>
          <a:p xmlns:a="http://schemas.openxmlformats.org/drawingml/2006/main">
            <a:r>
              <a:rPr lang="en-US" sz="1400">
                <a:solidFill>
                  <a:srgbClr val="C8D8E8"/>
                </a:solidFill>
              </a:rPr>
              <a:t>2. Recommendation rationale</a:t>
            </a:r>
          </a:p>
          <a:p xmlns:a="http://schemas.openxmlformats.org/drawingml/2006/main">
            <a:r>
              <a:rPr lang="en-US" sz="1400">
                <a:solidFill>
                  <a:srgbClr val="C8D8E8"/>
                </a:solidFill>
              </a:rPr>
              <a:t>   Input: risk scores + alt routes</a:t>
            </a:r>
          </a:p>
          <a:p xmlns:a="http://schemas.openxmlformats.org/drawingml/2006/main">
            <a:r>
              <a:rPr lang="en-US" sz="1400">
                <a:solidFill>
                  <a:srgbClr val="C8D8E8"/>
                </a:solidFill>
              </a:rPr>
              <a:t>   Output: operator-readable reasoning</a:t>
            </a:r>
          </a:p>
          <a:p xmlns:a="http://schemas.openxmlformats.org/drawingml/2006/main">
            <a:r>
              <a:rPr lang="en-US" sz="1400">
                <a:solidFill>
                  <a:srgbClr val="C8D8E8"/>
                </a:solidFill>
              </a:rPr>
              <a:t/>
            </a:r>
          </a:p>
          <a:p xmlns:a="http://schemas.openxmlformats.org/drawingml/2006/main">
            <a:r>
              <a:rPr lang="en-US" sz="1400">
                <a:solidFill>
                  <a:srgbClr val="C8D8E8"/>
                </a:solidFill>
              </a:rPr>
              <a:t>3. Operations Copilot (chat)</a:t>
            </a:r>
          </a:p>
          <a:p xmlns:a="http://schemas.openxmlformats.org/drawingml/2006/main">
            <a:r>
              <a:rPr lang="en-US" sz="1400">
                <a:solidFill>
                  <a:srgbClr val="C8D8E8"/>
                </a:solidFill>
              </a:rPr>
              <a:t>   Input: full system snapshot</a:t>
            </a:r>
          </a:p>
          <a:p xmlns:a="http://schemas.openxmlformats.org/drawingml/2006/main">
            <a:r>
              <a:rPr lang="en-US" sz="1400">
                <a:solidFill>
                  <a:srgbClr val="C8D8E8"/>
                </a:solidFill>
              </a:rPr>
              <a:t>   Output: natural-language Q&amp;A</a:t>
            </a:r>
          </a:p>
          <a:p xmlns:a="http://schemas.openxmlformats.org/drawingml/2006/main">
            <a:r>
              <a:rPr lang="en-US" sz="1400">
                <a:solidFill>
                  <a:srgbClr val="C8D8E8"/>
                </a:solidFill>
              </a:rPr>
              <a:t/>
            </a:r>
          </a:p>
          <a:p xmlns:a="http://schemas.openxmlformats.org/drawingml/2006/main">
            <a:r>
              <a:rPr lang="en-US" sz="1400">
                <a:solidFill>
                  <a:srgbClr val="C8D8E8"/>
                </a:solidFill>
              </a:rPr>
              <a:t>Key principle: watsonx.ai never</a:t>
            </a:r>
          </a:p>
          <a:p xmlns:a="http://schemas.openxmlformats.org/drawingml/2006/main">
            <a:r>
              <a:rPr lang="en-US" sz="1400">
                <a:solidFill>
                  <a:srgbClr val="C8D8E8"/>
                </a:solidFill>
              </a:rPr>
              <a:t>produces numbers. All scores and</a:t>
            </a:r>
          </a:p>
          <a:p xmlns:a="http://schemas.openxmlformats.org/drawingml/2006/main">
            <a:r>
              <a:rPr lang="en-US" sz="1400">
                <a:solidFill>
                  <a:srgbClr val="C8D8E8"/>
                </a:solidFill>
              </a:rPr>
              <a:t>critical decisions are deterministic.</a:t>
            </a:r>
          </a:p>
          <a:p xmlns:a="http://schemas.openxmlformats.org/drawingml/2006/main">
            <a:r>
              <a:rPr lang="en-US" sz="1400">
                <a:solidFill>
                  <a:srgbClr val="C8D8E8"/>
                </a:solidFill>
              </a:rPr>
              <a:t>AI = explainer + language layer only.</a:t>
            </a:r>
          </a:p>
        </p:txBody>
      </p:sp>
    </p:spTree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D1117"/>
        </a:solidFill>
      </p:bgPr>
    </p:bg>
    <p:spTree>
      <p:nvGrpSpPr>
        <p:cNvPr id="1" name=""/>
        <p:cNvGrpSpPr/>
        <p:nvPr/>
      </p:nvGrpSpPr>
      <p:grpSpPr/>
      <p:sp>
        <p:nvSpPr>
          <p:cNvPr id="100041" name="TopBar"/>
          <p:cNvSpPr txBox="1"/>
          <p:nvPr/>
        </p:nvSpPr>
        <p:spPr>
          <a:xfrm xmlns:a="http://schemas.openxmlformats.org/drawingml/2006/main">
            <a:off x="0" y="0"/>
            <a:ext cx="12193200" cy="14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E44AD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 sz="800">
              <a:solidFill>
                <a:srgbClr val="8E44AD"/>
              </a:solidFill>
            </a:endParaRPr>
          </a:p>
        </p:txBody>
      </p:sp>
      <p:sp>
        <p:nvSpPr>
          <p:cNvPr id="100042" name="SlideNum"/>
          <p:cNvSpPr txBox="1"/>
          <p:nvPr/>
        </p:nvSpPr>
        <p:spPr>
          <a:xfrm xmlns:a="http://schemas.openxmlformats.org/drawingml/2006/main">
            <a:off x="10440000" y="216000"/>
            <a:ext cx="1440000" cy="21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000">
                <a:solidFill>
                  <a:srgbClr val="5B6070"/>
                </a:solidFill>
              </a:rPr>
              <a:t>05 / 08</a:t>
            </a:r>
          </a:p>
        </p:txBody>
      </p:sp>
      <p:sp>
        <p:nvSpPr>
          <p:cNvPr id="100043" name="Title"/>
          <p:cNvSpPr txBox="1"/>
          <p:nvPr/>
        </p:nvSpPr>
        <p:spPr>
          <a:xfrm xmlns:a="http://schemas.openxmlformats.org/drawingml/2006/main">
            <a:off x="540000" y="432000"/>
            <a:ext cx="10800000" cy="57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400" b="1">
                <a:solidFill>
                  <a:srgbClr val="FFFFFF"/>
                </a:solidFill>
              </a:rPr>
              <a:t>Live Demo — LA Port Strike Scenario</a:t>
            </a:r>
          </a:p>
        </p:txBody>
      </p:sp>
      <p:sp>
        <p:nvSpPr>
          <p:cNvPr id="100044" name="Step1"/>
          <p:cNvSpPr txBox="1"/>
          <p:nvPr/>
        </p:nvSpPr>
        <p:spPr>
          <a:xfrm xmlns:a="http://schemas.openxmlformats.org/drawingml/2006/main">
            <a:off x="540000" y="1152000"/>
            <a:ext cx="5220000" cy="126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500">
                <a:solidFill>
                  <a:srgbClr val="C8D8E8"/>
                </a:solidFill>
              </a:rPr>
              <a:t>Step 1 — Trigger Disruption</a:t>
            </a:r>
          </a:p>
          <a:p xmlns:a="http://schemas.openxmlformats.org/drawingml/2006/main">
            <a:r>
              <a:rPr lang="en-US" sz="1500">
                <a:solidFill>
                  <a:srgbClr val="C8D8E8"/>
                </a:solidFill>
              </a:rPr>
              <a:t>Select 'LA Port Strike' scenario. System broadcasts disruption event. 5 affected shipments detected via Haversine geo-intersection within 2 seconds.</a:t>
            </a:r>
          </a:p>
        </p:txBody>
      </p:sp>
      <p:sp>
        <p:nvSpPr>
          <p:cNvPr id="100045" name="Step2"/>
          <p:cNvSpPr txBox="1"/>
          <p:nvPr/>
        </p:nvSpPr>
        <p:spPr>
          <a:xfrm xmlns:a="http://schemas.openxmlformats.org/drawingml/2006/main">
            <a:off x="6120000" y="1152000"/>
            <a:ext cx="5400000" cy="126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500">
                <a:solidFill>
                  <a:srgbClr val="C8D8E8"/>
                </a:solidFill>
              </a:rPr>
              <a:t>Step 2 — Risk Pipeline</a:t>
            </a:r>
          </a:p>
          <a:p xmlns:a="http://schemas.openxmlformats.org/drawingml/2006/main">
            <a:r>
              <a:rPr lang="en-US" sz="1500">
                <a:solidFill>
                  <a:srgbClr val="C8D8E8"/>
                </a:solidFill>
              </a:rPr>
              <a:t>riskEngine scores all affected shipments on 6 factors. SHIP-MVP-101 (insulin, 0°C) scores CRITICAL 0.91. Alerts fire automatically via Socket.IO.</a:t>
            </a:r>
          </a:p>
        </p:txBody>
      </p:sp>
      <p:sp>
        <p:nvSpPr>
          <p:cNvPr id="100046" name="Step3"/>
          <p:cNvSpPr txBox="1"/>
          <p:nvPr/>
        </p:nvSpPr>
        <p:spPr>
          <a:xfrm xmlns:a="http://schemas.openxmlformats.org/drawingml/2006/main">
            <a:off x="540000" y="2628000"/>
            <a:ext cx="5220000" cy="144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500">
                <a:solidFill>
                  <a:srgbClr val="C8D8E8"/>
                </a:solidFill>
              </a:rPr>
              <a:t>Step 3 — AI Recommendations</a:t>
            </a:r>
          </a:p>
          <a:p xmlns:a="http://schemas.openxmlformats.org/drawingml/2006/main">
            <a:r>
              <a:rPr lang="en-US" sz="1500">
                <a:solidFill>
                  <a:srgbClr val="C8D8E8"/>
                </a:solidFill>
              </a:rPr>
              <a:t>routeOptimizer generates 3 alternate routes (cost delta + time delta). fleetMatcher identifies idle reefer truck RT-004 (180 km away). watsonx.ai writes operator-readable rationale.</a:t>
            </a:r>
          </a:p>
        </p:txBody>
      </p:sp>
      <p:sp>
        <p:nvSpPr>
          <p:cNvPr id="100047" name="Step4"/>
          <p:cNvSpPr txBox="1"/>
          <p:nvPr/>
        </p:nvSpPr>
        <p:spPr>
          <a:xfrm xmlns:a="http://schemas.openxmlformats.org/drawingml/2006/main">
            <a:off x="6120000" y="2628000"/>
            <a:ext cx="5400000" cy="144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500">
                <a:solidFill>
                  <a:srgbClr val="C8D8E8"/>
                </a:solidFill>
              </a:rPr>
              <a:t>Step 4 — Human-in-the-Loop</a:t>
            </a:r>
          </a:p>
          <a:p xmlns:a="http://schemas.openxmlformats.org/drawingml/2006/main">
            <a:r>
              <a:rPr lang="en-US" sz="1500">
                <a:solidFill>
                  <a:srgbClr val="C8D8E8"/>
                </a:solidFill>
              </a:rPr>
              <a:t>Operator clicks 'Map' to see animated reroute preview on Leaflet map. Clicks 'Approve'. Action logged to audit trail with timestamp. Copilot confirms action in natural language.</a:t>
            </a:r>
          </a:p>
        </p:txBody>
      </p:sp>
      <p:sp>
        <p:nvSpPr>
          <p:cNvPr id="100048" name="Step5"/>
          <p:cNvSpPr txBox="1"/>
          <p:nvPr/>
        </p:nvSpPr>
        <p:spPr>
          <a:xfrm xmlns:a="http://schemas.openxmlformats.org/drawingml/2006/main">
            <a:off x="540000" y="4248000"/>
            <a:ext cx="10980000" cy="108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500">
                <a:solidFill>
                  <a:srgbClr val="C8D8E8"/>
                </a:solidFill>
              </a:rPr>
              <a:t>Step 5 — Cold-Chain Detection</a:t>
            </a:r>
          </a:p>
          <a:p xmlns:a="http://schemas.openxmlformats.org/drawingml/2006/main">
            <a:r>
              <a:rPr lang="en-US" sz="1500">
                <a:solidFill>
                  <a:srgbClr val="C8D8E8"/>
                </a:solidFill>
              </a:rPr>
              <a:t>Simultaneously, insulin shipment sensor reads 5.2°C (exceeded threshold). coldChainEngine + watsonx.ai classify: MAJOR excursion. Alert fires. 45 min before cargo damage point.</a:t>
            </a:r>
          </a:p>
        </p:txBody>
      </p:sp>
    </p:spTree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D1117"/>
        </a:solidFill>
      </p:bgPr>
    </p:bg>
    <p:spTree>
      <p:nvGrpSpPr>
        <p:cNvPr id="1" name=""/>
        <p:cNvGrpSpPr/>
        <p:nvPr/>
      </p:nvGrpSpPr>
      <p:grpSpPr/>
      <p:sp>
        <p:nvSpPr>
          <p:cNvPr id="100049" name="TopBar"/>
          <p:cNvSpPr txBox="1"/>
          <p:nvPr/>
        </p:nvSpPr>
        <p:spPr>
          <a:xfrm xmlns:a="http://schemas.openxmlformats.org/drawingml/2006/main">
            <a:off x="0" y="0"/>
            <a:ext cx="12193200" cy="14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6FA5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 sz="800">
              <a:solidFill>
                <a:srgbClr val="1D6FA5"/>
              </a:solidFill>
            </a:endParaRPr>
          </a:p>
        </p:txBody>
      </p:sp>
      <p:sp>
        <p:nvSpPr>
          <p:cNvPr id="100050" name="SlideNum"/>
          <p:cNvSpPr txBox="1"/>
          <p:nvPr/>
        </p:nvSpPr>
        <p:spPr>
          <a:xfrm xmlns:a="http://schemas.openxmlformats.org/drawingml/2006/main">
            <a:off x="10440000" y="216000"/>
            <a:ext cx="1440000" cy="21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000">
                <a:solidFill>
                  <a:srgbClr val="5B6070"/>
                </a:solidFill>
              </a:rPr>
              <a:t>06 / 08</a:t>
            </a:r>
          </a:p>
        </p:txBody>
      </p:sp>
      <p:sp>
        <p:nvSpPr>
          <p:cNvPr id="100051" name="Title"/>
          <p:cNvSpPr txBox="1"/>
          <p:nvPr/>
        </p:nvSpPr>
        <p:spPr>
          <a:xfrm xmlns:a="http://schemas.openxmlformats.org/drawingml/2006/main">
            <a:off x="540000" y="432000"/>
            <a:ext cx="9000000" cy="57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600" b="1">
                <a:solidFill>
                  <a:srgbClr val="FFFFFF"/>
                </a:solidFill>
              </a:rPr>
              <a:t>IBM Technology Integration</a:t>
            </a:r>
          </a:p>
        </p:txBody>
      </p:sp>
      <p:sp>
        <p:nvSpPr>
          <p:cNvPr id="100052" name="Subtitle"/>
          <p:cNvSpPr txBox="1"/>
          <p:nvPr/>
        </p:nvSpPr>
        <p:spPr>
          <a:xfrm xmlns:a="http://schemas.openxmlformats.org/drawingml/2006/main">
            <a:off x="540000" y="1080000"/>
            <a:ext cx="10980000" cy="32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700">
                <a:solidFill>
                  <a:srgbClr val="5BA8D4"/>
                </a:solidFill>
              </a:rPr>
              <a:t>How watsonx.ai powers three distinct capabilities in this system</a:t>
            </a:r>
          </a:p>
        </p:txBody>
      </p:sp>
      <p:sp>
        <p:nvSpPr>
          <p:cNvPr id="100053" name="Card1"/>
          <p:cNvSpPr txBox="1"/>
          <p:nvPr/>
        </p:nvSpPr>
        <p:spPr>
          <a:xfrm xmlns:a="http://schemas.openxmlformats.org/drawingml/2006/main">
            <a:off x="540000" y="1584000"/>
            <a:ext cx="3420000" cy="324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2236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 sz="1200">
              <a:solidFill>
                <a:srgbClr val="112236"/>
              </a:solidFill>
            </a:endParaRPr>
          </a:p>
        </p:txBody>
      </p:sp>
      <p:sp>
        <p:nvSpPr>
          <p:cNvPr id="100054" name="Card1Hdr"/>
          <p:cNvSpPr txBox="1"/>
          <p:nvPr/>
        </p:nvSpPr>
        <p:spPr>
          <a:xfrm xmlns:a="http://schemas.openxmlformats.org/drawingml/2006/main">
            <a:off x="648000" y="1692000"/>
            <a:ext cx="3240000" cy="32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1">
                <a:solidFill>
                  <a:srgbClr val="9B59B6"/>
                </a:solidFill>
              </a:rPr>
              <a:t>1. Excursion Classifier</a:t>
            </a:r>
          </a:p>
        </p:txBody>
      </p:sp>
      <p:sp>
        <p:nvSpPr>
          <p:cNvPr id="100055" name="Card1Body"/>
          <p:cNvSpPr txBox="1"/>
          <p:nvPr/>
        </p:nvSpPr>
        <p:spPr>
          <a:xfrm xmlns:a="http://schemas.openxmlformats.org/drawingml/2006/main">
            <a:off x="648000" y="2052000"/>
            <a:ext cx="3240000" cy="252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400">
                <a:solidFill>
                  <a:srgbClr val="B0C8E0"/>
                </a:solidFill>
              </a:rPr>
              <a:t>Structured prompt with temperature readings + cargo metadata + GDP cold-chain guidelines.</a:t>
            </a:r>
          </a:p>
          <a:p xmlns:a="http://schemas.openxmlformats.org/drawingml/2006/main">
            <a:r>
              <a:rPr lang="en-US" sz="1400">
                <a:solidFill>
                  <a:srgbClr val="B0C8E0"/>
                </a:solidFill>
              </a:rPr>
              <a:t/>
            </a:r>
          </a:p>
          <a:p xmlns:a="http://schemas.openxmlformats.org/drawingml/2006/main">
            <a:r>
              <a:rPr lang="en-US" sz="1400">
                <a:solidFill>
                  <a:srgbClr val="B0C8E0"/>
                </a:solidFill>
              </a:rPr>
              <a:t>watsonx returns: severity level + clinical rationale + recommended action.</a:t>
            </a:r>
          </a:p>
          <a:p xmlns:a="http://schemas.openxmlformats.org/drawingml/2006/main">
            <a:r>
              <a:rPr lang="en-US" sz="1400">
                <a:solidFill>
                  <a:srgbClr val="B0C8E0"/>
                </a:solidFill>
              </a:rPr>
              <a:t/>
            </a:r>
          </a:p>
          <a:p xmlns:a="http://schemas.openxmlformats.org/drawingml/2006/main">
            <a:r>
              <a:rPr lang="en-US" sz="1400">
                <a:solidFill>
                  <a:srgbClr val="B0C8E0"/>
                </a:solidFill>
              </a:rPr>
              <a:t>Makes the system GDP-compliant out of the box.</a:t>
            </a:r>
          </a:p>
        </p:txBody>
      </p:sp>
      <p:sp>
        <p:nvSpPr>
          <p:cNvPr id="100056" name="Card2"/>
          <p:cNvSpPr txBox="1"/>
          <p:nvPr/>
        </p:nvSpPr>
        <p:spPr>
          <a:xfrm xmlns:a="http://schemas.openxmlformats.org/drawingml/2006/main">
            <a:off x="4320000" y="1584000"/>
            <a:ext cx="3420000" cy="324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2236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 sz="1200">
              <a:solidFill>
                <a:srgbClr val="112236"/>
              </a:solidFill>
            </a:endParaRPr>
          </a:p>
        </p:txBody>
      </p:sp>
      <p:sp>
        <p:nvSpPr>
          <p:cNvPr id="100057" name="Card2Hdr"/>
          <p:cNvSpPr txBox="1"/>
          <p:nvPr/>
        </p:nvSpPr>
        <p:spPr>
          <a:xfrm xmlns:a="http://schemas.openxmlformats.org/drawingml/2006/main">
            <a:off x="4428000" y="1692000"/>
            <a:ext cx="3240000" cy="32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1">
                <a:solidFill>
                  <a:srgbClr val="9B59B6"/>
                </a:solidFill>
              </a:rPr>
              <a:t>2. Recommendation Rationale</a:t>
            </a:r>
          </a:p>
        </p:txBody>
      </p:sp>
      <p:sp>
        <p:nvSpPr>
          <p:cNvPr id="100058" name="Card2Body"/>
          <p:cNvSpPr txBox="1"/>
          <p:nvPr/>
        </p:nvSpPr>
        <p:spPr>
          <a:xfrm xmlns:a="http://schemas.openxmlformats.org/drawingml/2006/main">
            <a:off x="4428000" y="2052000"/>
            <a:ext cx="3240000" cy="252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400">
                <a:solidFill>
                  <a:srgbClr val="B0C8E0"/>
                </a:solidFill>
              </a:rPr>
              <a:t>Input: risk scores, alt route options, fleet availability, cargo value.</a:t>
            </a:r>
          </a:p>
          <a:p xmlns:a="http://schemas.openxmlformats.org/drawingml/2006/main">
            <a:r>
              <a:rPr lang="en-US" sz="1400">
                <a:solidFill>
                  <a:srgbClr val="B0C8E0"/>
                </a:solidFill>
              </a:rPr>
              <a:t/>
            </a:r>
          </a:p>
          <a:p xmlns:a="http://schemas.openxmlformats.org/drawingml/2006/main">
            <a:r>
              <a:rPr lang="en-US" sz="1400">
                <a:solidFill>
                  <a:srgbClr val="B0C8E0"/>
                </a:solidFill>
              </a:rPr>
              <a:t>watsonx writes: 'Reroute SHIP-101 via Denver: saves 3.2hrs, cost +$1,200. Fleet RT-004 closest idle asset at 180km. Recommend immediate approval.'</a:t>
            </a:r>
          </a:p>
          <a:p xmlns:a="http://schemas.openxmlformats.org/drawingml/2006/main">
            <a:r>
              <a:rPr lang="en-US" sz="1400">
                <a:solidFill>
                  <a:srgbClr val="B0C8E0"/>
                </a:solidFill>
              </a:rPr>
              <a:t/>
            </a:r>
          </a:p>
          <a:p xmlns:a="http://schemas.openxmlformats.org/drawingml/2006/main">
            <a:r>
              <a:rPr lang="en-US" sz="1400">
                <a:solidFill>
                  <a:srgbClr val="B0C8E0"/>
                </a:solidFill>
              </a:rPr>
              <a:t>Operator gets full reasoning, not just a number.</a:t>
            </a:r>
          </a:p>
        </p:txBody>
      </p:sp>
      <p:sp>
        <p:nvSpPr>
          <p:cNvPr id="100059" name="Card3"/>
          <p:cNvSpPr txBox="1"/>
          <p:nvPr/>
        </p:nvSpPr>
        <p:spPr>
          <a:xfrm xmlns:a="http://schemas.openxmlformats.org/drawingml/2006/main">
            <a:off x="8100000" y="1584000"/>
            <a:ext cx="3420000" cy="324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2236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 sz="1200">
              <a:solidFill>
                <a:srgbClr val="112236"/>
              </a:solidFill>
            </a:endParaRPr>
          </a:p>
        </p:txBody>
      </p:sp>
      <p:sp>
        <p:nvSpPr>
          <p:cNvPr id="100060" name="Card3Hdr"/>
          <p:cNvSpPr txBox="1"/>
          <p:nvPr/>
        </p:nvSpPr>
        <p:spPr>
          <a:xfrm xmlns:a="http://schemas.openxmlformats.org/drawingml/2006/main">
            <a:off x="8208000" y="1692000"/>
            <a:ext cx="3240000" cy="32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1">
                <a:solidFill>
                  <a:srgbClr val="9B59B6"/>
                </a:solidFill>
              </a:rPr>
              <a:t>3. Operations Copilot</a:t>
            </a:r>
          </a:p>
        </p:txBody>
      </p:sp>
      <p:sp>
        <p:nvSpPr>
          <p:cNvPr id="100061" name="Card3Body"/>
          <p:cNvSpPr txBox="1"/>
          <p:nvPr/>
        </p:nvSpPr>
        <p:spPr>
          <a:xfrm xmlns:a="http://schemas.openxmlformats.org/drawingml/2006/main">
            <a:off x="8208000" y="2052000"/>
            <a:ext cx="3240000" cy="252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400">
                <a:solidFill>
                  <a:srgbClr val="B0C8E0"/>
                </a:solidFill>
              </a:rPr>
              <a:t>Full system state injected as context: active disruptions, affected shipments, open excursions, pending recs.</a:t>
            </a:r>
          </a:p>
          <a:p xmlns:a="http://schemas.openxmlformats.org/drawingml/2006/main">
            <a:r>
              <a:rPr lang="en-US" sz="1400">
                <a:solidFill>
                  <a:srgbClr val="B0C8E0"/>
                </a:solidFill>
              </a:rPr>
              <a:t/>
            </a:r>
          </a:p>
          <a:p xmlns:a="http://schemas.openxmlformats.org/drawingml/2006/main">
            <a:r>
              <a:rPr lang="en-US" sz="1400">
                <a:solidFill>
                  <a:srgbClr val="B0C8E0"/>
                </a:solidFill>
              </a:rPr>
              <a:t>Operator asks: 'Which shipments are most at risk right now?' or 'Explain the reroute for SHIP-101.'</a:t>
            </a:r>
          </a:p>
          <a:p xmlns:a="http://schemas.openxmlformats.org/drawingml/2006/main">
            <a:r>
              <a:rPr lang="en-US" sz="1400">
                <a:solidFill>
                  <a:srgbClr val="B0C8E0"/>
                </a:solidFill>
              </a:rPr>
              <a:t/>
            </a:r>
          </a:p>
          <a:p xmlns:a="http://schemas.openxmlformats.org/drawingml/2006/main">
            <a:r>
              <a:rPr lang="en-US" sz="1400">
                <a:solidFill>
                  <a:srgbClr val="B0C8E0"/>
                </a:solidFill>
              </a:rPr>
              <a:t>Full conversational Q&amp;A backed by live data.</a:t>
            </a:r>
          </a:p>
        </p:txBody>
      </p:sp>
      <p:sp>
        <p:nvSpPr>
          <p:cNvPr id="100062" name="Footer"/>
          <p:cNvSpPr txBox="1"/>
          <p:nvPr/>
        </p:nvSpPr>
        <p:spPr>
          <a:xfrm xmlns:a="http://schemas.openxmlformats.org/drawingml/2006/main">
            <a:off x="540000" y="5076000"/>
            <a:ext cx="10980000" cy="28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300">
                <a:solidFill>
                  <a:srgbClr val="5B6070"/>
                </a:solidFill>
              </a:rPr>
              <a:t>IBM Bob MCP server exposes all 6 tools to the AI Copilot — the same tools used to power the demo in this submission</a:t>
            </a:r>
          </a:p>
        </p:txBody>
      </p:sp>
    </p:spTree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D1117"/>
        </a:solidFill>
      </p:bgPr>
    </p:bg>
    <p:spTree>
      <p:nvGrpSpPr>
        <p:cNvPr id="1" name=""/>
        <p:cNvGrpSpPr/>
        <p:nvPr/>
      </p:nvGrpSpPr>
      <p:grpSpPr/>
      <p:sp>
        <p:nvSpPr>
          <p:cNvPr id="100063" name="TopBar"/>
          <p:cNvSpPr txBox="1"/>
          <p:nvPr/>
        </p:nvSpPr>
        <p:spPr>
          <a:xfrm xmlns:a="http://schemas.openxmlformats.org/drawingml/2006/main">
            <a:off x="0" y="0"/>
            <a:ext cx="12193200" cy="14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AE60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 sz="800">
              <a:solidFill>
                <a:srgbClr val="27AE60"/>
              </a:solidFill>
            </a:endParaRPr>
          </a:p>
        </p:txBody>
      </p:sp>
      <p:sp>
        <p:nvSpPr>
          <p:cNvPr id="100064" name="SlideNum"/>
          <p:cNvSpPr txBox="1"/>
          <p:nvPr/>
        </p:nvSpPr>
        <p:spPr>
          <a:xfrm xmlns:a="http://schemas.openxmlformats.org/drawingml/2006/main">
            <a:off x="10440000" y="216000"/>
            <a:ext cx="1440000" cy="21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000">
                <a:solidFill>
                  <a:srgbClr val="5B6070"/>
                </a:solidFill>
              </a:rPr>
              <a:t>07 / 08</a:t>
            </a:r>
          </a:p>
        </p:txBody>
      </p:sp>
      <p:sp>
        <p:nvSpPr>
          <p:cNvPr id="100065" name="Title"/>
          <p:cNvSpPr txBox="1"/>
          <p:nvPr/>
        </p:nvSpPr>
        <p:spPr>
          <a:xfrm xmlns:a="http://schemas.openxmlformats.org/drawingml/2006/main">
            <a:off x="540000" y="432000"/>
            <a:ext cx="9000000" cy="57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600" b="1">
                <a:solidFill>
                  <a:srgbClr val="FFFFFF"/>
                </a:solidFill>
              </a:rPr>
              <a:t>Business Impact</a:t>
            </a:r>
          </a:p>
        </p:txBody>
      </p:sp>
      <p:sp>
        <p:nvSpPr>
          <p:cNvPr id="100066" name="KPI1Box"/>
          <p:cNvSpPr txBox="1"/>
          <p:nvPr/>
        </p:nvSpPr>
        <p:spPr>
          <a:xfrm xmlns:a="http://schemas.openxmlformats.org/drawingml/2006/main">
            <a:off x="540000" y="1224000"/>
            <a:ext cx="5220000" cy="198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221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 sz="1200">
              <a:solidFill>
                <a:srgbClr val="0D2219"/>
              </a:solidFill>
            </a:endParaRPr>
          </a:p>
        </p:txBody>
      </p:sp>
      <p:sp>
        <p:nvSpPr>
          <p:cNvPr id="100067" name="KPI1Val"/>
          <p:cNvSpPr txBox="1"/>
          <p:nvPr/>
        </p:nvSpPr>
        <p:spPr>
          <a:xfrm xmlns:a="http://schemas.openxmlformats.org/drawingml/2006/main">
            <a:off x="648000" y="1332000"/>
            <a:ext cx="4860000" cy="72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4200" b="1">
                <a:solidFill>
                  <a:srgbClr val="27AE60"/>
                </a:solidFill>
              </a:rPr>
              <a:t>&lt; 60 sec</a:t>
            </a:r>
          </a:p>
        </p:txBody>
      </p:sp>
      <p:sp>
        <p:nvSpPr>
          <p:cNvPr id="100068" name="KPI1Lbl"/>
          <p:cNvSpPr txBox="1"/>
          <p:nvPr/>
        </p:nvSpPr>
        <p:spPr>
          <a:xfrm xmlns:a="http://schemas.openxmlformats.org/drawingml/2006/main">
            <a:off x="648000" y="2052000"/>
            <a:ext cx="4860000" cy="64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500">
                <a:solidFill>
                  <a:srgbClr val="9AAABB"/>
                </a:solidFill>
              </a:rPr>
              <a:t>disruption detected → first approved action</a:t>
            </a:r>
          </a:p>
          <a:p xmlns:a="http://schemas.openxmlformats.org/drawingml/2006/main">
            <a:r>
              <a:rPr lang="en-US" sz="1500">
                <a:solidFill>
                  <a:srgbClr val="9AAABB"/>
                </a:solidFill>
              </a:rPr>
              <a:t>(vs 72 hour industry average)</a:t>
            </a:r>
          </a:p>
        </p:txBody>
      </p:sp>
      <p:sp>
        <p:nvSpPr>
          <p:cNvPr id="100069" name="KPI2Box"/>
          <p:cNvSpPr txBox="1"/>
          <p:nvPr/>
        </p:nvSpPr>
        <p:spPr>
          <a:xfrm xmlns:a="http://schemas.openxmlformats.org/drawingml/2006/main">
            <a:off x="6120000" y="1224000"/>
            <a:ext cx="5400000" cy="198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221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 sz="1200">
              <a:solidFill>
                <a:srgbClr val="0D2219"/>
              </a:solidFill>
            </a:endParaRPr>
          </a:p>
        </p:txBody>
      </p:sp>
      <p:sp>
        <p:nvSpPr>
          <p:cNvPr id="100070" name="KPI2Val"/>
          <p:cNvSpPr txBox="1"/>
          <p:nvPr/>
        </p:nvSpPr>
        <p:spPr>
          <a:xfrm xmlns:a="http://schemas.openxmlformats.org/drawingml/2006/main">
            <a:off x="6228000" y="1332000"/>
            <a:ext cx="5040000" cy="72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800" b="1">
                <a:solidFill>
                  <a:srgbClr val="27AE60"/>
                </a:solidFill>
              </a:rPr>
              <a:t>45 min early</a:t>
            </a:r>
          </a:p>
        </p:txBody>
      </p:sp>
      <p:sp>
        <p:nvSpPr>
          <p:cNvPr id="100071" name="KPI2Lbl"/>
          <p:cNvSpPr txBox="1"/>
          <p:nvPr/>
        </p:nvSpPr>
        <p:spPr>
          <a:xfrm xmlns:a="http://schemas.openxmlformats.org/drawingml/2006/main">
            <a:off x="6228000" y="2052000"/>
            <a:ext cx="5040000" cy="64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500">
                <a:solidFill>
                  <a:srgbClr val="9AAABB"/>
                </a:solidFill>
              </a:rPr>
              <a:t>cold-chain excursion detection before</a:t>
            </a:r>
          </a:p>
          <a:p xmlns:a="http://schemas.openxmlformats.org/drawingml/2006/main">
            <a:r>
              <a:rPr lang="en-US" sz="1500">
                <a:solidFill>
                  <a:srgbClr val="9AAABB"/>
                </a:solidFill>
              </a:rPr>
              <a:t>cargo damage point</a:t>
            </a:r>
          </a:p>
        </p:txBody>
      </p:sp>
      <p:sp>
        <p:nvSpPr>
          <p:cNvPr id="100072" name="KPI3Box"/>
          <p:cNvSpPr txBox="1"/>
          <p:nvPr/>
        </p:nvSpPr>
        <p:spPr>
          <a:xfrm xmlns:a="http://schemas.openxmlformats.org/drawingml/2006/main">
            <a:off x="540000" y="3420000"/>
            <a:ext cx="3420000" cy="198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221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 sz="1200">
              <a:solidFill>
                <a:srgbClr val="0D2219"/>
              </a:solidFill>
            </a:endParaRPr>
          </a:p>
        </p:txBody>
      </p:sp>
      <p:sp>
        <p:nvSpPr>
          <p:cNvPr id="100073" name="KPI3Val"/>
          <p:cNvSpPr txBox="1"/>
          <p:nvPr/>
        </p:nvSpPr>
        <p:spPr>
          <a:xfrm xmlns:a="http://schemas.openxmlformats.org/drawingml/2006/main">
            <a:off x="648000" y="3528000"/>
            <a:ext cx="3060000" cy="72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4200" b="1">
                <a:solidFill>
                  <a:srgbClr val="27AE60"/>
                </a:solidFill>
              </a:rPr>
              <a:t>100%</a:t>
            </a:r>
          </a:p>
        </p:txBody>
      </p:sp>
      <p:sp>
        <p:nvSpPr>
          <p:cNvPr id="100074" name="KPI3Lbl"/>
          <p:cNvSpPr txBox="1"/>
          <p:nvPr/>
        </p:nvSpPr>
        <p:spPr>
          <a:xfrm xmlns:a="http://schemas.openxmlformats.org/drawingml/2006/main">
            <a:off x="648000" y="4248000"/>
            <a:ext cx="3060000" cy="64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500">
                <a:solidFill>
                  <a:srgbClr val="9AAABB"/>
                </a:solidFill>
              </a:rPr>
              <a:t>audit trail coverage</a:t>
            </a:r>
          </a:p>
          <a:p xmlns:a="http://schemas.openxmlformats.org/drawingml/2006/main">
            <a:r>
              <a:rPr lang="en-US" sz="1500">
                <a:solidFill>
                  <a:srgbClr val="9AAABB"/>
                </a:solidFill>
              </a:rPr>
              <a:t>for approved actions</a:t>
            </a:r>
          </a:p>
        </p:txBody>
      </p:sp>
      <p:sp>
        <p:nvSpPr>
          <p:cNvPr id="100075" name="KPI4Box"/>
          <p:cNvSpPr txBox="1"/>
          <p:nvPr/>
        </p:nvSpPr>
        <p:spPr>
          <a:xfrm xmlns:a="http://schemas.openxmlformats.org/drawingml/2006/main">
            <a:off x="4320000" y="3420000"/>
            <a:ext cx="3420000" cy="198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221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 sz="1200">
              <a:solidFill>
                <a:srgbClr val="0D2219"/>
              </a:solidFill>
            </a:endParaRPr>
          </a:p>
        </p:txBody>
      </p:sp>
      <p:sp>
        <p:nvSpPr>
          <p:cNvPr id="100076" name="KPI4Val"/>
          <p:cNvSpPr txBox="1"/>
          <p:nvPr/>
        </p:nvSpPr>
        <p:spPr>
          <a:xfrm xmlns:a="http://schemas.openxmlformats.org/drawingml/2006/main">
            <a:off x="4428000" y="3528000"/>
            <a:ext cx="3060000" cy="72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4200" b="1">
                <a:solidFill>
                  <a:srgbClr val="27AE60"/>
                </a:solidFill>
              </a:rPr>
              <a:t>3 routes</a:t>
            </a:r>
          </a:p>
        </p:txBody>
      </p:sp>
      <p:sp>
        <p:nvSpPr>
          <p:cNvPr id="100077" name="KPI4Lbl"/>
          <p:cNvSpPr txBox="1"/>
          <p:nvPr/>
        </p:nvSpPr>
        <p:spPr>
          <a:xfrm xmlns:a="http://schemas.openxmlformats.org/drawingml/2006/main">
            <a:off x="4428000" y="4248000"/>
            <a:ext cx="3060000" cy="64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500">
                <a:solidFill>
                  <a:srgbClr val="9AAABB"/>
                </a:solidFill>
              </a:rPr>
              <a:t>ranked alternatives generated</a:t>
            </a:r>
          </a:p>
          <a:p xmlns:a="http://schemas.openxmlformats.org/drawingml/2006/main">
            <a:r>
              <a:rPr lang="en-US" sz="1500">
                <a:solidFill>
                  <a:srgbClr val="9AAABB"/>
                </a:solidFill>
              </a:rPr>
              <a:t>per disruption event</a:t>
            </a:r>
          </a:p>
        </p:txBody>
      </p:sp>
      <p:sp>
        <p:nvSpPr>
          <p:cNvPr id="100078" name="KPI5Box"/>
          <p:cNvSpPr txBox="1"/>
          <p:nvPr/>
        </p:nvSpPr>
        <p:spPr>
          <a:xfrm xmlns:a="http://schemas.openxmlformats.org/drawingml/2006/main">
            <a:off x="8100000" y="3420000"/>
            <a:ext cx="3420000" cy="198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221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 sz="1200">
              <a:solidFill>
                <a:srgbClr val="0D2219"/>
              </a:solidFill>
            </a:endParaRPr>
          </a:p>
        </p:txBody>
      </p:sp>
      <p:sp>
        <p:nvSpPr>
          <p:cNvPr id="100079" name="KPI5Val"/>
          <p:cNvSpPr txBox="1"/>
          <p:nvPr/>
        </p:nvSpPr>
        <p:spPr>
          <a:xfrm xmlns:a="http://schemas.openxmlformats.org/drawingml/2006/main">
            <a:off x="8208000" y="3528000"/>
            <a:ext cx="3060000" cy="72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600" b="1">
                <a:solidFill>
                  <a:srgbClr val="27AE60"/>
                </a:solidFill>
              </a:rPr>
              <a:t>0 numbers</a:t>
            </a:r>
          </a:p>
        </p:txBody>
      </p:sp>
      <p:sp>
        <p:nvSpPr>
          <p:cNvPr id="100080" name="KPI5Lbl"/>
          <p:cNvSpPr txBox="1"/>
          <p:nvPr/>
        </p:nvSpPr>
        <p:spPr>
          <a:xfrm xmlns:a="http://schemas.openxmlformats.org/drawingml/2006/main">
            <a:off x="8208000" y="4248000"/>
            <a:ext cx="3060000" cy="64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500">
                <a:solidFill>
                  <a:srgbClr val="9AAABB"/>
                </a:solidFill>
              </a:rPr>
              <a:t>from watsonx.ai</a:t>
            </a:r>
          </a:p>
          <a:p xmlns:a="http://schemas.openxmlformats.org/drawingml/2006/main">
            <a:r>
              <a:rPr lang="en-US" sz="1500">
                <a:solidFill>
                  <a:srgbClr val="9AAABB"/>
                </a:solidFill>
              </a:rPr>
              <a:t>(all deterministic)</a:t>
            </a:r>
          </a:p>
        </p:txBody>
      </p:sp>
    </p:spTree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A0F1A"/>
        </a:solidFill>
      </p:bgPr>
    </p:bg>
    <p:spTree>
      <p:nvGrpSpPr>
        <p:cNvPr id="1" name=""/>
        <p:cNvGrpSpPr/>
        <p:nvPr/>
      </p:nvGrpSpPr>
      <p:grpSpPr/>
      <p:sp>
        <p:nvSpPr>
          <p:cNvPr id="100081" name="TopBar"/>
          <p:cNvSpPr txBox="1"/>
          <p:nvPr/>
        </p:nvSpPr>
        <p:spPr>
          <a:xfrm xmlns:a="http://schemas.openxmlformats.org/drawingml/2006/main">
            <a:off x="0" y="0"/>
            <a:ext cx="12193200" cy="14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6FA5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 sz="800">
              <a:solidFill>
                <a:srgbClr val="1D6FA5"/>
              </a:solidFill>
            </a:endParaRPr>
          </a:p>
        </p:txBody>
      </p:sp>
      <p:sp>
        <p:nvSpPr>
          <p:cNvPr id="100082" name="SlideNum"/>
          <p:cNvSpPr txBox="1"/>
          <p:nvPr/>
        </p:nvSpPr>
        <p:spPr>
          <a:xfrm xmlns:a="http://schemas.openxmlformats.org/drawingml/2006/main">
            <a:off x="10440000" y="216000"/>
            <a:ext cx="1440000" cy="21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000">
                <a:solidFill>
                  <a:srgbClr val="5B6070"/>
                </a:solidFill>
              </a:rPr>
              <a:t>08 / 08</a:t>
            </a:r>
          </a:p>
        </p:txBody>
      </p:sp>
      <p:sp>
        <p:nvSpPr>
          <p:cNvPr id="100083" name="Title"/>
          <p:cNvSpPr txBox="1"/>
          <p:nvPr/>
        </p:nvSpPr>
        <p:spPr>
          <a:xfrm xmlns:a="http://schemas.openxmlformats.org/drawingml/2006/main">
            <a:off x="540000" y="720000"/>
            <a:ext cx="10800000" cy="72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4200" b="1">
                <a:solidFill>
                  <a:srgbClr val="FFFFFF"/>
                </a:solidFill>
              </a:rPr>
              <a:t>Team Error Fellows</a:t>
            </a:r>
          </a:p>
        </p:txBody>
      </p:sp>
      <p:sp>
        <p:nvSpPr>
          <p:cNvPr id="100084" name="Track"/>
          <p:cNvSpPr txBox="1"/>
          <p:nvPr/>
        </p:nvSpPr>
        <p:spPr>
          <a:xfrm xmlns:a="http://schemas.openxmlformats.org/drawingml/2006/main">
            <a:off x="540000" y="1548000"/>
            <a:ext cx="10800000" cy="32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800">
                <a:solidFill>
                  <a:srgbClr val="5BA8D4"/>
                </a:solidFill>
              </a:rPr>
              <a:t>IBM Bob AI Hackathon 2026  ·  Track: AI  ·  ColdChain AI Copilot</a:t>
            </a:r>
          </a:p>
        </p:txBody>
      </p:sp>
      <p:sp>
        <p:nvSpPr>
          <p:cNvPr id="100085" name="MemberBox"/>
          <p:cNvSpPr txBox="1"/>
          <p:nvPr/>
        </p:nvSpPr>
        <p:spPr>
          <a:xfrm xmlns:a="http://schemas.openxmlformats.org/drawingml/2006/main">
            <a:off x="540000" y="2088000"/>
            <a:ext cx="10800000" cy="144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117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 sz="1200">
              <a:solidFill>
                <a:srgbClr val="0D1117"/>
              </a:solidFill>
            </a:endParaRPr>
          </a:p>
        </p:txBody>
      </p:sp>
      <p:sp>
        <p:nvSpPr>
          <p:cNvPr id="100086" name="Members"/>
          <p:cNvSpPr txBox="1"/>
          <p:nvPr/>
        </p:nvSpPr>
        <p:spPr>
          <a:xfrm xmlns:a="http://schemas.openxmlformats.org/drawingml/2006/main">
            <a:off x="720000" y="2268000"/>
            <a:ext cx="10440000" cy="36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800">
                <a:solidFill>
                  <a:srgbClr val="C8D8E8"/>
                </a:solidFill>
              </a:rPr>
              <a:t>Priyank  ·  priyank@errorfellows.dev  ·  Lead Engineer</a:t>
            </a:r>
          </a:p>
        </p:txBody>
      </p:sp>
      <p:sp>
        <p:nvSpPr>
          <p:cNvPr id="100087" name="Repo"/>
          <p:cNvSpPr txBox="1"/>
          <p:nvPr/>
        </p:nvSpPr>
        <p:spPr>
          <a:xfrm xmlns:a="http://schemas.openxmlformats.org/drawingml/2006/main">
            <a:off x="540000" y="3780000"/>
            <a:ext cx="10800000" cy="32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>
                <a:solidFill>
                  <a:srgbClr val="5BA8D4"/>
                </a:solidFill>
              </a:rPr>
              <a:t>github.com/priyank-projectwork/bob-ai-hackathon-error-fellows</a:t>
            </a:r>
          </a:p>
        </p:txBody>
      </p:sp>
      <p:sp>
        <p:nvSpPr>
          <p:cNvPr id="100088" name="Summary"/>
          <p:cNvSpPr txBox="1"/>
          <p:nvPr/>
        </p:nvSpPr>
        <p:spPr>
          <a:xfrm xmlns:a="http://schemas.openxmlformats.org/drawingml/2006/main">
            <a:off x="540000" y="4320000"/>
            <a:ext cx="10800000" cy="144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800">
                <a:solidFill>
                  <a:srgbClr val="B0C8E0"/>
                </a:solidFill>
              </a:rPr>
              <a:t>We built a production-grade cold-chain control tower that solves a real $500M+ industry problem using IBM watsonx.ai as a deterministic AI overlay — not a black box. Every risk score, route cost and excursion classification can be explained, audited, and overridden by the human operator.</a:t>
            </a:r>
          </a:p>
        </p:txBody>
      </p:sp>
      <p:sp>
        <p:nvSpPr>
          <p:cNvPr id="100089" name="BottomBar"/>
          <p:cNvSpPr txBox="1"/>
          <p:nvPr/>
        </p:nvSpPr>
        <p:spPr>
          <a:xfrm xmlns:a="http://schemas.openxmlformats.org/drawingml/2006/main">
            <a:off x="540000" y="5940000"/>
            <a:ext cx="10800000" cy="36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200" b="1">
                <a:solidFill>
                  <a:srgbClr val="5BA8D4"/>
                </a:solidFill>
              </a:rPr>
              <a:t>Thank you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>
          <a:solidFill>
            <a:schemeClr val="phClr"/>
          </a:solidFill>
        </a:ln>
        <a:ln w="12700" cap="flat">
          <a:solidFill>
            <a:schemeClr val="phClr"/>
          </a:solidFill>
        </a:ln>
        <a:ln w="19050" cap="flat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ap:Properties xmlns:ap="http://schemas.openxmlformats.org/officeDocument/2006/extended-properties">
  <ap:Application>OfficeCLI/1.0.144</ap:Application>
</ap: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creator>OfficeCLI</dc:creator>
  <dcterms:created xsi:type="dcterms:W3CDTF">2026-09-15T04:38:20Z</dcterms:created>
  <cp:lastModifiedBy>OfficeCLI</cp:lastModifiedBy>
  <dcterms:modified xsi:type="dcterms:W3CDTF">2026-09-15T04:38:20Z</dcterms:modified>
</cp:coreProperties>
</file>

<file path=docProps/custom.xml><?xml version="1.0" encoding="utf-8"?>
<op:Properties xmlns:op="http://schemas.openxmlformats.org/officeDocument/2006/custom-properties">
  <op:property fmtid="{D5CDD505-2E9C-101B-9397-08002B2CF9AE}" pid="2" name="OfficeCLI.Version">
    <vt:lpwstr xmlns:vt="http://schemas.openxmlformats.org/officeDocument/2006/docPropsVTypes">1.0.150</vt:lpwstr>
  </op:property>
  <op:property fmtid="{D5CDD505-2E9C-101B-9397-08002B2CF9AE}" pid="3" name="OfficeCLI.LastModified">
    <vt:lpwstr xmlns:vt="http://schemas.openxmlformats.org/officeDocument/2006/docPropsVTypes">2026-09-15T04:41:24Z</vt:lpwstr>
  </op:property>
</op:Properties>
</file>