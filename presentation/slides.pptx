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0328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SupplyChain AI Copilot — Supply Chain Disruption Assistant &amp; Fleet Utilisation Optimizer. Team Error Fellows, Track AI, IBM Bob AI Hackathon 2026. The system runs a continuous Detect, Assess, Optimise, Act loop.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Pharmaceutical cold-chain teams face two simultaneous crises. First, disruption blindness: manual triage of a port strike or storm takes 2–4 hours. Second, cold-chain excursions are discovered only at delivery. Pain numbers: $500K+ per rejected vaccine shipment, $10B+ per major port event, 4–8 hours per manual GDP excursion report.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system that detects exposed shipments geospatially, scores them with a 6-factor deterministic engine, optimises reroutes and idle reefer fleet matching, acts through a human-approved workflow with immutable audit trail, and monitors cold-chain IoT telemetry 24/7 with watsonx.ai excursion classification before delivery.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input streams. IoT sensor readings every 5 seconds go to the Cold Chain Engine, then watsonx.ai for GDP classification. Disruption events flow through Impact, Risk, Route Optimizer and Fleet Matcher into the AI Action Center. Operator chat goes to the watsonx.ai Copilot with live system context. Key principle: AI explains, deterministic engines calculate the facts.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6"/>
        </a:solidFill>
        <a:effectLst/>
      </p:bgPr>
    </p:bg>
    <p:spTree>
      <p:nvGrpSpPr>
        <p:cNvPr id="1" name=""/>
        <p:cNvGrpSpPr/>
        <p:nvPr/>
      </p:nvGrpSpPr>
      <p:grpSpPr>
        <a:xfrm>
          <a:off x="0" y="0"/>
          <a:ext cx="0" cy="0"/>
          <a:chOff x="0" y="0"/>
          <a:chExt cx="0" cy="0"/>
        </a:xfrm>
      </p:grpSpPr>
      <p:sp>
        <p:nvSpPr>
          <p:cNvPr id="2" name="Text 0"/>
          <p:cNvSpPr txBox="1"/>
          <p:nvPr/>
        </p:nvSpPr>
        <p:spPr>
          <a:xfrm>
            <a:off x="457200" y="914400"/>
            <a:ext cx="5120640" cy="274320"/>
          </a:xfrm>
          <a:prstGeom prst="rect">
            <a:avLst/>
          </a:prstGeom>
          <a:noFill/>
          <a:ln/>
        </p:spPr>
        <p:txBody>
          <a:bodyPr wrap="square" lIns="0" tIns="0" rIns="0" bIns="0" rtlCol="0" anchor="t"/>
          <a:lstStyle/>
          <a:p>
            <a:pPr marL="0" indent="0">
              <a:buNone/>
            </a:pPr>
            <a:r>
              <a:rPr lang="en-US" sz="1200" b="1" kern="0" spc="300" dirty="0">
                <a:solidFill>
                  <a:srgbClr val="22D3EE"/>
                </a:solidFill>
                <a:latin typeface="Calibri" pitchFamily="34" charset="0"/>
                <a:ea typeface="Calibri" pitchFamily="34" charset="-122"/>
                <a:cs typeface="Calibri" pitchFamily="34" charset="-120"/>
              </a:rPr>
              <a:t>IBM BOB AI HACKATHON 2026</a:t>
            </a:r>
            <a:endParaRPr lang="en-US" sz="1200" dirty="0"/>
          </a:p>
        </p:txBody>
      </p:sp>
      <p:sp>
        <p:nvSpPr>
          <p:cNvPr id="3" name="Text 1"/>
          <p:cNvSpPr txBox="1"/>
          <p:nvPr/>
        </p:nvSpPr>
        <p:spPr>
          <a:xfrm>
            <a:off x="457200" y="1280160"/>
            <a:ext cx="5120640" cy="1463040"/>
          </a:xfrm>
          <a:prstGeom prst="rect">
            <a:avLst/>
          </a:prstGeom>
          <a:noFill/>
          <a:ln/>
        </p:spPr>
        <p:txBody>
          <a:bodyPr wrap="square" lIns="0" tIns="0" rIns="0" bIns="0" rtlCol="0" anchor="t"/>
          <a:lstStyle/>
          <a:p>
            <a:pPr marL="0" indent="0">
              <a:buNone/>
            </a:pPr>
            <a:r>
              <a:rPr lang="en-US" sz="4400" b="1" dirty="0">
                <a:solidFill>
                  <a:srgbClr val="F1F5F9"/>
                </a:solidFill>
                <a:latin typeface="Arial" pitchFamily="34" charset="0"/>
                <a:ea typeface="Arial" pitchFamily="34" charset="-122"/>
                <a:cs typeface="Arial" pitchFamily="34" charset="-120"/>
              </a:rPr>
              <a:t>LIFECLOCK</a:t>
            </a:r>
            <a:endParaRPr lang="en-US" sz="4400" dirty="0"/>
          </a:p>
        </p:txBody>
      </p:sp>
      <p:sp>
        <p:nvSpPr>
          <p:cNvPr id="4" name="Text 2"/>
          <p:cNvSpPr txBox="1"/>
          <p:nvPr/>
        </p:nvSpPr>
        <p:spPr>
          <a:xfrm>
            <a:off x="457200" y="2834640"/>
            <a:ext cx="4754880" cy="640080"/>
          </a:xfrm>
          <a:prstGeom prst="rect">
            <a:avLst/>
          </a:prstGeom>
          <a:noFill/>
          <a:ln/>
        </p:spPr>
        <p:txBody>
          <a:bodyPr wrap="square" lIns="0" tIns="0" rIns="0" bIns="0" rtlCol="0" anchor="t"/>
          <a:lstStyle/>
          <a:p>
            <a:pPr marL="0" indent="0">
              <a:buNone/>
            </a:pPr>
            <a:r>
              <a:rPr lang="en-US" sz="1600" dirty="0">
                <a:solidFill>
                  <a:srgbClr val="CADCFC"/>
                </a:solidFill>
                <a:latin typeface="Calibri" pitchFamily="34" charset="0"/>
                <a:ea typeface="Calibri" pitchFamily="34" charset="-122"/>
                <a:cs typeface="Calibri" pitchFamily="34" charset="-120"/>
              </a:rPr>
              <a:t>Cold-chain control tower, operated by IBM Bob</a:t>
            </a:r>
            <a:endParaRPr lang="en-US" sz="1600" dirty="0"/>
          </a:p>
        </p:txBody>
      </p:sp>
      <p:sp>
        <p:nvSpPr>
          <p:cNvPr id="5" name="Shape 3"/>
          <p:cNvSpPr/>
          <p:nvPr/>
        </p:nvSpPr>
        <p:spPr>
          <a:xfrm>
            <a:off x="457200" y="3886200"/>
            <a:ext cx="1691640" cy="365760"/>
          </a:xfrm>
          <a:prstGeom prst="roundRect">
            <a:avLst>
              <a:gd name="adj" fmla="val 50000"/>
            </a:avLst>
          </a:prstGeom>
          <a:solidFill>
            <a:srgbClr val="14213D"/>
          </a:solidFill>
          <a:ln w="9525">
            <a:solidFill>
              <a:srgbClr val="334155"/>
            </a:solidFill>
            <a:prstDash val="solid"/>
          </a:ln>
        </p:spPr>
        <p:txBody>
          <a:bodyPr/>
          <a:lstStyle/>
          <a:p>
            <a:endParaRPr lang="en-IN"/>
          </a:p>
        </p:txBody>
      </p:sp>
      <p:sp>
        <p:nvSpPr>
          <p:cNvPr id="6" name="Text 4"/>
          <p:cNvSpPr txBox="1"/>
          <p:nvPr/>
        </p:nvSpPr>
        <p:spPr>
          <a:xfrm>
            <a:off x="457200" y="3886200"/>
            <a:ext cx="1691640" cy="365760"/>
          </a:xfrm>
          <a:prstGeom prst="rect">
            <a:avLst/>
          </a:prstGeom>
          <a:noFill/>
          <a:ln/>
        </p:spPr>
        <p:txBody>
          <a:bodyPr wrap="square" lIns="0" tIns="0" rIns="0" bIns="0" rtlCol="0" anchor="ctr"/>
          <a:lstStyle/>
          <a:p>
            <a:pPr marL="0" indent="0" algn="ctr">
              <a:buNone/>
            </a:pPr>
            <a:r>
              <a:rPr lang="en-US" sz="1200" dirty="0">
                <a:solidFill>
                  <a:srgbClr val="F1F5F9"/>
                </a:solidFill>
                <a:latin typeface="Calibri" pitchFamily="34" charset="0"/>
                <a:ea typeface="Calibri" pitchFamily="34" charset="-122"/>
                <a:cs typeface="Calibri" pitchFamily="34" charset="-120"/>
              </a:rPr>
              <a:t>Team Error Fellows</a:t>
            </a:r>
            <a:endParaRPr lang="en-US" sz="1200" dirty="0"/>
          </a:p>
        </p:txBody>
      </p:sp>
      <p:sp>
        <p:nvSpPr>
          <p:cNvPr id="7" name="Shape 5"/>
          <p:cNvSpPr/>
          <p:nvPr/>
        </p:nvSpPr>
        <p:spPr>
          <a:xfrm>
            <a:off x="2286000" y="3886200"/>
            <a:ext cx="914400" cy="365760"/>
          </a:xfrm>
          <a:prstGeom prst="roundRect">
            <a:avLst>
              <a:gd name="adj" fmla="val 50000"/>
            </a:avLst>
          </a:prstGeom>
          <a:solidFill>
            <a:srgbClr val="14213D"/>
          </a:solidFill>
          <a:ln w="9525">
            <a:solidFill>
              <a:srgbClr val="334155"/>
            </a:solidFill>
            <a:prstDash val="solid"/>
          </a:ln>
        </p:spPr>
        <p:txBody>
          <a:bodyPr/>
          <a:lstStyle/>
          <a:p>
            <a:endParaRPr lang="en-IN"/>
          </a:p>
        </p:txBody>
      </p:sp>
      <p:sp>
        <p:nvSpPr>
          <p:cNvPr id="8" name="Text 6"/>
          <p:cNvSpPr txBox="1"/>
          <p:nvPr/>
        </p:nvSpPr>
        <p:spPr>
          <a:xfrm>
            <a:off x="2286000" y="3886200"/>
            <a:ext cx="914400" cy="365760"/>
          </a:xfrm>
          <a:prstGeom prst="rect">
            <a:avLst/>
          </a:prstGeom>
          <a:noFill/>
          <a:ln/>
        </p:spPr>
        <p:txBody>
          <a:bodyPr wrap="square" lIns="0" tIns="0" rIns="0" bIns="0" rtlCol="0" anchor="ctr"/>
          <a:lstStyle/>
          <a:p>
            <a:pPr marL="0" indent="0" algn="ctr">
              <a:buNone/>
            </a:pPr>
            <a:r>
              <a:rPr lang="en-US" sz="1200" dirty="0">
                <a:solidFill>
                  <a:srgbClr val="F1F5F9"/>
                </a:solidFill>
                <a:latin typeface="Calibri" pitchFamily="34" charset="0"/>
                <a:ea typeface="Calibri" pitchFamily="34" charset="-122"/>
                <a:cs typeface="Calibri" pitchFamily="34" charset="-120"/>
              </a:rPr>
              <a:t>Track: AI</a:t>
            </a:r>
            <a:endParaRPr lang="en-US" sz="1200" dirty="0"/>
          </a:p>
        </p:txBody>
      </p:sp>
      <p:sp>
        <p:nvSpPr>
          <p:cNvPr id="9" name="Shape 7"/>
          <p:cNvSpPr/>
          <p:nvPr/>
        </p:nvSpPr>
        <p:spPr>
          <a:xfrm>
            <a:off x="5760720" y="1097280"/>
            <a:ext cx="1325880" cy="1325880"/>
          </a:xfrm>
          <a:prstGeom prst="roundRect">
            <a:avLst>
              <a:gd name="adj" fmla="val 5517"/>
            </a:avLst>
          </a:prstGeom>
          <a:solidFill>
            <a:srgbClr val="14213D"/>
          </a:solidFill>
          <a:ln w="12700">
            <a:solidFill>
              <a:srgbClr val="14213D"/>
            </a:solidFill>
            <a:prstDash val="solid"/>
          </a:ln>
        </p:spPr>
        <p:txBody>
          <a:bodyPr/>
          <a:lstStyle/>
          <a:p>
            <a:endParaRPr lang="en-IN"/>
          </a:p>
        </p:txBody>
      </p:sp>
      <p:sp>
        <p:nvSpPr>
          <p:cNvPr id="10" name="Shape 8"/>
          <p:cNvSpPr/>
          <p:nvPr/>
        </p:nvSpPr>
        <p:spPr>
          <a:xfrm>
            <a:off x="6153912" y="1325880"/>
            <a:ext cx="548640" cy="548640"/>
          </a:xfrm>
          <a:prstGeom prst="ellipse">
            <a:avLst/>
          </a:prstGeom>
          <a:solidFill>
            <a:srgbClr val="0E3A4A"/>
          </a:solidFill>
          <a:ln w="12700">
            <a:solidFill>
              <a:srgbClr val="0E3A4A"/>
            </a:solidFill>
            <a:prstDash val="solid"/>
          </a:ln>
        </p:spPr>
        <p:txBody>
          <a:bodyPr/>
          <a:lstStyle/>
          <a:p>
            <a:endParaRPr lang="en-IN"/>
          </a:p>
        </p:txBody>
      </p:sp>
      <p:pic>
        <p:nvPicPr>
          <p:cNvPr id="11" name="Image 0" descr="preencoded.png"/>
          <p:cNvPicPr>
            <a:picLocks noChangeAspect="1"/>
          </p:cNvPicPr>
          <p:nvPr/>
        </p:nvPicPr>
        <p:blipFill>
          <a:blip r:embed="rId3"/>
          <a:stretch>
            <a:fillRect/>
          </a:stretch>
        </p:blipFill>
        <p:spPr>
          <a:xfrm>
            <a:off x="6291072" y="1463040"/>
            <a:ext cx="274320" cy="274320"/>
          </a:xfrm>
          <a:prstGeom prst="rect">
            <a:avLst/>
          </a:prstGeom>
        </p:spPr>
      </p:pic>
      <p:sp>
        <p:nvSpPr>
          <p:cNvPr id="12" name="Text 9"/>
          <p:cNvSpPr txBox="1"/>
          <p:nvPr/>
        </p:nvSpPr>
        <p:spPr>
          <a:xfrm>
            <a:off x="5760720" y="1993392"/>
            <a:ext cx="1325880" cy="27432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Detect</a:t>
            </a:r>
            <a:endParaRPr lang="en-US" sz="1400" dirty="0"/>
          </a:p>
        </p:txBody>
      </p:sp>
      <p:sp>
        <p:nvSpPr>
          <p:cNvPr id="13" name="Shape 10"/>
          <p:cNvSpPr/>
          <p:nvPr/>
        </p:nvSpPr>
        <p:spPr>
          <a:xfrm>
            <a:off x="7269480" y="1097280"/>
            <a:ext cx="1325880" cy="1325880"/>
          </a:xfrm>
          <a:prstGeom prst="roundRect">
            <a:avLst>
              <a:gd name="adj" fmla="val 5517"/>
            </a:avLst>
          </a:prstGeom>
          <a:solidFill>
            <a:srgbClr val="14213D"/>
          </a:solidFill>
          <a:ln w="12700">
            <a:solidFill>
              <a:srgbClr val="14213D"/>
            </a:solidFill>
            <a:prstDash val="solid"/>
          </a:ln>
        </p:spPr>
        <p:txBody>
          <a:bodyPr/>
          <a:lstStyle/>
          <a:p>
            <a:endParaRPr lang="en-IN"/>
          </a:p>
        </p:txBody>
      </p:sp>
      <p:sp>
        <p:nvSpPr>
          <p:cNvPr id="14" name="Shape 11"/>
          <p:cNvSpPr/>
          <p:nvPr/>
        </p:nvSpPr>
        <p:spPr>
          <a:xfrm>
            <a:off x="7662672" y="1325880"/>
            <a:ext cx="548640" cy="548640"/>
          </a:xfrm>
          <a:prstGeom prst="ellipse">
            <a:avLst/>
          </a:prstGeom>
          <a:solidFill>
            <a:srgbClr val="0E3A4A"/>
          </a:solidFill>
          <a:ln w="12700">
            <a:solidFill>
              <a:srgbClr val="0E3A4A"/>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7799832" y="1463040"/>
            <a:ext cx="274320" cy="274320"/>
          </a:xfrm>
          <a:prstGeom prst="rect">
            <a:avLst/>
          </a:prstGeom>
        </p:spPr>
      </p:pic>
      <p:sp>
        <p:nvSpPr>
          <p:cNvPr id="16" name="Text 12"/>
          <p:cNvSpPr txBox="1"/>
          <p:nvPr/>
        </p:nvSpPr>
        <p:spPr>
          <a:xfrm>
            <a:off x="7269480" y="1993392"/>
            <a:ext cx="1325880" cy="27432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Assess</a:t>
            </a:r>
            <a:endParaRPr lang="en-US" sz="1400" dirty="0"/>
          </a:p>
        </p:txBody>
      </p:sp>
      <p:sp>
        <p:nvSpPr>
          <p:cNvPr id="17" name="Shape 13"/>
          <p:cNvSpPr/>
          <p:nvPr/>
        </p:nvSpPr>
        <p:spPr>
          <a:xfrm>
            <a:off x="5760720" y="2606040"/>
            <a:ext cx="1325880" cy="1325880"/>
          </a:xfrm>
          <a:prstGeom prst="roundRect">
            <a:avLst>
              <a:gd name="adj" fmla="val 5517"/>
            </a:avLst>
          </a:prstGeom>
          <a:solidFill>
            <a:srgbClr val="14213D"/>
          </a:solidFill>
          <a:ln w="12700">
            <a:solidFill>
              <a:srgbClr val="14213D"/>
            </a:solidFill>
            <a:prstDash val="solid"/>
          </a:ln>
        </p:spPr>
        <p:txBody>
          <a:bodyPr/>
          <a:lstStyle/>
          <a:p>
            <a:endParaRPr lang="en-IN"/>
          </a:p>
        </p:txBody>
      </p:sp>
      <p:sp>
        <p:nvSpPr>
          <p:cNvPr id="18" name="Shape 14"/>
          <p:cNvSpPr/>
          <p:nvPr/>
        </p:nvSpPr>
        <p:spPr>
          <a:xfrm>
            <a:off x="6153912" y="2834640"/>
            <a:ext cx="548640" cy="548640"/>
          </a:xfrm>
          <a:prstGeom prst="ellipse">
            <a:avLst/>
          </a:prstGeom>
          <a:solidFill>
            <a:srgbClr val="0E3A4A"/>
          </a:solidFill>
          <a:ln w="12700">
            <a:solidFill>
              <a:srgbClr val="0E3A4A"/>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6291072" y="2971800"/>
            <a:ext cx="274320" cy="274320"/>
          </a:xfrm>
          <a:prstGeom prst="rect">
            <a:avLst/>
          </a:prstGeom>
        </p:spPr>
      </p:pic>
      <p:sp>
        <p:nvSpPr>
          <p:cNvPr id="20" name="Text 15"/>
          <p:cNvSpPr txBox="1"/>
          <p:nvPr/>
        </p:nvSpPr>
        <p:spPr>
          <a:xfrm>
            <a:off x="5760720" y="3502152"/>
            <a:ext cx="1325880" cy="27432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Optimise</a:t>
            </a:r>
            <a:endParaRPr lang="en-US" sz="1400" dirty="0"/>
          </a:p>
        </p:txBody>
      </p:sp>
      <p:sp>
        <p:nvSpPr>
          <p:cNvPr id="21" name="Shape 16"/>
          <p:cNvSpPr/>
          <p:nvPr/>
        </p:nvSpPr>
        <p:spPr>
          <a:xfrm>
            <a:off x="7269480" y="2606040"/>
            <a:ext cx="1325880" cy="1325880"/>
          </a:xfrm>
          <a:prstGeom prst="roundRect">
            <a:avLst>
              <a:gd name="adj" fmla="val 5517"/>
            </a:avLst>
          </a:prstGeom>
          <a:solidFill>
            <a:srgbClr val="14213D"/>
          </a:solidFill>
          <a:ln w="12700">
            <a:solidFill>
              <a:srgbClr val="14213D"/>
            </a:solidFill>
            <a:prstDash val="solid"/>
          </a:ln>
        </p:spPr>
        <p:txBody>
          <a:bodyPr/>
          <a:lstStyle/>
          <a:p>
            <a:endParaRPr lang="en-IN"/>
          </a:p>
        </p:txBody>
      </p:sp>
      <p:sp>
        <p:nvSpPr>
          <p:cNvPr id="22" name="Shape 17"/>
          <p:cNvSpPr/>
          <p:nvPr/>
        </p:nvSpPr>
        <p:spPr>
          <a:xfrm>
            <a:off x="7662672" y="2834640"/>
            <a:ext cx="548640" cy="548640"/>
          </a:xfrm>
          <a:prstGeom prst="ellipse">
            <a:avLst/>
          </a:prstGeom>
          <a:solidFill>
            <a:srgbClr val="0E3A4A"/>
          </a:solidFill>
          <a:ln w="12700">
            <a:solidFill>
              <a:srgbClr val="0E3A4A"/>
            </a:solidFill>
            <a:prstDash val="solid"/>
          </a:ln>
        </p:spPr>
        <p:txBody>
          <a:bodyPr/>
          <a:lstStyle/>
          <a:p>
            <a:endParaRPr lang="en-IN"/>
          </a:p>
        </p:txBody>
      </p:sp>
      <p:pic>
        <p:nvPicPr>
          <p:cNvPr id="23" name="Image 3" descr="preencoded.png"/>
          <p:cNvPicPr>
            <a:picLocks noChangeAspect="1"/>
          </p:cNvPicPr>
          <p:nvPr/>
        </p:nvPicPr>
        <p:blipFill>
          <a:blip r:embed="rId6"/>
          <a:stretch>
            <a:fillRect/>
          </a:stretch>
        </p:blipFill>
        <p:spPr>
          <a:xfrm>
            <a:off x="7799832" y="2971800"/>
            <a:ext cx="274320" cy="274320"/>
          </a:xfrm>
          <a:prstGeom prst="rect">
            <a:avLst/>
          </a:prstGeom>
        </p:spPr>
      </p:pic>
      <p:sp>
        <p:nvSpPr>
          <p:cNvPr id="24" name="Text 18"/>
          <p:cNvSpPr txBox="1"/>
          <p:nvPr/>
        </p:nvSpPr>
        <p:spPr>
          <a:xfrm>
            <a:off x="7269480" y="3502152"/>
            <a:ext cx="1325880" cy="27432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Act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42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t"/>
          <a:lstStyle/>
          <a:p>
            <a:pPr marL="0" indent="0">
              <a:buNone/>
            </a:pPr>
            <a:r>
              <a:rPr lang="en-US" sz="1100" b="1" kern="0" spc="200" dirty="0">
                <a:solidFill>
                  <a:srgbClr val="22D3EE"/>
                </a:solidFill>
                <a:latin typeface="Calibri" pitchFamily="34" charset="0"/>
                <a:ea typeface="Calibri" pitchFamily="34" charset="-122"/>
                <a:cs typeface="Calibri" pitchFamily="34" charset="-120"/>
              </a:rPr>
              <a:t>02  ·  THE PROBLEM</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t"/>
          <a:lstStyle/>
          <a:p>
            <a:pPr marL="0" indent="0">
              <a:buNone/>
            </a:pPr>
            <a:r>
              <a:rPr lang="en-US" sz="2800" b="1" dirty="0">
                <a:solidFill>
                  <a:srgbClr val="F1F5F9"/>
                </a:solidFill>
                <a:latin typeface="Arial" pitchFamily="34" charset="0"/>
                <a:ea typeface="Arial" pitchFamily="34" charset="-122"/>
                <a:cs typeface="Arial" pitchFamily="34" charset="-120"/>
              </a:rPr>
              <a:t>A breach is found at the door, not in transit</a:t>
            </a:r>
            <a:endParaRPr lang="en-US" sz="2800" dirty="0"/>
          </a:p>
        </p:txBody>
      </p:sp>
      <p:sp>
        <p:nvSpPr>
          <p:cNvPr id="4" name="Text 2"/>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2 / 4</a:t>
            </a:r>
            <a:endParaRPr lang="en-US" sz="900" dirty="0"/>
          </a:p>
        </p:txBody>
      </p:sp>
      <p:sp>
        <p:nvSpPr>
          <p:cNvPr id="5" name="Shape 3"/>
          <p:cNvSpPr/>
          <p:nvPr/>
        </p:nvSpPr>
        <p:spPr>
          <a:xfrm>
            <a:off x="457200" y="1280160"/>
            <a:ext cx="3977640" cy="1920240"/>
          </a:xfrm>
          <a:prstGeom prst="roundRect">
            <a:avLst>
              <a:gd name="adj" fmla="val 3810"/>
            </a:avLst>
          </a:prstGeom>
          <a:solidFill>
            <a:srgbClr val="14213D"/>
          </a:solidFill>
          <a:ln w="12700">
            <a:solidFill>
              <a:srgbClr val="14213D"/>
            </a:solidFill>
            <a:prstDash val="solid"/>
          </a:ln>
        </p:spPr>
        <p:txBody>
          <a:bodyPr/>
          <a:lstStyle/>
          <a:p>
            <a:endParaRPr lang="en-IN"/>
          </a:p>
        </p:txBody>
      </p:sp>
      <p:sp>
        <p:nvSpPr>
          <p:cNvPr id="6" name="Shape 4"/>
          <p:cNvSpPr/>
          <p:nvPr/>
        </p:nvSpPr>
        <p:spPr>
          <a:xfrm>
            <a:off x="685800" y="1508760"/>
            <a:ext cx="502920" cy="502920"/>
          </a:xfrm>
          <a:prstGeom prst="ellipse">
            <a:avLst/>
          </a:prstGeom>
          <a:solidFill>
            <a:srgbClr val="0E3A4A"/>
          </a:solidFill>
          <a:ln w="12700">
            <a:solidFill>
              <a:srgbClr val="0E3A4A"/>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811530" y="1634490"/>
            <a:ext cx="251460" cy="251460"/>
          </a:xfrm>
          <a:prstGeom prst="rect">
            <a:avLst/>
          </a:prstGeom>
        </p:spPr>
      </p:pic>
      <p:sp>
        <p:nvSpPr>
          <p:cNvPr id="8" name="Text 5"/>
          <p:cNvSpPr txBox="1"/>
          <p:nvPr/>
        </p:nvSpPr>
        <p:spPr>
          <a:xfrm>
            <a:off x="1325880" y="1508760"/>
            <a:ext cx="2926080" cy="502920"/>
          </a:xfrm>
          <a:prstGeom prst="rect">
            <a:avLst/>
          </a:prstGeom>
          <a:noFill/>
          <a:ln/>
        </p:spPr>
        <p:txBody>
          <a:bodyPr wrap="square" lIns="0" tIns="0" rIns="0" bIns="0" rtlCol="0" anchor="ctr"/>
          <a:lstStyle/>
          <a:p>
            <a:pPr marL="0" indent="0">
              <a:buNone/>
            </a:pPr>
            <a:r>
              <a:rPr lang="en-US" sz="1700" b="1" dirty="0">
                <a:solidFill>
                  <a:srgbClr val="F1F5F9"/>
                </a:solidFill>
                <a:latin typeface="Calibri" pitchFamily="34" charset="0"/>
                <a:ea typeface="Calibri" pitchFamily="34" charset="-122"/>
                <a:cs typeface="Calibri" pitchFamily="34" charset="-120"/>
              </a:rPr>
              <a:t>Disruptions cascade faster than people can triage</a:t>
            </a:r>
            <a:endParaRPr lang="en-US" sz="1700" dirty="0"/>
          </a:p>
        </p:txBody>
      </p:sp>
      <p:sp>
        <p:nvSpPr>
          <p:cNvPr id="9" name="Text 6"/>
          <p:cNvSpPr txBox="1"/>
          <p:nvPr/>
        </p:nvSpPr>
        <p:spPr>
          <a:xfrm>
            <a:off x="685800" y="2148840"/>
            <a:ext cx="3520440" cy="960120"/>
          </a:xfrm>
          <a:prstGeom prst="rect">
            <a:avLst/>
          </a:prstGeom>
          <a:noFill/>
          <a:ln/>
        </p:spPr>
        <p:txBody>
          <a:bodyPr wrap="square" lIns="0" tIns="0" rIns="0" bIns="0" rtlCol="0" anchor="t"/>
          <a:lstStyle/>
          <a:p>
            <a:pPr marL="0" indent="0">
              <a:buNone/>
            </a:pPr>
            <a:r>
              <a:rPr lang="en-US" sz="1250" dirty="0">
                <a:solidFill>
                  <a:srgbClr val="CBD5E1"/>
                </a:solidFill>
                <a:latin typeface="Calibri" pitchFamily="34" charset="0"/>
                <a:ea typeface="Calibri" pitchFamily="34" charset="-122"/>
                <a:cs typeface="Calibri" pitchFamily="34" charset="-120"/>
              </a:rPr>
              <a:t>A port strike, blizzard or chokepoint closure hits hundreds of shipments at once. Which ones are actually affected, and which have already passed the zone? Today that answer is a spreadsheet and several hours.</a:t>
            </a:r>
            <a:endParaRPr lang="en-US" sz="1250" dirty="0"/>
          </a:p>
        </p:txBody>
      </p:sp>
      <p:sp>
        <p:nvSpPr>
          <p:cNvPr id="10" name="Shape 7"/>
          <p:cNvSpPr/>
          <p:nvPr/>
        </p:nvSpPr>
        <p:spPr>
          <a:xfrm>
            <a:off x="4709160" y="1280160"/>
            <a:ext cx="3977640" cy="1920240"/>
          </a:xfrm>
          <a:prstGeom prst="roundRect">
            <a:avLst>
              <a:gd name="adj" fmla="val 3810"/>
            </a:avLst>
          </a:prstGeom>
          <a:solidFill>
            <a:srgbClr val="14213D"/>
          </a:solidFill>
          <a:ln w="12700">
            <a:solidFill>
              <a:srgbClr val="14213D"/>
            </a:solidFill>
            <a:prstDash val="solid"/>
          </a:ln>
        </p:spPr>
        <p:txBody>
          <a:bodyPr/>
          <a:lstStyle/>
          <a:p>
            <a:endParaRPr lang="en-IN"/>
          </a:p>
        </p:txBody>
      </p:sp>
      <p:sp>
        <p:nvSpPr>
          <p:cNvPr id="11" name="Shape 8"/>
          <p:cNvSpPr/>
          <p:nvPr/>
        </p:nvSpPr>
        <p:spPr>
          <a:xfrm>
            <a:off x="4937760" y="1508760"/>
            <a:ext cx="502920" cy="502920"/>
          </a:xfrm>
          <a:prstGeom prst="ellipse">
            <a:avLst/>
          </a:prstGeom>
          <a:solidFill>
            <a:srgbClr val="0E3A4A"/>
          </a:solidFill>
          <a:ln w="12700">
            <a:solidFill>
              <a:srgbClr val="0E3A4A"/>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5063490" y="1634490"/>
            <a:ext cx="251460" cy="251460"/>
          </a:xfrm>
          <a:prstGeom prst="rect">
            <a:avLst/>
          </a:prstGeom>
        </p:spPr>
      </p:pic>
      <p:sp>
        <p:nvSpPr>
          <p:cNvPr id="13" name="Text 9"/>
          <p:cNvSpPr txBox="1"/>
          <p:nvPr/>
        </p:nvSpPr>
        <p:spPr>
          <a:xfrm>
            <a:off x="5577840" y="1508760"/>
            <a:ext cx="2926080" cy="502920"/>
          </a:xfrm>
          <a:prstGeom prst="rect">
            <a:avLst/>
          </a:prstGeom>
          <a:noFill/>
          <a:ln/>
        </p:spPr>
        <p:txBody>
          <a:bodyPr wrap="square" lIns="0" tIns="0" rIns="0" bIns="0" rtlCol="0" anchor="ctr"/>
          <a:lstStyle/>
          <a:p>
            <a:pPr marL="0" indent="0">
              <a:buNone/>
            </a:pPr>
            <a:r>
              <a:rPr lang="en-US" sz="1700" b="1" dirty="0">
                <a:solidFill>
                  <a:srgbClr val="F1F5F9"/>
                </a:solidFill>
                <a:latin typeface="Calibri" pitchFamily="34" charset="0"/>
                <a:ea typeface="Calibri" pitchFamily="34" charset="-122"/>
                <a:cs typeface="Calibri" pitchFamily="34" charset="-120"/>
              </a:rPr>
              <a:t>Cold-chain damage is discovered too late to act</a:t>
            </a:r>
            <a:endParaRPr lang="en-US" sz="1700" dirty="0"/>
          </a:p>
        </p:txBody>
      </p:sp>
      <p:sp>
        <p:nvSpPr>
          <p:cNvPr id="14" name="Text 10"/>
          <p:cNvSpPr txBox="1"/>
          <p:nvPr/>
        </p:nvSpPr>
        <p:spPr>
          <a:xfrm>
            <a:off x="4937760" y="2148840"/>
            <a:ext cx="3520440" cy="960120"/>
          </a:xfrm>
          <a:prstGeom prst="rect">
            <a:avLst/>
          </a:prstGeom>
          <a:noFill/>
          <a:ln/>
        </p:spPr>
        <p:txBody>
          <a:bodyPr wrap="square" lIns="0" tIns="0" rIns="0" bIns="0" rtlCol="0" anchor="t"/>
          <a:lstStyle/>
          <a:p>
            <a:pPr marL="0" indent="0">
              <a:buNone/>
            </a:pPr>
            <a:r>
              <a:rPr lang="en-US" sz="1250" dirty="0">
                <a:solidFill>
                  <a:srgbClr val="CBD5E1"/>
                </a:solidFill>
                <a:latin typeface="Calibri" pitchFamily="34" charset="0"/>
                <a:ea typeface="Calibri" pitchFamily="34" charset="-122"/>
                <a:cs typeface="Calibri" pitchFamily="34" charset="-120"/>
              </a:rPr>
              <a:t>Sensors log thousands of readings a day. Nobody reads them live, so a temperature excursion surfaces at delivery — after the cargo is already lost and the only question left is who pays.</a:t>
            </a:r>
            <a:endParaRPr lang="en-US" sz="1250" dirty="0"/>
          </a:p>
        </p:txBody>
      </p:sp>
      <p:sp>
        <p:nvSpPr>
          <p:cNvPr id="15" name="Text 11"/>
          <p:cNvSpPr txBox="1"/>
          <p:nvPr/>
        </p:nvSpPr>
        <p:spPr>
          <a:xfrm>
            <a:off x="457200" y="3474720"/>
            <a:ext cx="2560320" cy="640080"/>
          </a:xfrm>
          <a:prstGeom prst="rect">
            <a:avLst/>
          </a:prstGeom>
          <a:noFill/>
          <a:ln/>
        </p:spPr>
        <p:txBody>
          <a:bodyPr wrap="square" lIns="0" tIns="0" rIns="0" bIns="0" rtlCol="0" anchor="t"/>
          <a:lstStyle/>
          <a:p>
            <a:pPr marL="0" indent="0">
              <a:buNone/>
            </a:pPr>
            <a:r>
              <a:rPr lang="en-US" sz="3400" b="1" dirty="0">
                <a:solidFill>
                  <a:srgbClr val="F43F5E"/>
                </a:solidFill>
                <a:latin typeface="Arial" pitchFamily="34" charset="0"/>
                <a:ea typeface="Arial" pitchFamily="34" charset="-122"/>
                <a:cs typeface="Arial" pitchFamily="34" charset="-120"/>
              </a:rPr>
              <a:t>$500K+</a:t>
            </a:r>
            <a:endParaRPr lang="en-US" sz="3400" dirty="0"/>
          </a:p>
        </p:txBody>
      </p:sp>
      <p:sp>
        <p:nvSpPr>
          <p:cNvPr id="16" name="Text 12"/>
          <p:cNvSpPr txBox="1"/>
          <p:nvPr/>
        </p:nvSpPr>
        <p:spPr>
          <a:xfrm>
            <a:off x="457200" y="4114800"/>
            <a:ext cx="2377440" cy="457200"/>
          </a:xfrm>
          <a:prstGeom prst="rect">
            <a:avLst/>
          </a:prstGeom>
          <a:noFill/>
          <a:ln/>
        </p:spPr>
        <p:txBody>
          <a:bodyPr wrap="square" lIns="0" tIns="0" rIns="0" bIns="0" rtlCol="0" anchor="t"/>
          <a:lstStyle/>
          <a:p>
            <a:pPr marL="0" indent="0">
              <a:buNone/>
            </a:pPr>
            <a:r>
              <a:rPr lang="en-US" sz="1150" dirty="0">
                <a:solidFill>
                  <a:srgbClr val="94A3B8"/>
                </a:solidFill>
                <a:latin typeface="Calibri" pitchFamily="34" charset="0"/>
                <a:ea typeface="Calibri" pitchFamily="34" charset="-122"/>
                <a:cs typeface="Calibri" pitchFamily="34" charset="-120"/>
              </a:rPr>
              <a:t>a single spoiled vaccine consignment</a:t>
            </a:r>
            <a:endParaRPr lang="en-US" sz="1150" dirty="0"/>
          </a:p>
        </p:txBody>
      </p:sp>
      <p:sp>
        <p:nvSpPr>
          <p:cNvPr id="17" name="Text 13"/>
          <p:cNvSpPr txBox="1"/>
          <p:nvPr/>
        </p:nvSpPr>
        <p:spPr>
          <a:xfrm>
            <a:off x="3273552" y="3474720"/>
            <a:ext cx="2560320" cy="640080"/>
          </a:xfrm>
          <a:prstGeom prst="rect">
            <a:avLst/>
          </a:prstGeom>
          <a:noFill/>
          <a:ln/>
        </p:spPr>
        <p:txBody>
          <a:bodyPr wrap="square" lIns="0" tIns="0" rIns="0" bIns="0" rtlCol="0" anchor="t"/>
          <a:lstStyle/>
          <a:p>
            <a:pPr marL="0" indent="0">
              <a:buNone/>
            </a:pPr>
            <a:r>
              <a:rPr lang="en-US" sz="3400" b="1" dirty="0">
                <a:solidFill>
                  <a:srgbClr val="F59E0B"/>
                </a:solidFill>
                <a:latin typeface="Arial" pitchFamily="34" charset="0"/>
                <a:ea typeface="Arial" pitchFamily="34" charset="-122"/>
                <a:cs typeface="Arial" pitchFamily="34" charset="-120"/>
              </a:rPr>
              <a:t>$10B+</a:t>
            </a:r>
            <a:endParaRPr lang="en-US" sz="3400" dirty="0"/>
          </a:p>
        </p:txBody>
      </p:sp>
      <p:sp>
        <p:nvSpPr>
          <p:cNvPr id="18" name="Text 14"/>
          <p:cNvSpPr txBox="1"/>
          <p:nvPr/>
        </p:nvSpPr>
        <p:spPr>
          <a:xfrm>
            <a:off x="3273552" y="4114800"/>
            <a:ext cx="2377440" cy="457200"/>
          </a:xfrm>
          <a:prstGeom prst="rect">
            <a:avLst/>
          </a:prstGeom>
          <a:noFill/>
          <a:ln/>
        </p:spPr>
        <p:txBody>
          <a:bodyPr wrap="square" lIns="0" tIns="0" rIns="0" bIns="0" rtlCol="0" anchor="t"/>
          <a:lstStyle/>
          <a:p>
            <a:pPr marL="0" indent="0">
              <a:buNone/>
            </a:pPr>
            <a:r>
              <a:rPr lang="en-US" sz="1150" dirty="0">
                <a:solidFill>
                  <a:srgbClr val="94A3B8"/>
                </a:solidFill>
                <a:latin typeface="Calibri" pitchFamily="34" charset="0"/>
                <a:ea typeface="Calibri" pitchFamily="34" charset="-122"/>
                <a:cs typeface="Calibri" pitchFamily="34" charset="-120"/>
              </a:rPr>
              <a:t>cost of one major port event (LA/Long Beach, 2021)</a:t>
            </a:r>
            <a:endParaRPr lang="en-US" sz="1150" dirty="0"/>
          </a:p>
        </p:txBody>
      </p:sp>
      <p:sp>
        <p:nvSpPr>
          <p:cNvPr id="19" name="Text 15"/>
          <p:cNvSpPr txBox="1"/>
          <p:nvPr/>
        </p:nvSpPr>
        <p:spPr>
          <a:xfrm>
            <a:off x="6089904" y="3474720"/>
            <a:ext cx="2560320" cy="640080"/>
          </a:xfrm>
          <a:prstGeom prst="rect">
            <a:avLst/>
          </a:prstGeom>
          <a:noFill/>
          <a:ln/>
        </p:spPr>
        <p:txBody>
          <a:bodyPr wrap="square" lIns="0" tIns="0" rIns="0" bIns="0" rtlCol="0" anchor="t"/>
          <a:lstStyle/>
          <a:p>
            <a:pPr marL="0" indent="0">
              <a:buNone/>
            </a:pPr>
            <a:r>
              <a:rPr lang="en-US" sz="3400" b="1" dirty="0">
                <a:solidFill>
                  <a:srgbClr val="EAB308"/>
                </a:solidFill>
                <a:latin typeface="Arial" pitchFamily="34" charset="0"/>
                <a:ea typeface="Arial" pitchFamily="34" charset="-122"/>
                <a:cs typeface="Arial" pitchFamily="34" charset="-120"/>
              </a:rPr>
              <a:t>4–8 hrs</a:t>
            </a:r>
            <a:endParaRPr lang="en-US" sz="3400" dirty="0"/>
          </a:p>
        </p:txBody>
      </p:sp>
      <p:sp>
        <p:nvSpPr>
          <p:cNvPr id="20" name="Text 16"/>
          <p:cNvSpPr txBox="1"/>
          <p:nvPr/>
        </p:nvSpPr>
        <p:spPr>
          <a:xfrm>
            <a:off x="6089904" y="4114800"/>
            <a:ext cx="2377440" cy="457200"/>
          </a:xfrm>
          <a:prstGeom prst="rect">
            <a:avLst/>
          </a:prstGeom>
          <a:noFill/>
          <a:ln/>
        </p:spPr>
        <p:txBody>
          <a:bodyPr wrap="square" lIns="0" tIns="0" rIns="0" bIns="0" rtlCol="0" anchor="t"/>
          <a:lstStyle/>
          <a:p>
            <a:pPr marL="0" indent="0">
              <a:buNone/>
            </a:pPr>
            <a:r>
              <a:rPr lang="en-US" sz="1150" dirty="0">
                <a:solidFill>
                  <a:srgbClr val="94A3B8"/>
                </a:solidFill>
                <a:latin typeface="Calibri" pitchFamily="34" charset="0"/>
                <a:ea typeface="Calibri" pitchFamily="34" charset="-122"/>
                <a:cs typeface="Calibri" pitchFamily="34" charset="-120"/>
              </a:rPr>
              <a:t>to assemble one GDP deviation report by hand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2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t"/>
          <a:lstStyle/>
          <a:p>
            <a:pPr marL="0" indent="0">
              <a:buNone/>
            </a:pPr>
            <a:r>
              <a:rPr lang="en-US" sz="1100" b="1" kern="0" spc="200" dirty="0">
                <a:solidFill>
                  <a:srgbClr val="22D3EE"/>
                </a:solidFill>
                <a:latin typeface="Calibri" pitchFamily="34" charset="0"/>
                <a:ea typeface="Calibri" pitchFamily="34" charset="-122"/>
                <a:cs typeface="Calibri" pitchFamily="34" charset="-120"/>
              </a:rPr>
              <a:t>03  ·  THE SOLUTION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t"/>
          <a:lstStyle/>
          <a:p>
            <a:pPr marL="0" indent="0">
              <a:buNone/>
            </a:pPr>
            <a:r>
              <a:rPr lang="en-US" sz="2200" b="1" dirty="0">
                <a:solidFill>
                  <a:srgbClr val="F1F5F9"/>
                </a:solidFill>
                <a:latin typeface="Arial" pitchFamily="34" charset="0"/>
                <a:ea typeface="Arial" pitchFamily="34" charset="-122"/>
                <a:cs typeface="Arial" pitchFamily="34" charset="-120"/>
              </a:rPr>
              <a:t>Every shipment has two deadlines. We compute both.</a:t>
            </a:r>
            <a:endParaRPr lang="en-US" sz="2200" dirty="0"/>
          </a:p>
        </p:txBody>
      </p:sp>
      <p:sp>
        <p:nvSpPr>
          <p:cNvPr id="4" name="Text 2"/>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3 / 4</a:t>
            </a:r>
            <a:endParaRPr lang="en-US" sz="900" dirty="0"/>
          </a:p>
        </p:txBody>
      </p:sp>
      <p:sp>
        <p:nvSpPr>
          <p:cNvPr id="5" name="Text 3"/>
          <p:cNvSpPr txBox="1"/>
          <p:nvPr/>
        </p:nvSpPr>
        <p:spPr>
          <a:xfrm>
            <a:off x="457200" y="1097280"/>
            <a:ext cx="8229600" cy="320040"/>
          </a:xfrm>
          <a:prstGeom prst="rect">
            <a:avLst/>
          </a:prstGeom>
          <a:noFill/>
          <a:ln/>
        </p:spPr>
        <p:txBody>
          <a:bodyPr wrap="square" lIns="0" tIns="0" rIns="0" bIns="0" rtlCol="0" anchor="t"/>
          <a:lstStyle/>
          <a:p>
            <a:pPr marL="0" indent="0">
              <a:buNone/>
            </a:pPr>
            <a:r>
              <a:rPr lang="en-US" sz="1500" i="1" dirty="0">
                <a:solidFill>
                  <a:srgbClr val="22D3EE"/>
                </a:solidFill>
                <a:latin typeface="Calibri" pitchFamily="34" charset="0"/>
                <a:ea typeface="Calibri" pitchFamily="34" charset="-122"/>
                <a:cs typeface="Calibri" pitchFamily="34" charset="-120"/>
              </a:rPr>
              <a:t>Schedule clock  ·  Stability clock  →  whichever is smaller decides</a:t>
            </a:r>
            <a:endParaRPr lang="en-US" sz="1500" dirty="0"/>
          </a:p>
        </p:txBody>
      </p:sp>
      <p:sp>
        <p:nvSpPr>
          <p:cNvPr id="6" name="Shape 4"/>
          <p:cNvSpPr/>
          <p:nvPr/>
        </p:nvSpPr>
        <p:spPr>
          <a:xfrm>
            <a:off x="457200" y="1645920"/>
            <a:ext cx="1426464" cy="2697480"/>
          </a:xfrm>
          <a:prstGeom prst="roundRect">
            <a:avLst>
              <a:gd name="adj" fmla="val 5128"/>
            </a:avLst>
          </a:prstGeom>
          <a:solidFill>
            <a:srgbClr val="14213D"/>
          </a:solidFill>
          <a:ln w="12700">
            <a:solidFill>
              <a:srgbClr val="14213D"/>
            </a:solidFill>
            <a:prstDash val="solid"/>
          </a:ln>
        </p:spPr>
        <p:txBody>
          <a:bodyPr/>
          <a:lstStyle/>
          <a:p>
            <a:endParaRPr lang="en-IN"/>
          </a:p>
        </p:txBody>
      </p:sp>
      <p:sp>
        <p:nvSpPr>
          <p:cNvPr id="7" name="Shape 5"/>
          <p:cNvSpPr/>
          <p:nvPr/>
        </p:nvSpPr>
        <p:spPr>
          <a:xfrm>
            <a:off x="896112" y="1874520"/>
            <a:ext cx="548640" cy="548640"/>
          </a:xfrm>
          <a:prstGeom prst="ellipse">
            <a:avLst/>
          </a:prstGeom>
          <a:solidFill>
            <a:srgbClr val="0E3A4A"/>
          </a:solidFill>
          <a:ln w="12700">
            <a:solidFill>
              <a:srgbClr val="0E3A4A"/>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1033272" y="2011680"/>
            <a:ext cx="274320" cy="274320"/>
          </a:xfrm>
          <a:prstGeom prst="rect">
            <a:avLst/>
          </a:prstGeom>
        </p:spPr>
      </p:pic>
      <p:sp>
        <p:nvSpPr>
          <p:cNvPr id="9" name="Text 6"/>
          <p:cNvSpPr txBox="1"/>
          <p:nvPr/>
        </p:nvSpPr>
        <p:spPr>
          <a:xfrm>
            <a:off x="566928" y="2560320"/>
            <a:ext cx="1207008" cy="32004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1. Two clocks</a:t>
            </a:r>
            <a:endParaRPr lang="en-US" sz="1400" dirty="0"/>
          </a:p>
        </p:txBody>
      </p:sp>
      <p:sp>
        <p:nvSpPr>
          <p:cNvPr id="10" name="Text 7"/>
          <p:cNvSpPr txBox="1"/>
          <p:nvPr/>
        </p:nvSpPr>
        <p:spPr>
          <a:xfrm>
            <a:off x="585216" y="2944368"/>
            <a:ext cx="1170432" cy="1280160"/>
          </a:xfrm>
          <a:prstGeom prst="rect">
            <a:avLst/>
          </a:prstGeom>
          <a:noFill/>
          <a:ln/>
        </p:spPr>
        <p:txBody>
          <a:bodyPr wrap="square" lIns="0" tIns="0" rIns="0" bIns="0" rtlCol="0" anchor="t"/>
          <a:lstStyle/>
          <a:p>
            <a:pPr marL="0" indent="0" algn="ctr">
              <a:buNone/>
            </a:pPr>
            <a:r>
              <a:rPr lang="en-US" sz="1150" dirty="0">
                <a:solidFill>
                  <a:srgbClr val="CBD5E1"/>
                </a:solidFill>
                <a:latin typeface="Calibri" pitchFamily="34" charset="0"/>
                <a:ea typeface="Calibri" pitchFamily="34" charset="-122"/>
                <a:cs typeface="Calibri" pitchFamily="34" charset="-120"/>
              </a:rPr>
              <a:t>Hours until late, and hours until the cargo is unusable</a:t>
            </a:r>
            <a:endParaRPr lang="en-US" sz="1150" dirty="0"/>
          </a:p>
        </p:txBody>
      </p:sp>
      <p:sp>
        <p:nvSpPr>
          <p:cNvPr id="11" name="Shape 8"/>
          <p:cNvSpPr/>
          <p:nvPr/>
        </p:nvSpPr>
        <p:spPr>
          <a:xfrm>
            <a:off x="1929384" y="2148840"/>
            <a:ext cx="182880" cy="0"/>
          </a:xfrm>
          <a:prstGeom prst="line">
            <a:avLst/>
          </a:prstGeom>
          <a:noFill/>
          <a:ln w="15875">
            <a:solidFill>
              <a:srgbClr val="22D3EE"/>
            </a:solidFill>
            <a:prstDash val="solid"/>
            <a:tailEnd type="triangle"/>
          </a:ln>
        </p:spPr>
        <p:txBody>
          <a:bodyPr/>
          <a:lstStyle/>
          <a:p>
            <a:endParaRPr lang="en-IN"/>
          </a:p>
        </p:txBody>
      </p:sp>
      <p:sp>
        <p:nvSpPr>
          <p:cNvPr id="12" name="Shape 9"/>
          <p:cNvSpPr/>
          <p:nvPr/>
        </p:nvSpPr>
        <p:spPr>
          <a:xfrm>
            <a:off x="2157984" y="1645920"/>
            <a:ext cx="1426464" cy="2697480"/>
          </a:xfrm>
          <a:prstGeom prst="roundRect">
            <a:avLst>
              <a:gd name="adj" fmla="val 5128"/>
            </a:avLst>
          </a:prstGeom>
          <a:solidFill>
            <a:srgbClr val="14213D"/>
          </a:solidFill>
          <a:ln w="12700">
            <a:solidFill>
              <a:srgbClr val="14213D"/>
            </a:solidFill>
            <a:prstDash val="solid"/>
          </a:ln>
        </p:spPr>
        <p:txBody>
          <a:bodyPr/>
          <a:lstStyle/>
          <a:p>
            <a:endParaRPr lang="en-IN"/>
          </a:p>
        </p:txBody>
      </p:sp>
      <p:sp>
        <p:nvSpPr>
          <p:cNvPr id="13" name="Shape 10"/>
          <p:cNvSpPr/>
          <p:nvPr/>
        </p:nvSpPr>
        <p:spPr>
          <a:xfrm>
            <a:off x="2596896" y="1874520"/>
            <a:ext cx="548640" cy="548640"/>
          </a:xfrm>
          <a:prstGeom prst="ellipse">
            <a:avLst/>
          </a:prstGeom>
          <a:solidFill>
            <a:srgbClr val="0E3A4A"/>
          </a:solidFill>
          <a:ln w="12700">
            <a:solidFill>
              <a:srgbClr val="0E3A4A"/>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2734056" y="2011680"/>
            <a:ext cx="274320" cy="274320"/>
          </a:xfrm>
          <a:prstGeom prst="rect">
            <a:avLst/>
          </a:prstGeom>
        </p:spPr>
      </p:pic>
      <p:sp>
        <p:nvSpPr>
          <p:cNvPr id="15" name="Text 11"/>
          <p:cNvSpPr txBox="1"/>
          <p:nvPr/>
        </p:nvSpPr>
        <p:spPr>
          <a:xfrm>
            <a:off x="2267712" y="2560320"/>
            <a:ext cx="1207008" cy="32004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2. Predict</a:t>
            </a:r>
            <a:endParaRPr lang="en-US" sz="1400" dirty="0"/>
          </a:p>
        </p:txBody>
      </p:sp>
      <p:sp>
        <p:nvSpPr>
          <p:cNvPr id="16" name="Text 12"/>
          <p:cNvSpPr txBox="1"/>
          <p:nvPr/>
        </p:nvSpPr>
        <p:spPr>
          <a:xfrm>
            <a:off x="2286000" y="2944368"/>
            <a:ext cx="1170432" cy="1280160"/>
          </a:xfrm>
          <a:prstGeom prst="rect">
            <a:avLst/>
          </a:prstGeom>
          <a:noFill/>
          <a:ln/>
        </p:spPr>
        <p:txBody>
          <a:bodyPr wrap="square" lIns="0" tIns="0" rIns="0" bIns="0" rtlCol="0" anchor="t"/>
          <a:lstStyle/>
          <a:p>
            <a:pPr marL="0" indent="0" algn="ctr">
              <a:buNone/>
            </a:pPr>
            <a:r>
              <a:rPr lang="en-US" sz="1150" dirty="0">
                <a:solidFill>
                  <a:srgbClr val="CBD5E1"/>
                </a:solidFill>
                <a:latin typeface="Calibri" pitchFamily="34" charset="0"/>
                <a:ea typeface="Calibri" pitchFamily="34" charset="-122"/>
                <a:cs typeface="Calibri" pitchFamily="34" charset="-120"/>
              </a:rPr>
              <a:t>Warns of a breach while the cargo is still in range</a:t>
            </a:r>
            <a:endParaRPr lang="en-US" sz="1150" dirty="0"/>
          </a:p>
        </p:txBody>
      </p:sp>
      <p:sp>
        <p:nvSpPr>
          <p:cNvPr id="17" name="Shape 13"/>
          <p:cNvSpPr/>
          <p:nvPr/>
        </p:nvSpPr>
        <p:spPr>
          <a:xfrm>
            <a:off x="3630168" y="2148840"/>
            <a:ext cx="182880" cy="0"/>
          </a:xfrm>
          <a:prstGeom prst="line">
            <a:avLst/>
          </a:prstGeom>
          <a:noFill/>
          <a:ln w="15875">
            <a:solidFill>
              <a:srgbClr val="22D3EE"/>
            </a:solidFill>
            <a:prstDash val="solid"/>
            <a:tailEnd type="triangle"/>
          </a:ln>
        </p:spPr>
        <p:txBody>
          <a:bodyPr/>
          <a:lstStyle/>
          <a:p>
            <a:endParaRPr lang="en-IN"/>
          </a:p>
        </p:txBody>
      </p:sp>
      <p:sp>
        <p:nvSpPr>
          <p:cNvPr id="18" name="Shape 14"/>
          <p:cNvSpPr/>
          <p:nvPr/>
        </p:nvSpPr>
        <p:spPr>
          <a:xfrm>
            <a:off x="3858768" y="1645920"/>
            <a:ext cx="1426464" cy="2697480"/>
          </a:xfrm>
          <a:prstGeom prst="roundRect">
            <a:avLst>
              <a:gd name="adj" fmla="val 5128"/>
            </a:avLst>
          </a:prstGeom>
          <a:solidFill>
            <a:srgbClr val="14213D"/>
          </a:solidFill>
          <a:ln w="12700">
            <a:solidFill>
              <a:srgbClr val="14213D"/>
            </a:solidFill>
            <a:prstDash val="solid"/>
          </a:ln>
        </p:spPr>
        <p:txBody>
          <a:bodyPr/>
          <a:lstStyle/>
          <a:p>
            <a:endParaRPr lang="en-IN"/>
          </a:p>
        </p:txBody>
      </p:sp>
      <p:sp>
        <p:nvSpPr>
          <p:cNvPr id="19" name="Shape 15"/>
          <p:cNvSpPr/>
          <p:nvPr/>
        </p:nvSpPr>
        <p:spPr>
          <a:xfrm>
            <a:off x="4297680" y="1874520"/>
            <a:ext cx="548640" cy="548640"/>
          </a:xfrm>
          <a:prstGeom prst="ellipse">
            <a:avLst/>
          </a:prstGeom>
          <a:solidFill>
            <a:srgbClr val="0E3A4A"/>
          </a:solidFill>
          <a:ln w="12700">
            <a:solidFill>
              <a:srgbClr val="0E3A4A"/>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4434840" y="2011680"/>
            <a:ext cx="274320" cy="274320"/>
          </a:xfrm>
          <a:prstGeom prst="rect">
            <a:avLst/>
          </a:prstGeom>
        </p:spPr>
      </p:pic>
      <p:sp>
        <p:nvSpPr>
          <p:cNvPr id="21" name="Text 16"/>
          <p:cNvSpPr txBox="1"/>
          <p:nvPr/>
        </p:nvSpPr>
        <p:spPr>
          <a:xfrm>
            <a:off x="3968496" y="2560320"/>
            <a:ext cx="1207008" cy="32004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3. Grade</a:t>
            </a:r>
            <a:endParaRPr lang="en-US" sz="1400" dirty="0"/>
          </a:p>
        </p:txBody>
      </p:sp>
      <p:sp>
        <p:nvSpPr>
          <p:cNvPr id="22" name="Text 17"/>
          <p:cNvSpPr txBox="1"/>
          <p:nvPr/>
        </p:nvSpPr>
        <p:spPr>
          <a:xfrm>
            <a:off x="3986784" y="2944368"/>
            <a:ext cx="1170432" cy="1280160"/>
          </a:xfrm>
          <a:prstGeom prst="rect">
            <a:avLst/>
          </a:prstGeom>
          <a:noFill/>
          <a:ln/>
        </p:spPr>
        <p:txBody>
          <a:bodyPr wrap="square" lIns="0" tIns="0" rIns="0" bIns="0" rtlCol="0" anchor="t"/>
          <a:lstStyle/>
          <a:p>
            <a:pPr marL="0" indent="0" algn="ctr">
              <a:buNone/>
            </a:pPr>
            <a:r>
              <a:rPr lang="en-US" sz="1150" dirty="0">
                <a:solidFill>
                  <a:srgbClr val="CBD5E1"/>
                </a:solidFill>
                <a:latin typeface="Calibri" pitchFamily="34" charset="0"/>
                <a:ea typeface="Calibri" pitchFamily="34" charset="-122"/>
                <a:cs typeface="Calibri" pitchFamily="34" charset="-120"/>
              </a:rPr>
              <a:t>Severity by rule matrix, MKT and versioned profiles</a:t>
            </a:r>
            <a:endParaRPr lang="en-US" sz="1150" dirty="0"/>
          </a:p>
        </p:txBody>
      </p:sp>
      <p:sp>
        <p:nvSpPr>
          <p:cNvPr id="23" name="Shape 18"/>
          <p:cNvSpPr/>
          <p:nvPr/>
        </p:nvSpPr>
        <p:spPr>
          <a:xfrm>
            <a:off x="5330952" y="2148840"/>
            <a:ext cx="182880" cy="0"/>
          </a:xfrm>
          <a:prstGeom prst="line">
            <a:avLst/>
          </a:prstGeom>
          <a:noFill/>
          <a:ln w="15875">
            <a:solidFill>
              <a:srgbClr val="22D3EE"/>
            </a:solidFill>
            <a:prstDash val="solid"/>
            <a:tailEnd type="triangle"/>
          </a:ln>
        </p:spPr>
        <p:txBody>
          <a:bodyPr/>
          <a:lstStyle/>
          <a:p>
            <a:endParaRPr lang="en-IN"/>
          </a:p>
        </p:txBody>
      </p:sp>
      <p:sp>
        <p:nvSpPr>
          <p:cNvPr id="24" name="Shape 19"/>
          <p:cNvSpPr/>
          <p:nvPr/>
        </p:nvSpPr>
        <p:spPr>
          <a:xfrm>
            <a:off x="5559552" y="1645920"/>
            <a:ext cx="1426464" cy="2697480"/>
          </a:xfrm>
          <a:prstGeom prst="roundRect">
            <a:avLst>
              <a:gd name="adj" fmla="val 5128"/>
            </a:avLst>
          </a:prstGeom>
          <a:solidFill>
            <a:srgbClr val="14213D"/>
          </a:solidFill>
          <a:ln w="12700">
            <a:solidFill>
              <a:srgbClr val="14213D"/>
            </a:solidFill>
            <a:prstDash val="solid"/>
          </a:ln>
        </p:spPr>
        <p:txBody>
          <a:bodyPr/>
          <a:lstStyle/>
          <a:p>
            <a:endParaRPr lang="en-IN"/>
          </a:p>
        </p:txBody>
      </p:sp>
      <p:sp>
        <p:nvSpPr>
          <p:cNvPr id="25" name="Shape 20"/>
          <p:cNvSpPr/>
          <p:nvPr/>
        </p:nvSpPr>
        <p:spPr>
          <a:xfrm>
            <a:off x="5998464" y="1874520"/>
            <a:ext cx="548640" cy="548640"/>
          </a:xfrm>
          <a:prstGeom prst="ellipse">
            <a:avLst/>
          </a:prstGeom>
          <a:solidFill>
            <a:srgbClr val="0E3A4A"/>
          </a:solidFill>
          <a:ln w="12700">
            <a:solidFill>
              <a:srgbClr val="0E3A4A"/>
            </a:solidFill>
            <a:prstDash val="solid"/>
          </a:ln>
        </p:spPr>
        <p:txBody>
          <a:bodyPr/>
          <a:lstStyle/>
          <a:p>
            <a:endParaRPr lang="en-IN"/>
          </a:p>
        </p:txBody>
      </p:sp>
      <p:pic>
        <p:nvPicPr>
          <p:cNvPr id="26" name="Image 3" descr="preencoded.png"/>
          <p:cNvPicPr>
            <a:picLocks noChangeAspect="1"/>
          </p:cNvPicPr>
          <p:nvPr/>
        </p:nvPicPr>
        <p:blipFill>
          <a:blip r:embed="rId6"/>
          <a:stretch>
            <a:fillRect/>
          </a:stretch>
        </p:blipFill>
        <p:spPr>
          <a:xfrm>
            <a:off x="6135624" y="2011680"/>
            <a:ext cx="274320" cy="274320"/>
          </a:xfrm>
          <a:prstGeom prst="rect">
            <a:avLst/>
          </a:prstGeom>
        </p:spPr>
      </p:pic>
      <p:sp>
        <p:nvSpPr>
          <p:cNvPr id="27" name="Text 21"/>
          <p:cNvSpPr txBox="1"/>
          <p:nvPr/>
        </p:nvSpPr>
        <p:spPr>
          <a:xfrm>
            <a:off x="5669280" y="2560320"/>
            <a:ext cx="1207008" cy="32004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4. Decide</a:t>
            </a:r>
            <a:endParaRPr lang="en-US" sz="1400" dirty="0"/>
          </a:p>
        </p:txBody>
      </p:sp>
      <p:sp>
        <p:nvSpPr>
          <p:cNvPr id="28" name="Text 22"/>
          <p:cNvSpPr txBox="1"/>
          <p:nvPr/>
        </p:nvSpPr>
        <p:spPr>
          <a:xfrm>
            <a:off x="5687568" y="2944368"/>
            <a:ext cx="1170432" cy="1280160"/>
          </a:xfrm>
          <a:prstGeom prst="rect">
            <a:avLst/>
          </a:prstGeom>
          <a:noFill/>
          <a:ln/>
        </p:spPr>
        <p:txBody>
          <a:bodyPr wrap="square" lIns="0" tIns="0" rIns="0" bIns="0" rtlCol="0" anchor="t"/>
          <a:lstStyle/>
          <a:p>
            <a:pPr marL="0" indent="0" algn="ctr">
              <a:buNone/>
            </a:pPr>
            <a:r>
              <a:rPr lang="en-US" sz="1150" dirty="0">
                <a:solidFill>
                  <a:srgbClr val="CBD5E1"/>
                </a:solidFill>
                <a:latin typeface="Calibri" pitchFamily="34" charset="0"/>
                <a:ea typeface="Calibri" pitchFamily="34" charset="-122"/>
                <a:cs typeface="Calibri" pitchFamily="34" charset="-120"/>
              </a:rPr>
              <a:t>Routes that outlast the cargo are rejected, with the shortfall</a:t>
            </a:r>
            <a:endParaRPr lang="en-US" sz="1150" dirty="0"/>
          </a:p>
        </p:txBody>
      </p:sp>
      <p:sp>
        <p:nvSpPr>
          <p:cNvPr id="29" name="Shape 23"/>
          <p:cNvSpPr/>
          <p:nvPr/>
        </p:nvSpPr>
        <p:spPr>
          <a:xfrm>
            <a:off x="7031736" y="2148840"/>
            <a:ext cx="182880" cy="0"/>
          </a:xfrm>
          <a:prstGeom prst="line">
            <a:avLst/>
          </a:prstGeom>
          <a:noFill/>
          <a:ln w="15875">
            <a:solidFill>
              <a:srgbClr val="22D3EE"/>
            </a:solidFill>
            <a:prstDash val="solid"/>
            <a:tailEnd type="triangle"/>
          </a:ln>
        </p:spPr>
        <p:txBody>
          <a:bodyPr/>
          <a:lstStyle/>
          <a:p>
            <a:endParaRPr lang="en-IN"/>
          </a:p>
        </p:txBody>
      </p:sp>
      <p:sp>
        <p:nvSpPr>
          <p:cNvPr id="30" name="Shape 24"/>
          <p:cNvSpPr/>
          <p:nvPr/>
        </p:nvSpPr>
        <p:spPr>
          <a:xfrm>
            <a:off x="7260336" y="1645920"/>
            <a:ext cx="1426464" cy="2697480"/>
          </a:xfrm>
          <a:prstGeom prst="roundRect">
            <a:avLst>
              <a:gd name="adj" fmla="val 5128"/>
            </a:avLst>
          </a:prstGeom>
          <a:solidFill>
            <a:srgbClr val="14213D"/>
          </a:solidFill>
          <a:ln w="12700">
            <a:solidFill>
              <a:srgbClr val="14213D"/>
            </a:solidFill>
            <a:prstDash val="solid"/>
          </a:ln>
        </p:spPr>
        <p:txBody>
          <a:bodyPr/>
          <a:lstStyle/>
          <a:p>
            <a:endParaRPr lang="en-IN"/>
          </a:p>
        </p:txBody>
      </p:sp>
      <p:sp>
        <p:nvSpPr>
          <p:cNvPr id="31" name="Shape 25"/>
          <p:cNvSpPr/>
          <p:nvPr/>
        </p:nvSpPr>
        <p:spPr>
          <a:xfrm>
            <a:off x="7699248" y="1874520"/>
            <a:ext cx="548640" cy="548640"/>
          </a:xfrm>
          <a:prstGeom prst="ellipse">
            <a:avLst/>
          </a:prstGeom>
          <a:solidFill>
            <a:srgbClr val="2A2560"/>
          </a:solidFill>
          <a:ln w="12700">
            <a:solidFill>
              <a:srgbClr val="2A2560"/>
            </a:solidFill>
            <a:prstDash val="solid"/>
          </a:ln>
        </p:spPr>
        <p:txBody>
          <a:bodyPr/>
          <a:lstStyle/>
          <a:p>
            <a:endParaRPr lang="en-IN"/>
          </a:p>
        </p:txBody>
      </p:sp>
      <p:pic>
        <p:nvPicPr>
          <p:cNvPr id="32" name="Image 4" descr="preencoded.png"/>
          <p:cNvPicPr>
            <a:picLocks noChangeAspect="1"/>
          </p:cNvPicPr>
          <p:nvPr/>
        </p:nvPicPr>
        <p:blipFill>
          <a:blip r:embed="rId7"/>
          <a:stretch>
            <a:fillRect/>
          </a:stretch>
        </p:blipFill>
        <p:spPr>
          <a:xfrm>
            <a:off x="7836408" y="2011680"/>
            <a:ext cx="274320" cy="274320"/>
          </a:xfrm>
          <a:prstGeom prst="rect">
            <a:avLst/>
          </a:prstGeom>
        </p:spPr>
      </p:pic>
      <p:sp>
        <p:nvSpPr>
          <p:cNvPr id="33" name="Text 26"/>
          <p:cNvSpPr txBox="1"/>
          <p:nvPr/>
        </p:nvSpPr>
        <p:spPr>
          <a:xfrm>
            <a:off x="7370064" y="2560320"/>
            <a:ext cx="1207008" cy="320040"/>
          </a:xfrm>
          <a:prstGeom prst="rect">
            <a:avLst/>
          </a:prstGeom>
          <a:noFill/>
          <a:ln/>
        </p:spPr>
        <p:txBody>
          <a:bodyPr wrap="square" lIns="0" tIns="0" rIns="0" bIns="0" rtlCol="0" anchor="t"/>
          <a:lstStyle/>
          <a:p>
            <a:pPr marL="0" indent="0" algn="ctr">
              <a:buNone/>
            </a:pPr>
            <a:r>
              <a:rPr lang="en-US" sz="1400" b="1" dirty="0">
                <a:solidFill>
                  <a:srgbClr val="F1F5F9"/>
                </a:solidFill>
                <a:latin typeface="Calibri" pitchFamily="34" charset="0"/>
                <a:ea typeface="Calibri" pitchFamily="34" charset="-122"/>
                <a:cs typeface="Calibri" pitchFamily="34" charset="-120"/>
              </a:rPr>
              <a:t>5. Commit</a:t>
            </a:r>
            <a:endParaRPr lang="en-US" sz="1400" dirty="0"/>
          </a:p>
        </p:txBody>
      </p:sp>
      <p:sp>
        <p:nvSpPr>
          <p:cNvPr id="34" name="Text 27"/>
          <p:cNvSpPr txBox="1"/>
          <p:nvPr/>
        </p:nvSpPr>
        <p:spPr>
          <a:xfrm>
            <a:off x="7388352" y="2944368"/>
            <a:ext cx="1170432" cy="1280160"/>
          </a:xfrm>
          <a:prstGeom prst="rect">
            <a:avLst/>
          </a:prstGeom>
          <a:noFill/>
          <a:ln/>
        </p:spPr>
        <p:txBody>
          <a:bodyPr wrap="square" lIns="0" tIns="0" rIns="0" bIns="0" rtlCol="0" anchor="t"/>
          <a:lstStyle/>
          <a:p>
            <a:pPr marL="0" indent="0" algn="ctr">
              <a:buNone/>
            </a:pPr>
            <a:r>
              <a:rPr lang="en-US" sz="1150" dirty="0">
                <a:solidFill>
                  <a:srgbClr val="CBD5E1"/>
                </a:solidFill>
                <a:latin typeface="Calibri" pitchFamily="34" charset="0"/>
                <a:ea typeface="Calibri" pitchFamily="34" charset="-122"/>
                <a:cs typeface="Calibri" pitchFamily="34" charset="-120"/>
              </a:rPr>
              <a:t>A human signs; Bob is refused, and the refusal is recorded</a:t>
            </a:r>
            <a:endParaRPr lang="en-US" sz="1150" dirty="0"/>
          </a:p>
        </p:txBody>
      </p:sp>
      <p:sp>
        <p:nvSpPr>
          <p:cNvPr id="35" name="Text 28"/>
          <p:cNvSpPr txBox="1"/>
          <p:nvPr/>
        </p:nvSpPr>
        <p:spPr>
          <a:xfrm>
            <a:off x="457200" y="4526280"/>
            <a:ext cx="6858000" cy="27432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Engines decide  ·  watsonx explains  ·  only a human commits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426"/>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228600"/>
          </a:xfrm>
          <a:prstGeom prst="rect">
            <a:avLst/>
          </a:prstGeom>
          <a:noFill/>
          <a:ln/>
        </p:spPr>
        <p:txBody>
          <a:bodyPr wrap="square" lIns="0" tIns="0" rIns="0" bIns="0" rtlCol="0" anchor="t"/>
          <a:lstStyle/>
          <a:p>
            <a:pPr marL="0" indent="0">
              <a:buNone/>
            </a:pPr>
            <a:r>
              <a:rPr lang="en-US" sz="1100" b="1" kern="0" spc="200" dirty="0">
                <a:solidFill>
                  <a:srgbClr val="22D3EE"/>
                </a:solidFill>
                <a:latin typeface="Calibri" pitchFamily="34" charset="0"/>
                <a:ea typeface="Calibri" pitchFamily="34" charset="-122"/>
                <a:cs typeface="Calibri" pitchFamily="34" charset="-120"/>
              </a:rPr>
              <a:t>04  ·  ARCHITECTURE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t"/>
          <a:lstStyle/>
          <a:p>
            <a:pPr marL="0" indent="0">
              <a:buNone/>
            </a:pPr>
            <a:r>
              <a:rPr lang="en-US" sz="2200" b="1" dirty="0">
                <a:solidFill>
                  <a:srgbClr val="F1F5F9"/>
                </a:solidFill>
                <a:latin typeface="Arial" pitchFamily="34" charset="0"/>
                <a:ea typeface="Arial" pitchFamily="34" charset="-122"/>
                <a:cs typeface="Arial" pitchFamily="34" charset="-120"/>
              </a:rPr>
              <a:t>Pure engines, an agent that proposes, a human who commits</a:t>
            </a:r>
            <a:endParaRPr lang="en-US" sz="2200" dirty="0"/>
          </a:p>
        </p:txBody>
      </p:sp>
      <p:sp>
        <p:nvSpPr>
          <p:cNvPr id="4" name="Text 2"/>
          <p:cNvSpPr txBox="1"/>
          <p:nvPr/>
        </p:nvSpPr>
        <p:spPr>
          <a:xfrm>
            <a:off x="7772400" y="4773168"/>
            <a:ext cx="914400" cy="182880"/>
          </a:xfrm>
          <a:prstGeom prst="rect">
            <a:avLst/>
          </a:prstGeom>
          <a:noFill/>
          <a:ln/>
        </p:spPr>
        <p:txBody>
          <a:bodyPr wrap="square" lIns="0" tIns="0" rIns="0" bIns="0" rtlCol="0" anchor="t"/>
          <a:lstStyle/>
          <a:p>
            <a:pPr marL="0" indent="0" algn="r">
              <a:buNone/>
            </a:pPr>
            <a:r>
              <a:rPr lang="en-US" sz="900" dirty="0">
                <a:solidFill>
                  <a:srgbClr val="94A3B8"/>
                </a:solidFill>
                <a:latin typeface="Calibri" pitchFamily="34" charset="0"/>
                <a:ea typeface="Calibri" pitchFamily="34" charset="-122"/>
                <a:cs typeface="Calibri" pitchFamily="34" charset="-120"/>
              </a:rPr>
              <a:t>4 / 4</a:t>
            </a:r>
            <a:endParaRPr lang="en-US" sz="900" dirty="0"/>
          </a:p>
        </p:txBody>
      </p:sp>
      <p:sp>
        <p:nvSpPr>
          <p:cNvPr id="5" name="TextBox 4"/>
          <p:cNvSpPr txBox="1"/>
          <p:nvPr/>
        </p:nvSpPr>
        <p:spPr>
          <a:xfrm>
            <a:off x="411480" y="1078992"/>
            <a:ext cx="1828800" cy="182880"/>
          </a:xfrm>
          <a:prstGeom prst="rect">
            <a:avLst/>
          </a:prstGeom>
          <a:noFill/>
        </p:spPr>
        <p:txBody>
          <a:bodyPr wrap="square">
            <a:spAutoFit/>
          </a:bodyPr>
          <a:lstStyle/>
          <a:p>
            <a:pPr algn="l"/>
            <a:r>
              <a:rPr sz="650" b="1">
                <a:solidFill>
                  <a:srgbClr val="64748B"/>
                </a:solidFill>
                <a:latin typeface="Arial"/>
              </a:rPr>
              <a:t>CLIENTS</a:t>
            </a:r>
          </a:p>
        </p:txBody>
      </p:sp>
      <p:sp>
        <p:nvSpPr>
          <p:cNvPr id="6" name="Rounded Rectangle 5"/>
          <p:cNvSpPr/>
          <p:nvPr/>
        </p:nvSpPr>
        <p:spPr>
          <a:xfrm>
            <a:off x="411480" y="1280160"/>
            <a:ext cx="2377440" cy="475488"/>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1F5F9"/>
                </a:solidFill>
                <a:latin typeface="Arial"/>
              </a:rPr>
              <a:t>Dashboard</a:t>
            </a:r>
          </a:p>
          <a:p>
            <a:pPr algn="ctr"/>
            <a:r>
              <a:rPr sz="750">
                <a:solidFill>
                  <a:srgbClr val="94A3B8"/>
                </a:solidFill>
                <a:latin typeface="Arial"/>
              </a:rPr>
              <a:t>map · triage · audit</a:t>
            </a:r>
          </a:p>
        </p:txBody>
      </p:sp>
      <p:sp>
        <p:nvSpPr>
          <p:cNvPr id="7" name="Rounded Rectangle 6"/>
          <p:cNvSpPr/>
          <p:nvPr/>
        </p:nvSpPr>
        <p:spPr>
          <a:xfrm>
            <a:off x="3017520" y="1280160"/>
            <a:ext cx="2377440" cy="475488"/>
          </a:xfrm>
          <a:prstGeom prst="roundRect">
            <a:avLst/>
          </a:prstGeom>
          <a:solidFill>
            <a:srgbClr val="1F2A44"/>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1F5F9"/>
                </a:solidFill>
                <a:latin typeface="Arial"/>
              </a:rPr>
              <a:t>IBM Bob</a:t>
            </a:r>
          </a:p>
          <a:p>
            <a:pPr algn="ctr"/>
            <a:r>
              <a:rPr sz="750">
                <a:solidFill>
                  <a:srgbClr val="94A3B8"/>
                </a:solidFill>
                <a:latin typeface="Arial"/>
              </a:rPr>
              <a:t>Control Tower mode</a:t>
            </a:r>
          </a:p>
        </p:txBody>
      </p:sp>
      <p:sp>
        <p:nvSpPr>
          <p:cNvPr id="8" name="Rounded Rectangle 7"/>
          <p:cNvSpPr/>
          <p:nvPr/>
        </p:nvSpPr>
        <p:spPr>
          <a:xfrm>
            <a:off x="5623560" y="1280160"/>
            <a:ext cx="3108960" cy="475488"/>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1F5F9"/>
                </a:solidFill>
                <a:latin typeface="Arial"/>
              </a:rPr>
              <a:t>Real telemetry</a:t>
            </a:r>
          </a:p>
          <a:p>
            <a:pPr algn="ctr"/>
            <a:r>
              <a:rPr sz="750">
                <a:solidFill>
                  <a:srgbClr val="94A3B8"/>
                </a:solidFill>
                <a:latin typeface="Arial"/>
              </a:rPr>
              <a:t>POST /ingest/sensor</a:t>
            </a:r>
          </a:p>
        </p:txBody>
      </p:sp>
      <p:cxnSp>
        <p:nvCxnSpPr>
          <p:cNvPr id="9" name="Connector 8"/>
          <p:cNvCxnSpPr/>
          <p:nvPr/>
        </p:nvCxnSpPr>
        <p:spPr>
          <a:xfrm>
            <a:off x="1600200" y="1755648"/>
            <a:ext cx="0" cy="27432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206240" y="1755648"/>
            <a:ext cx="0" cy="274320"/>
          </a:xfrm>
          <a:prstGeom prst="line">
            <a:avLst/>
          </a:prstGeom>
          <a:ln w="15875">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78040" y="1755648"/>
            <a:ext cx="0" cy="274320"/>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11480" y="2029968"/>
            <a:ext cx="8321040" cy="420624"/>
          </a:xfrm>
          <a:prstGeom prst="roundRect">
            <a:avLst/>
          </a:prstGeom>
          <a:solidFill>
            <a:srgbClr val="4A2A1A"/>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1F5F9"/>
                </a:solidFill>
                <a:latin typeface="Arial"/>
              </a:rPr>
              <a:t>policy.js  —  read · propose · COMMIT</a:t>
            </a:r>
          </a:p>
          <a:p>
            <a:pPr algn="ctr"/>
            <a:r>
              <a:rPr sz="700">
                <a:solidFill>
                  <a:srgbClr val="94A3B8"/>
                </a:solidFill>
                <a:latin typeface="Arial"/>
              </a:rPr>
              <a:t>an agent may read and propose · only a human may commit</a:t>
            </a:r>
          </a:p>
        </p:txBody>
      </p:sp>
      <p:sp>
        <p:nvSpPr>
          <p:cNvPr id="13" name="TextBox 12"/>
          <p:cNvSpPr txBox="1"/>
          <p:nvPr/>
        </p:nvSpPr>
        <p:spPr>
          <a:xfrm>
            <a:off x="411480" y="2468880"/>
            <a:ext cx="3657600" cy="182880"/>
          </a:xfrm>
          <a:prstGeom prst="rect">
            <a:avLst/>
          </a:prstGeom>
          <a:noFill/>
        </p:spPr>
        <p:txBody>
          <a:bodyPr wrap="square">
            <a:spAutoFit/>
          </a:bodyPr>
          <a:lstStyle/>
          <a:p>
            <a:pPr algn="l"/>
            <a:r>
              <a:rPr sz="650" b="1">
                <a:solidFill>
                  <a:srgbClr val="F59E0B"/>
                </a:solidFill>
                <a:latin typeface="Arial"/>
              </a:rPr>
              <a:t>▲  a refused commit is appended to the hash chain</a:t>
            </a:r>
          </a:p>
        </p:txBody>
      </p:sp>
      <p:sp>
        <p:nvSpPr>
          <p:cNvPr id="14" name="TextBox 13"/>
          <p:cNvSpPr txBox="1"/>
          <p:nvPr/>
        </p:nvSpPr>
        <p:spPr>
          <a:xfrm>
            <a:off x="411480" y="2697480"/>
            <a:ext cx="4114800" cy="182880"/>
          </a:xfrm>
          <a:prstGeom prst="rect">
            <a:avLst/>
          </a:prstGeom>
          <a:noFill/>
        </p:spPr>
        <p:txBody>
          <a:bodyPr wrap="square">
            <a:spAutoFit/>
          </a:bodyPr>
          <a:lstStyle/>
          <a:p>
            <a:pPr algn="l"/>
            <a:r>
              <a:rPr sz="650" b="1">
                <a:solidFill>
                  <a:srgbClr val="64748B"/>
                </a:solidFill>
                <a:latin typeface="Arial"/>
              </a:rPr>
              <a:t>DETERMINISTIC ENGINES   no I/O · no wall clock · 165 tests</a:t>
            </a:r>
          </a:p>
        </p:txBody>
      </p:sp>
      <p:sp>
        <p:nvSpPr>
          <p:cNvPr id="15" name="Rounded Rectangle 14"/>
          <p:cNvSpPr/>
          <p:nvPr/>
        </p:nvSpPr>
        <p:spPr>
          <a:xfrm>
            <a:off x="411480" y="2898648"/>
            <a:ext cx="1627632" cy="457200"/>
          </a:xfrm>
          <a:prstGeom prst="roundRect">
            <a:avLst/>
          </a:prstGeom>
          <a:solidFill>
            <a:srgbClr val="0E3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1F5F9"/>
                </a:solidFill>
                <a:latin typeface="Arial"/>
              </a:rPr>
              <a:t>viabilityClock</a:t>
            </a:r>
          </a:p>
          <a:p>
            <a:pPr algn="ctr"/>
            <a:r>
              <a:rPr sz="650">
                <a:solidFill>
                  <a:srgbClr val="94A3B8"/>
                </a:solidFill>
                <a:latin typeface="Arial"/>
              </a:rPr>
              <a:t>two clocks</a:t>
            </a:r>
          </a:p>
        </p:txBody>
      </p:sp>
      <p:sp>
        <p:nvSpPr>
          <p:cNvPr id="16" name="Rounded Rectangle 15"/>
          <p:cNvSpPr/>
          <p:nvPr/>
        </p:nvSpPr>
        <p:spPr>
          <a:xfrm>
            <a:off x="2084832" y="2898648"/>
            <a:ext cx="1627632" cy="457200"/>
          </a:xfrm>
          <a:prstGeom prst="roundRect">
            <a:avLst/>
          </a:prstGeom>
          <a:solidFill>
            <a:srgbClr val="0E3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1F5F9"/>
                </a:solidFill>
                <a:latin typeface="Arial"/>
              </a:rPr>
              <a:t>regulatoryEngine</a:t>
            </a:r>
          </a:p>
          <a:p>
            <a:pPr algn="ctr"/>
            <a:r>
              <a:rPr sz="650">
                <a:solidFill>
                  <a:srgbClr val="94A3B8"/>
                </a:solidFill>
                <a:latin typeface="Arial"/>
              </a:rPr>
              <a:t>matrix · MKT</a:t>
            </a:r>
          </a:p>
        </p:txBody>
      </p:sp>
      <p:sp>
        <p:nvSpPr>
          <p:cNvPr id="17" name="Rounded Rectangle 16"/>
          <p:cNvSpPr/>
          <p:nvPr/>
        </p:nvSpPr>
        <p:spPr>
          <a:xfrm>
            <a:off x="3758184" y="2898648"/>
            <a:ext cx="1627632" cy="457200"/>
          </a:xfrm>
          <a:prstGeom prst="roundRect">
            <a:avLst/>
          </a:prstGeom>
          <a:solidFill>
            <a:srgbClr val="0E3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1F5F9"/>
                </a:solidFill>
                <a:latin typeface="Arial"/>
              </a:rPr>
              <a:t>breachPredictor</a:t>
            </a:r>
          </a:p>
          <a:p>
            <a:pPr algn="ctr"/>
            <a:r>
              <a:rPr sz="650">
                <a:solidFill>
                  <a:srgbClr val="94A3B8"/>
                </a:solidFill>
                <a:latin typeface="Arial"/>
              </a:rPr>
              <a:t>Newton fit</a:t>
            </a:r>
          </a:p>
        </p:txBody>
      </p:sp>
      <p:sp>
        <p:nvSpPr>
          <p:cNvPr id="18" name="Rounded Rectangle 17"/>
          <p:cNvSpPr/>
          <p:nvPr/>
        </p:nvSpPr>
        <p:spPr>
          <a:xfrm>
            <a:off x="5431536" y="2898648"/>
            <a:ext cx="1627632" cy="457200"/>
          </a:xfrm>
          <a:prstGeom prst="roundRect">
            <a:avLst/>
          </a:prstGeom>
          <a:solidFill>
            <a:srgbClr val="0E3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1F5F9"/>
                </a:solidFill>
                <a:latin typeface="Arial"/>
              </a:rPr>
              <a:t>graphRouter</a:t>
            </a:r>
          </a:p>
          <a:p>
            <a:pPr algn="ctr"/>
            <a:r>
              <a:rPr sz="650">
                <a:solidFill>
                  <a:srgbClr val="94A3B8"/>
                </a:solidFill>
                <a:latin typeface="Arial"/>
              </a:rPr>
              <a:t>+ landedCost</a:t>
            </a:r>
          </a:p>
        </p:txBody>
      </p:sp>
      <p:sp>
        <p:nvSpPr>
          <p:cNvPr id="19" name="Rounded Rectangle 18"/>
          <p:cNvSpPr/>
          <p:nvPr/>
        </p:nvSpPr>
        <p:spPr>
          <a:xfrm>
            <a:off x="7104888" y="2898648"/>
            <a:ext cx="1627632" cy="457200"/>
          </a:xfrm>
          <a:prstGeom prst="roundRect">
            <a:avLst/>
          </a:prstGeom>
          <a:solidFill>
            <a:srgbClr val="0E3A4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1F5F9"/>
                </a:solidFill>
                <a:latin typeface="Arial"/>
              </a:rPr>
              <a:t>fleetMatcher</a:t>
            </a:r>
          </a:p>
          <a:p>
            <a:pPr algn="ctr"/>
            <a:r>
              <a:rPr sz="650">
                <a:solidFill>
                  <a:srgbClr val="94A3B8"/>
                </a:solidFill>
                <a:latin typeface="Arial"/>
              </a:rPr>
              <a:t>0–100 score</a:t>
            </a:r>
          </a:p>
        </p:txBody>
      </p:sp>
      <p:cxnSp>
        <p:nvCxnSpPr>
          <p:cNvPr id="20" name="Connector 19"/>
          <p:cNvCxnSpPr/>
          <p:nvPr/>
        </p:nvCxnSpPr>
        <p:spPr>
          <a:xfrm>
            <a:off x="4206240" y="2450592"/>
            <a:ext cx="0" cy="448056"/>
          </a:xfrm>
          <a:prstGeom prst="line">
            <a:avLst/>
          </a:prstGeom>
          <a:ln w="15875">
            <a:solidFill>
              <a:srgbClr val="22C55E"/>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11480" y="3547872"/>
            <a:ext cx="2697480" cy="420624"/>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1F5F9"/>
                </a:solidFill>
                <a:latin typeface="Arial"/>
              </a:rPr>
              <a:t>Simulated world</a:t>
            </a:r>
          </a:p>
          <a:p>
            <a:pPr algn="ctr"/>
            <a:r>
              <a:rPr sz="650">
                <a:solidFill>
                  <a:srgbClr val="94A3B8"/>
                </a:solidFill>
                <a:latin typeface="Arial"/>
              </a:rPr>
              <a:t>clock · motion · telemetry</a:t>
            </a:r>
          </a:p>
        </p:txBody>
      </p:sp>
      <p:sp>
        <p:nvSpPr>
          <p:cNvPr id="22" name="Rounded Rectangle 21"/>
          <p:cNvSpPr/>
          <p:nvPr/>
        </p:nvSpPr>
        <p:spPr>
          <a:xfrm>
            <a:off x="3246120" y="3547872"/>
            <a:ext cx="2697480" cy="420624"/>
          </a:xfrm>
          <a:prstGeom prst="roundRect">
            <a:avLst/>
          </a:prstGeom>
          <a:solidFill>
            <a:srgbClr val="2A256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1F5F9"/>
                </a:solidFill>
                <a:latin typeface="Arial"/>
              </a:rPr>
              <a:t>watsonx.ai</a:t>
            </a:r>
          </a:p>
          <a:p>
            <a:pPr algn="ctr"/>
            <a:r>
              <a:rPr sz="650">
                <a:solidFill>
                  <a:srgbClr val="94A3B8"/>
                </a:solidFill>
                <a:latin typeface="Arial"/>
              </a:rPr>
              <a:t>explains — never decides</a:t>
            </a:r>
          </a:p>
        </p:txBody>
      </p:sp>
      <p:sp>
        <p:nvSpPr>
          <p:cNvPr id="23" name="Rounded Rectangle 22"/>
          <p:cNvSpPr/>
          <p:nvPr/>
        </p:nvSpPr>
        <p:spPr>
          <a:xfrm>
            <a:off x="6080760" y="3547872"/>
            <a:ext cx="2651760" cy="420624"/>
          </a:xfrm>
          <a:prstGeom prst="roundRect">
            <a:avLst/>
          </a:prstGeom>
          <a:solidFill>
            <a:srgbClr val="1F2A44"/>
          </a:solidFill>
          <a:ln w="15875">
            <a:solidFill>
              <a:srgbClr val="22C55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1F5F9"/>
                </a:solidFill>
                <a:latin typeface="Arial"/>
              </a:rPr>
              <a:t>Hash-chained audit</a:t>
            </a:r>
          </a:p>
          <a:p>
            <a:pPr algn="ctr"/>
            <a:r>
              <a:rPr sz="650">
                <a:solidFill>
                  <a:srgbClr val="94A3B8"/>
                </a:solidFill>
                <a:latin typeface="Arial"/>
              </a:rPr>
              <a:t>verifiable on screen</a:t>
            </a:r>
          </a:p>
        </p:txBody>
      </p:sp>
      <p:cxnSp>
        <p:nvCxnSpPr>
          <p:cNvPr id="24" name="Connector 23"/>
          <p:cNvCxnSpPr/>
          <p:nvPr/>
        </p:nvCxnSpPr>
        <p:spPr>
          <a:xfrm flipV="1">
            <a:off x="1755648" y="3355848"/>
            <a:ext cx="0" cy="192024"/>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590288" y="3355848"/>
            <a:ext cx="0" cy="192024"/>
          </a:xfrm>
          <a:prstGeom prst="line">
            <a:avLst/>
          </a:prstGeom>
          <a:ln w="12700">
            <a:solidFill>
              <a:srgbClr val="2A2560"/>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06640" y="3355848"/>
            <a:ext cx="0" cy="192024"/>
          </a:xfrm>
          <a:prstGeom prst="line">
            <a:avLst/>
          </a:prstGeom>
          <a:ln w="12700">
            <a:solidFill>
              <a:srgbClr val="22C55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246120" y="3986784"/>
            <a:ext cx="2743200" cy="182880"/>
          </a:xfrm>
          <a:prstGeom prst="rect">
            <a:avLst/>
          </a:prstGeom>
          <a:noFill/>
        </p:spPr>
        <p:txBody>
          <a:bodyPr wrap="square">
            <a:spAutoFit/>
          </a:bodyPr>
          <a:lstStyle/>
          <a:p>
            <a:pPr algn="l"/>
            <a:r>
              <a:rPr sz="600" b="0">
                <a:solidFill>
                  <a:srgbClr val="64748B"/>
                </a:solidFill>
                <a:latin typeface="Arial"/>
              </a:rPr>
              <a:t>dashed = after the decision is made</a:t>
            </a:r>
          </a:p>
        </p:txBody>
      </p:sp>
      <p:sp>
        <p:nvSpPr>
          <p:cNvPr id="28" name="TextBox 27"/>
          <p:cNvSpPr txBox="1"/>
          <p:nvPr/>
        </p:nvSpPr>
        <p:spPr>
          <a:xfrm>
            <a:off x="411480" y="4224528"/>
            <a:ext cx="8321040" cy="182880"/>
          </a:xfrm>
          <a:prstGeom prst="rect">
            <a:avLst/>
          </a:prstGeom>
          <a:noFill/>
        </p:spPr>
        <p:txBody>
          <a:bodyPr wrap="square">
            <a:spAutoFit/>
          </a:bodyPr>
          <a:lstStyle/>
          <a:p>
            <a:pPr algn="l"/>
            <a:r>
              <a:rPr sz="800" b="1">
                <a:solidFill>
                  <a:srgbClr val="F1F5F9"/>
                </a:solidFill>
                <a:latin typeface="Arial"/>
              </a:rPr>
              <a:t>Severity, disposition and the clock are computed. Pull the credentials and every number on screen is identical.</a:t>
            </a:r>
          </a:p>
        </p:txBody>
      </p:sp>
      <p:sp>
        <p:nvSpPr>
          <p:cNvPr id="29" name="TextBox 28"/>
          <p:cNvSpPr txBox="1"/>
          <p:nvPr/>
        </p:nvSpPr>
        <p:spPr>
          <a:xfrm>
            <a:off x="411480" y="4434840"/>
            <a:ext cx="8321040" cy="182880"/>
          </a:xfrm>
          <a:prstGeom prst="rect">
            <a:avLst/>
          </a:prstGeom>
          <a:noFill/>
        </p:spPr>
        <p:txBody>
          <a:bodyPr wrap="square">
            <a:spAutoFit/>
          </a:bodyPr>
          <a:lstStyle/>
          <a:p>
            <a:pPr algn="l"/>
            <a:r>
              <a:rPr sz="750" b="0">
                <a:solidFill>
                  <a:srgbClr val="94A3B8"/>
                </a:solidFill>
                <a:latin typeface="Arial"/>
              </a:rPr>
              <a:t>IBM Bob operates the tower through 12 MCP tools over Streamable HTTP — and is refused when it tries to commit.</a:t>
            </a:r>
          </a:p>
        </p:txBody>
      </p:sp>
      <p:sp>
        <p:nvSpPr>
          <p:cNvPr id="30" name="TextBox 29"/>
          <p:cNvSpPr txBox="1"/>
          <p:nvPr/>
        </p:nvSpPr>
        <p:spPr>
          <a:xfrm>
            <a:off x="411480" y="4736592"/>
            <a:ext cx="8321040" cy="182880"/>
          </a:xfrm>
          <a:prstGeom prst="rect">
            <a:avLst/>
          </a:prstGeom>
          <a:noFill/>
        </p:spPr>
        <p:txBody>
          <a:bodyPr wrap="square">
            <a:spAutoFit/>
          </a:bodyPr>
          <a:lstStyle/>
          <a:p>
            <a:pPr algn="l"/>
            <a:r>
              <a:rPr sz="650" b="0">
                <a:solidFill>
                  <a:srgbClr val="64748B"/>
                </a:solidFill>
                <a:latin typeface="Arial"/>
              </a:rPr>
              <a:t>Next.js 16 · React 19 · Express 5 · Socket.IO · MongoDB 7 · @modelcontextprotocol/sdk · watsonx.ai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691</Words>
  <Application>Microsoft Office PowerPoint</Application>
  <PresentationFormat>On-screen Show (16:9)</PresentationFormat>
  <Paragraphs>79</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SupplyChain AI Copilot</dc:title>
  <dc:subject>PptxGenJS Presentation</dc:subject>
  <dc:creator>PptxGenJS</dc:creator>
  <cp:lastModifiedBy>Manav shah</cp:lastModifiedBy>
  <cp:revision>2</cp:revision>
  <dcterms:created xsi:type="dcterms:W3CDTF">2026-09-15T17:44:23Z</dcterms:created>
  <dcterms:modified xsi:type="dcterms:W3CDTF">2026-09-19T09:33:14Z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1.0.150</vt:lpwstr>
  </property>
  <property fmtid="{D5CDD505-2E9C-101B-9397-08002B2CF9AE}" pid="3" name="OfficeCLI.LastModified">
    <vt:lpwstr>2026-09-15T17:49:10Z</vt:lpwstr>
  </property>
</Properties>
</file>