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&#65279;<?xml version="1.0" encoding="utf-8"?><Relationships xmlns="http://schemas.openxmlformats.org/package/2006/relationships"><Relationship Type="http://schemas.openxmlformats.org/officeDocument/2006/relationships/extended-properties" Target="docProps/app.xml" Id="rId1" /><Relationship Type="http://schemas.openxmlformats.org/package/2006/relationships/metadata/core-properties" Target="docProps/core.xml" Id="rId2" /><Relationship Type="http://schemas.openxmlformats.org/officeDocument/2006/relationships/officeDocument" Target="ppt/presentation.xml" Id="rId3" /><Relationship Type="http://schemas.openxmlformats.org/officeDocument/2006/relationships/custom-properties" Target="/docProps/custom.xml" Id="R2db7449872584502"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SupplyChain AI Copilot — Supply Chain Disruption Assistant &amp; Fleet Utilisation Optimizer. Team Error Fellows, Track AI, IBM Bob AI Hackathon 2026. The system runs a continuous Detect, Assess, Optimise, Act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Pharmaceutical cold-chain teams face two simultaneous crises. First, disruption blindness: manual triage of a port strike or storm takes 2–4 hours. Second, cold-chain excursions are discovered only at delivery. Pain numbers: $500K+ per rejected vaccine shipment, $10B+ per major port event, 4–8 hours per manual GDP excursion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system that detects exposed shipments geospatially, scores them with a 6-factor deterministic engine, optimises reroutes and idle reefer fleet matching, acts through a human-approved workflow with immutable audit trail, and monitors cold-chain IoT telemetry 24/7 with watsonx.ai excursion classification before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input streams. IoT sensor readings every 5 seconds go to the Cold Chain Engine, then watsonx.ai for GDP classification. Disruption events flow through Impact, Risk, Route Optimizer and Fleet Matcher into the AI Action Center. Operator chat goes to the watsonx.ai Copilot with live system context. Key principle: AI explains, deterministic engines calculate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state: 5 vaccine shipments in transit LA to Chicago to NYC, 5 idle reefer trucks. Click LA Port Strike; Impact Engine finds 3 affected shipments in under a second. SHIP-001 scores 87 critical, SHIP-003 72 high, SHIP-005 61 watch. Action Center recommends rerouting SHIP-001 via Denver with truck T-002. Approve and Execute creates an AuditEvent. Then ask the AI chat which shipments are most at risk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watsonx.ai with Llama 4 Maverick powers three call types: GDP excursion classification, rerouting strategy generation, and the Operations Copilot. The custom IBM Bob MCP server exposes six tools so Bob queries real risk scores rather than inventing numbers. IBM Bob was also our coding agent throughout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Disruption triage goes from 2–4 hours of manual work to under 5 seconds automated. Excursions are detected in real time before delivery, GDP classification is instant, fleet redeployment is a one-click approval, and every action lands in an immutable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p14="http://schemas.microsoft.com/office/powerpoint/2010/main"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Error Fellows, led by Priyank. What we are most proud of is the strict separation of deterministic computation from generative AI. Next steps: live disruption feeds, a real TMS routing engine, IBM Cloud deployment with MongoDB Atlas and Redis, and multi-tenant MCP tools.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914400"/>
            <a:ext cx="5120640" cy="274320"/>
          </a:xfrm>
          <a:prstGeom prst="rect">
            <a:avLst/>
          </a:prstGeom>
          <a:noFill/>
          <a:ln/>
        </p:spPr>
        <p:txBody>
          <a:bodyPr wrap="square" lIns="0" tIns="0" rIns="0" bIns="0" rtlCol="0" anchor="t"/>
          <a:lstStyle/>
          <a:p>
            <a:pPr marL="0" indent="0">
              <a:buNone/>
            </a:pPr>
            <a:r>
              <a:rPr lang="en-US" sz="1200" b="1" kern="0" spc="300" dirty="0">
                <a:solidFill>
                  <a:srgbClr val="22D3EE"/>
                </a:solidFill>
                <a:latin typeface="Calibri" pitchFamily="34" charset="0"/>
                <a:ea typeface="Calibri" pitchFamily="34" charset="-122"/>
                <a:cs typeface="Calibri" pitchFamily="34" charset="-120"/>
              </a:rPr>
              <a:t>IBM BOB AI HACKATHON 2026</a:t>
            </a:r>
            <a:endParaRPr lang="en-US" sz="1200" dirty="0"/>
          </a:p>
        </p:txBody>
      </p:sp>
      <p:sp>
        <p:nvSpPr>
          <p:cNvPr id="3" name="Text 1"/>
          <p:cNvSpPr txBox="1"/>
          <p:nvPr/>
        </p:nvSpPr>
        <p:spPr>
          <a:xfrm>
            <a:off x="457200" y="1280160"/>
            <a:ext cx="5120640" cy="1463040"/>
          </a:xfrm>
          <a:prstGeom prst="rect">
            <a:avLst/>
          </a:prstGeom>
          <a:noFill/>
          <a:ln/>
        </p:spPr>
        <p:txBody>
          <a:bodyPr wrap="square" lIns="0" tIns="0" rIns="0" bIns="0" rtlCol="0" anchor="t"/>
          <a:lstStyle/>
          <a:p>
            <a:pPr marL="0" indent="0">
              <a:buNone/>
            </a:pPr>
            <a:r>
              <a:rPr lang="en-US" sz="4400" b="1" dirty="0">
                <a:solidFill>
                  <a:srgbClr val="F1F5F9"/>
                </a:solidFill>
                <a:latin typeface="Arial" pitchFamily="34" charset="0"/>
                <a:ea typeface="Arial" pitchFamily="34" charset="-122"/>
                <a:cs typeface="Arial" pitchFamily="34" charset="-120"/>
              </a:rPr>
              <a:t>SupplyChain</a:t>
            </a:r>
            <a:endParaRPr lang="en-US" sz="4400" dirty="0"/>
          </a:p>
          <a:p>
            <a:pPr marL="0" indent="0">
              <a:buNone/>
            </a:pPr>
            <a:r>
              <a:rPr lang="en-US" sz="4400" b="1" dirty="0">
                <a:solidFill>
                  <a:srgbClr val="F1F5F9"/>
                </a:solidFill>
                <a:latin typeface="Arial" pitchFamily="34" charset="0"/>
                <a:ea typeface="Arial" pitchFamily="34" charset="-122"/>
                <a:cs typeface="Arial" pitchFamily="34" charset="-120"/>
              </a:rPr>
              <a:t>AI Copilot</a:t>
            </a:r>
            <a:endParaRPr lang="en-US" sz="4400" dirty="0"/>
          </a:p>
        </p:txBody>
      </p:sp>
      <p:sp>
        <p:nvSpPr>
          <p:cNvPr id="4" name="Text 2"/>
          <p:cNvSpPr txBox="1"/>
          <p:nvPr/>
        </p:nvSpPr>
        <p:spPr>
          <a:xfrm>
            <a:off x="457200" y="2834640"/>
            <a:ext cx="4754880" cy="640080"/>
          </a:xfrm>
          <a:prstGeom prst="rect">
            <a:avLst/>
          </a:prstGeom>
          <a:noFill/>
          <a:ln/>
        </p:spPr>
        <p:txBody>
          <a:bodyPr wrap="square" lIns="0" tIns="0" rIns="0" bIns="0" rtlCol="0" anchor="t"/>
          <a:lstStyle/>
          <a:p>
            <a:pPr marL="0" indent="0">
              <a:buNone/>
            </a:pPr>
            <a:r>
              <a:rPr lang="en-US" sz="1600" dirty="0">
                <a:solidFill>
                  <a:srgbClr val="CADCFC"/>
                </a:solidFill>
                <a:latin typeface="Calibri" pitchFamily="34" charset="0"/>
                <a:ea typeface="Calibri" pitchFamily="34" charset="-122"/>
                <a:cs typeface="Calibri" pitchFamily="34" charset="-120"/>
              </a:rPr>
              <a:t>Supply Chain Disruption Assistant &amp; Fleet Utilisation Optimizer</a:t>
            </a:r>
            <a:endParaRPr lang="en-US" sz="1600" dirty="0"/>
          </a:p>
        </p:txBody>
      </p:sp>
      <p:sp>
        <p:nvSpPr>
          <p:cNvPr id="5" name="Shape 3"/>
          <p:cNvSpPr/>
          <p:nvPr/>
        </p:nvSpPr>
        <p:spPr>
          <a:xfrm>
            <a:off x="457200" y="3886200"/>
            <a:ext cx="1691640" cy="365760"/>
          </a:xfrm>
          <a:prstGeom prst="roundRect">
            <a:avLst>
              <a:gd name="adj" fmla="val 50000"/>
            </a:avLst>
          </a:prstGeom>
          <a:solidFill>
            <a:srgbClr val="14213D"/>
          </a:solidFill>
          <a:ln w="9525">
            <a:solidFill>
              <a:srgbClr val="334155"/>
            </a:solidFill>
            <a:prstDash val="solid"/>
          </a:ln>
        </p:spPr>
      </p:sp>
      <p:sp>
        <p:nvSpPr>
          <p:cNvPr id="6" name="Text 4"/>
          <p:cNvSpPr txBox="1"/>
          <p:nvPr/>
        </p:nvSpPr>
        <p:spPr>
          <a:xfrm>
            <a:off x="457200" y="3886200"/>
            <a:ext cx="1691640" cy="365760"/>
          </a:xfrm>
          <a:prstGeom prst="rect">
            <a:avLst/>
          </a:prstGeom>
          <a:noFill/>
          <a:ln/>
        </p:spPr>
        <p:txBody>
          <a:bodyPr wrap="square" lIns="0" tIns="0" rIns="0" bIns="0" rtlCol="0" anchor="ctr"/>
          <a:lstStyle/>
          <a:p>
            <a:pPr marL="0" indent="0" algn="ctr">
              <a:buNone/>
            </a:pPr>
            <a:r>
              <a:rPr lang="en-US" sz="1200" dirty="0">
                <a:solidFill>
                  <a:srgbClr val="F1F5F9"/>
                </a:solidFill>
                <a:latin typeface="Calibri" pitchFamily="34" charset="0"/>
                <a:ea typeface="Calibri" pitchFamily="34" charset="-122"/>
                <a:cs typeface="Calibri" pitchFamily="34" charset="-120"/>
              </a:rPr>
              <a:t>Team Error Fellows</a:t>
            </a:r>
            <a:endParaRPr lang="en-US" sz="1200" dirty="0"/>
          </a:p>
        </p:txBody>
      </p:sp>
      <p:sp>
        <p:nvSpPr>
          <p:cNvPr id="7" name="Shape 5"/>
          <p:cNvSpPr/>
          <p:nvPr/>
        </p:nvSpPr>
        <p:spPr>
          <a:xfrm>
            <a:off x="2286000" y="3886200"/>
            <a:ext cx="914400" cy="365760"/>
          </a:xfrm>
          <a:prstGeom prst="roundRect">
            <a:avLst>
              <a:gd name="adj" fmla="val 50000"/>
            </a:avLst>
          </a:prstGeom>
          <a:solidFill>
            <a:srgbClr val="14213D"/>
          </a:solidFill>
          <a:ln w="9525">
            <a:solidFill>
              <a:srgbClr val="334155"/>
            </a:solidFill>
            <a:prstDash val="solid"/>
          </a:ln>
        </p:spPr>
      </p:sp>
      <p:sp>
        <p:nvSpPr>
          <p:cNvPr id="8" name="Text 6"/>
          <p:cNvSpPr txBox="1"/>
          <p:nvPr/>
        </p:nvSpPr>
        <p:spPr>
          <a:xfrm>
            <a:off x="2286000" y="3886200"/>
            <a:ext cx="914400" cy="365760"/>
          </a:xfrm>
          <a:prstGeom prst="rect">
            <a:avLst/>
          </a:prstGeom>
          <a:noFill/>
          <a:ln/>
        </p:spPr>
        <p:txBody>
          <a:bodyPr wrap="square" lIns="0" tIns="0" rIns="0" bIns="0" rtlCol="0" anchor="ctr"/>
          <a:lstStyle/>
          <a:p>
            <a:pPr marL="0" indent="0" algn="ctr">
              <a:buNone/>
            </a:pPr>
            <a:r>
              <a:rPr lang="en-US" sz="1200" dirty="0">
                <a:solidFill>
                  <a:srgbClr val="F1F5F9"/>
                </a:solidFill>
                <a:latin typeface="Calibri" pitchFamily="34" charset="0"/>
                <a:ea typeface="Calibri" pitchFamily="34" charset="-122"/>
                <a:cs typeface="Calibri" pitchFamily="34" charset="-120"/>
              </a:rPr>
              <a:t>Track: AI</a:t>
            </a:r>
            <a:endParaRPr lang="en-US" sz="1200" dirty="0"/>
          </a:p>
        </p:txBody>
      </p:sp>
      <p:sp>
        <p:nvSpPr>
          <p:cNvPr id="9" name="Shape 7"/>
          <p:cNvSpPr/>
          <p:nvPr/>
        </p:nvSpPr>
        <p:spPr>
          <a:xfrm>
            <a:off x="5760720" y="1097280"/>
            <a:ext cx="1325880" cy="1325880"/>
          </a:xfrm>
          <a:prstGeom prst="roundRect">
            <a:avLst>
              <a:gd name="adj" fmla="val 5517"/>
            </a:avLst>
          </a:prstGeom>
          <a:solidFill>
            <a:srgbClr val="14213D"/>
          </a:solidFill>
          <a:ln w="12700">
            <a:solidFill>
              <a:srgbClr val="14213D"/>
            </a:solidFill>
            <a:prstDash val="solid"/>
          </a:ln>
        </p:spPr>
      </p:sp>
      <p:sp>
        <p:nvSpPr>
          <p:cNvPr id="10" name="Shape 8"/>
          <p:cNvSpPr/>
          <p:nvPr/>
        </p:nvSpPr>
        <p:spPr>
          <a:xfrm>
            <a:off x="6153912" y="1325880"/>
            <a:ext cx="548640" cy="548640"/>
          </a:xfrm>
          <a:prstGeom prst="ellipse">
            <a:avLst/>
          </a:prstGeom>
          <a:solidFill>
            <a:srgbClr val="0E3A4A"/>
          </a:solidFill>
          <a:ln w="12700">
            <a:solidFill>
              <a:srgbClr val="0E3A4A"/>
            </a:solidFill>
            <a:prstDash val="solid"/>
          </a:ln>
        </p:spPr>
      </p:sp>
      <p:pic>
        <p:nvPicPr>
          <p:cNvPr id="11" name="Image 0" descr="preencoded.png"/>
          <p:cNvPicPr>
            <a:picLocks noChangeAspect="1"/>
          </p:cNvPicPr>
          <p:nvPr/>
        </p:nvPicPr>
        <p:blipFill>
          <a:blip r:embed="rId1"/>
          <a:stretch>
            <a:fillRect/>
          </a:stretch>
        </p:blipFill>
        <p:spPr>
          <a:xfrm>
            <a:off x="6291072" y="1463040"/>
            <a:ext cx="274320" cy="274320"/>
          </a:xfrm>
          <a:prstGeom prst="rect">
            <a:avLst/>
          </a:prstGeom>
        </p:spPr>
      </p:pic>
      <p:sp>
        <p:nvSpPr>
          <p:cNvPr id="12" name="Text 9"/>
          <p:cNvSpPr txBox="1"/>
          <p:nvPr/>
        </p:nvSpPr>
        <p:spPr>
          <a:xfrm>
            <a:off x="5760720" y="199339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Detect</a:t>
            </a:r>
            <a:endParaRPr lang="en-US" sz="1400" dirty="0"/>
          </a:p>
        </p:txBody>
      </p:sp>
      <p:sp>
        <p:nvSpPr>
          <p:cNvPr id="13" name="Shape 10"/>
          <p:cNvSpPr/>
          <p:nvPr/>
        </p:nvSpPr>
        <p:spPr>
          <a:xfrm>
            <a:off x="7269480" y="1097280"/>
            <a:ext cx="1325880" cy="1325880"/>
          </a:xfrm>
          <a:prstGeom prst="roundRect">
            <a:avLst>
              <a:gd name="adj" fmla="val 5517"/>
            </a:avLst>
          </a:prstGeom>
          <a:solidFill>
            <a:srgbClr val="14213D"/>
          </a:solidFill>
          <a:ln w="12700">
            <a:solidFill>
              <a:srgbClr val="14213D"/>
            </a:solidFill>
            <a:prstDash val="solid"/>
          </a:ln>
        </p:spPr>
      </p:sp>
      <p:sp>
        <p:nvSpPr>
          <p:cNvPr id="14" name="Shape 11"/>
          <p:cNvSpPr/>
          <p:nvPr/>
        </p:nvSpPr>
        <p:spPr>
          <a:xfrm>
            <a:off x="7662672" y="1325880"/>
            <a:ext cx="548640" cy="548640"/>
          </a:xfrm>
          <a:prstGeom prst="ellipse">
            <a:avLst/>
          </a:prstGeom>
          <a:solidFill>
            <a:srgbClr val="0E3A4A"/>
          </a:solidFill>
          <a:ln w="12700">
            <a:solidFill>
              <a:srgbClr val="0E3A4A"/>
            </a:solidFill>
            <a:prstDash val="solid"/>
          </a:ln>
        </p:spPr>
      </p:sp>
      <p:pic>
        <p:nvPicPr>
          <p:cNvPr id="15" name="Image 1" descr="preencoded.png"/>
          <p:cNvPicPr>
            <a:picLocks noChangeAspect="1"/>
          </p:cNvPicPr>
          <p:nvPr/>
        </p:nvPicPr>
        <p:blipFill>
          <a:blip r:embed="rId2"/>
          <a:stretch>
            <a:fillRect/>
          </a:stretch>
        </p:blipFill>
        <p:spPr>
          <a:xfrm>
            <a:off x="7799832" y="1463040"/>
            <a:ext cx="274320" cy="274320"/>
          </a:xfrm>
          <a:prstGeom prst="rect">
            <a:avLst/>
          </a:prstGeom>
        </p:spPr>
      </p:pic>
      <p:sp>
        <p:nvSpPr>
          <p:cNvPr id="16" name="Text 12"/>
          <p:cNvSpPr txBox="1"/>
          <p:nvPr/>
        </p:nvSpPr>
        <p:spPr>
          <a:xfrm>
            <a:off x="7269480" y="199339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Assess</a:t>
            </a:r>
            <a:endParaRPr lang="en-US" sz="1400" dirty="0"/>
          </a:p>
        </p:txBody>
      </p:sp>
      <p:sp>
        <p:nvSpPr>
          <p:cNvPr id="17" name="Shape 13"/>
          <p:cNvSpPr/>
          <p:nvPr/>
        </p:nvSpPr>
        <p:spPr>
          <a:xfrm>
            <a:off x="5760720" y="2606040"/>
            <a:ext cx="1325880" cy="1325880"/>
          </a:xfrm>
          <a:prstGeom prst="roundRect">
            <a:avLst>
              <a:gd name="adj" fmla="val 5517"/>
            </a:avLst>
          </a:prstGeom>
          <a:solidFill>
            <a:srgbClr val="14213D"/>
          </a:solidFill>
          <a:ln w="12700">
            <a:solidFill>
              <a:srgbClr val="14213D"/>
            </a:solidFill>
            <a:prstDash val="solid"/>
          </a:ln>
        </p:spPr>
      </p:sp>
      <p:sp>
        <p:nvSpPr>
          <p:cNvPr id="18" name="Shape 14"/>
          <p:cNvSpPr/>
          <p:nvPr/>
        </p:nvSpPr>
        <p:spPr>
          <a:xfrm>
            <a:off x="6153912" y="2834640"/>
            <a:ext cx="548640" cy="548640"/>
          </a:xfrm>
          <a:prstGeom prst="ellipse">
            <a:avLst/>
          </a:prstGeom>
          <a:solidFill>
            <a:srgbClr val="0E3A4A"/>
          </a:solidFill>
          <a:ln w="12700">
            <a:solidFill>
              <a:srgbClr val="0E3A4A"/>
            </a:solidFill>
            <a:prstDash val="solid"/>
          </a:ln>
        </p:spPr>
      </p:sp>
      <p:pic>
        <p:nvPicPr>
          <p:cNvPr id="19" name="Image 2" descr="preencoded.png"/>
          <p:cNvPicPr>
            <a:picLocks noChangeAspect="1"/>
          </p:cNvPicPr>
          <p:nvPr/>
        </p:nvPicPr>
        <p:blipFill>
          <a:blip r:embed="rId3"/>
          <a:stretch>
            <a:fillRect/>
          </a:stretch>
        </p:blipFill>
        <p:spPr>
          <a:xfrm>
            <a:off x="6291072" y="2971800"/>
            <a:ext cx="274320" cy="274320"/>
          </a:xfrm>
          <a:prstGeom prst="rect">
            <a:avLst/>
          </a:prstGeom>
        </p:spPr>
      </p:pic>
      <p:sp>
        <p:nvSpPr>
          <p:cNvPr id="20" name="Text 15"/>
          <p:cNvSpPr txBox="1"/>
          <p:nvPr/>
        </p:nvSpPr>
        <p:spPr>
          <a:xfrm>
            <a:off x="5760720" y="350215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Optimise</a:t>
            </a:r>
            <a:endParaRPr lang="en-US" sz="1400" dirty="0"/>
          </a:p>
        </p:txBody>
      </p:sp>
      <p:sp>
        <p:nvSpPr>
          <p:cNvPr id="21" name="Shape 16"/>
          <p:cNvSpPr/>
          <p:nvPr/>
        </p:nvSpPr>
        <p:spPr>
          <a:xfrm>
            <a:off x="7269480" y="2606040"/>
            <a:ext cx="1325880" cy="1325880"/>
          </a:xfrm>
          <a:prstGeom prst="roundRect">
            <a:avLst>
              <a:gd name="adj" fmla="val 5517"/>
            </a:avLst>
          </a:prstGeom>
          <a:solidFill>
            <a:srgbClr val="14213D"/>
          </a:solidFill>
          <a:ln w="12700">
            <a:solidFill>
              <a:srgbClr val="14213D"/>
            </a:solidFill>
            <a:prstDash val="solid"/>
          </a:ln>
        </p:spPr>
      </p:sp>
      <p:sp>
        <p:nvSpPr>
          <p:cNvPr id="22" name="Shape 17"/>
          <p:cNvSpPr/>
          <p:nvPr/>
        </p:nvSpPr>
        <p:spPr>
          <a:xfrm>
            <a:off x="7662672" y="2834640"/>
            <a:ext cx="548640" cy="548640"/>
          </a:xfrm>
          <a:prstGeom prst="ellipse">
            <a:avLst/>
          </a:prstGeom>
          <a:solidFill>
            <a:srgbClr val="0E3A4A"/>
          </a:solidFill>
          <a:ln w="12700">
            <a:solidFill>
              <a:srgbClr val="0E3A4A"/>
            </a:solidFill>
            <a:prstDash val="solid"/>
          </a:ln>
        </p:spPr>
      </p:sp>
      <p:pic>
        <p:nvPicPr>
          <p:cNvPr id="23" name="Image 3" descr="preencoded.png"/>
          <p:cNvPicPr>
            <a:picLocks noChangeAspect="1"/>
          </p:cNvPicPr>
          <p:nvPr/>
        </p:nvPicPr>
        <p:blipFill>
          <a:blip r:embed="rId4"/>
          <a:stretch>
            <a:fillRect/>
          </a:stretch>
        </p:blipFill>
        <p:spPr>
          <a:xfrm>
            <a:off x="7799832" y="2971800"/>
            <a:ext cx="274320" cy="274320"/>
          </a:xfrm>
          <a:prstGeom prst="rect">
            <a:avLst/>
          </a:prstGeom>
        </p:spPr>
      </p:pic>
      <p:sp>
        <p:nvSpPr>
          <p:cNvPr id="24" name="Text 18"/>
          <p:cNvSpPr txBox="1"/>
          <p:nvPr/>
        </p:nvSpPr>
        <p:spPr>
          <a:xfrm>
            <a:off x="7269480" y="3502152"/>
            <a:ext cx="1325880" cy="27432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Act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02  ·  THE PROBLEM</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Two crises hitting at the same time</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2 / 8</a:t>
            </a:r>
            <a:endParaRPr lang="en-US" sz="900" dirty="0"/>
          </a:p>
        </p:txBody>
      </p:sp>
      <p:sp>
        <p:nvSpPr>
          <p:cNvPr id="5" name="Shape 3"/>
          <p:cNvSpPr/>
          <p:nvPr/>
        </p:nvSpPr>
        <p:spPr>
          <a:xfrm>
            <a:off x="457200" y="1280160"/>
            <a:ext cx="3977640" cy="1920240"/>
          </a:xfrm>
          <a:prstGeom prst="roundRect">
            <a:avLst>
              <a:gd name="adj" fmla="val 3810"/>
            </a:avLst>
          </a:prstGeom>
          <a:solidFill>
            <a:srgbClr val="14213D"/>
          </a:solidFill>
          <a:ln w="12700">
            <a:solidFill>
              <a:srgbClr val="14213D"/>
            </a:solidFill>
            <a:prstDash val="solid"/>
          </a:ln>
        </p:spPr>
      </p:sp>
      <p:sp>
        <p:nvSpPr>
          <p:cNvPr id="6" name="Shape 4"/>
          <p:cNvSpPr/>
          <p:nvPr/>
        </p:nvSpPr>
        <p:spPr>
          <a:xfrm>
            <a:off x="685800" y="1508760"/>
            <a:ext cx="502920" cy="502920"/>
          </a:xfrm>
          <a:prstGeom prst="ellipse">
            <a:avLst/>
          </a:prstGeom>
          <a:solidFill>
            <a:srgbClr val="0E3A4A"/>
          </a:solidFill>
          <a:ln w="12700">
            <a:solidFill>
              <a:srgbClr val="0E3A4A"/>
            </a:solidFill>
            <a:prstDash val="solid"/>
          </a:ln>
        </p:spPr>
      </p:sp>
      <p:pic>
        <p:nvPicPr>
          <p:cNvPr id="7" name="Image 0" descr="preencoded.png"/>
          <p:cNvPicPr>
            <a:picLocks noChangeAspect="1"/>
          </p:cNvPicPr>
          <p:nvPr/>
        </p:nvPicPr>
        <p:blipFill>
          <a:blip r:embed="rId1"/>
          <a:stretch>
            <a:fillRect/>
          </a:stretch>
        </p:blipFill>
        <p:spPr>
          <a:xfrm>
            <a:off x="811530" y="1634490"/>
            <a:ext cx="251460" cy="251460"/>
          </a:xfrm>
          <a:prstGeom prst="rect">
            <a:avLst/>
          </a:prstGeom>
        </p:spPr>
      </p:pic>
      <p:sp>
        <p:nvSpPr>
          <p:cNvPr id="8" name="Text 5"/>
          <p:cNvSpPr txBox="1"/>
          <p:nvPr/>
        </p:nvSpPr>
        <p:spPr>
          <a:xfrm>
            <a:off x="1325880" y="1508760"/>
            <a:ext cx="2926080" cy="502920"/>
          </a:xfrm>
          <a:prstGeom prst="rect">
            <a:avLst/>
          </a:prstGeom>
          <a:noFill/>
          <a:ln/>
        </p:spPr>
        <p:txBody>
          <a:bodyPr wrap="square" lIns="0" tIns="0" rIns="0" bIns="0" rtlCol="0" anchor="ctr"/>
          <a:lstStyle/>
          <a:p>
            <a:pPr marL="0" indent="0">
              <a:buNone/>
            </a:pPr>
            <a:r>
              <a:rPr lang="en-US" sz="1700" b="1" dirty="0">
                <a:solidFill>
                  <a:srgbClr val="F1F5F9"/>
                </a:solidFill>
                <a:latin typeface="Calibri" pitchFamily="34" charset="0"/>
                <a:ea typeface="Calibri" pitchFamily="34" charset="-122"/>
                <a:cs typeface="Calibri" pitchFamily="34" charset="-120"/>
              </a:rPr>
              <a:t>Disruption blindness</a:t>
            </a:r>
            <a:endParaRPr lang="en-US" sz="1700" dirty="0"/>
          </a:p>
        </p:txBody>
      </p:sp>
      <p:sp>
        <p:nvSpPr>
          <p:cNvPr id="9" name="Text 6"/>
          <p:cNvSpPr txBox="1"/>
          <p:nvPr/>
        </p:nvSpPr>
        <p:spPr>
          <a:xfrm>
            <a:off x="685800" y="2148840"/>
            <a:ext cx="3520440" cy="960120"/>
          </a:xfrm>
          <a:prstGeom prst="rect">
            <a:avLst/>
          </a:prstGeom>
          <a:noFill/>
          <a:ln/>
        </p:spPr>
        <p:txBody>
          <a:bodyPr wrap="square" lIns="0" tIns="0" rIns="0" bIns="0" rtlCol="0" anchor="t"/>
          <a:lstStyle/>
          <a:p>
            <a:pPr marL="0" indent="0">
              <a:buNone/>
            </a:pPr>
            <a:r>
              <a:rPr lang="en-US" sz="1250" dirty="0">
                <a:solidFill>
                  <a:srgbClr val="CBD5E1"/>
                </a:solidFill>
                <a:latin typeface="Calibri" pitchFamily="34" charset="0"/>
                <a:ea typeface="Calibri" pitchFamily="34" charset="-122"/>
                <a:cs typeface="Calibri" pitchFamily="34" charset="-120"/>
              </a:rPr>
              <a:t>A port strike, blizzard or hurricane hits and the team opens a spreadsheet. Manual triage takes 2–4 hours while reefer trucks sit idle and deadlines pass silently.</a:t>
            </a:r>
            <a:endParaRPr lang="en-US" sz="1250" dirty="0"/>
          </a:p>
        </p:txBody>
      </p:sp>
      <p:sp>
        <p:nvSpPr>
          <p:cNvPr id="10" name="Shape 7"/>
          <p:cNvSpPr/>
          <p:nvPr/>
        </p:nvSpPr>
        <p:spPr>
          <a:xfrm>
            <a:off x="4709160" y="1280160"/>
            <a:ext cx="3977640" cy="1920240"/>
          </a:xfrm>
          <a:prstGeom prst="roundRect">
            <a:avLst>
              <a:gd name="adj" fmla="val 3810"/>
            </a:avLst>
          </a:prstGeom>
          <a:solidFill>
            <a:srgbClr val="14213D"/>
          </a:solidFill>
          <a:ln w="12700">
            <a:solidFill>
              <a:srgbClr val="14213D"/>
            </a:solidFill>
            <a:prstDash val="solid"/>
          </a:ln>
        </p:spPr>
      </p:sp>
      <p:sp>
        <p:nvSpPr>
          <p:cNvPr id="11" name="Shape 8"/>
          <p:cNvSpPr/>
          <p:nvPr/>
        </p:nvSpPr>
        <p:spPr>
          <a:xfrm>
            <a:off x="4937760" y="1508760"/>
            <a:ext cx="502920" cy="502920"/>
          </a:xfrm>
          <a:prstGeom prst="ellipse">
            <a:avLst/>
          </a:prstGeom>
          <a:solidFill>
            <a:srgbClr val="0E3A4A"/>
          </a:solidFill>
          <a:ln w="12700">
            <a:solidFill>
              <a:srgbClr val="0E3A4A"/>
            </a:solidFill>
            <a:prstDash val="solid"/>
          </a:ln>
        </p:spPr>
      </p:sp>
      <p:pic>
        <p:nvPicPr>
          <p:cNvPr id="12" name="Image 1" descr="preencoded.png"/>
          <p:cNvPicPr>
            <a:picLocks noChangeAspect="1"/>
          </p:cNvPicPr>
          <p:nvPr/>
        </p:nvPicPr>
        <p:blipFill>
          <a:blip r:embed="rId2"/>
          <a:stretch>
            <a:fillRect/>
          </a:stretch>
        </p:blipFill>
        <p:spPr>
          <a:xfrm>
            <a:off x="5063490" y="1634490"/>
            <a:ext cx="251460" cy="251460"/>
          </a:xfrm>
          <a:prstGeom prst="rect">
            <a:avLst/>
          </a:prstGeom>
        </p:spPr>
      </p:pic>
      <p:sp>
        <p:nvSpPr>
          <p:cNvPr id="13" name="Text 9"/>
          <p:cNvSpPr txBox="1"/>
          <p:nvPr/>
        </p:nvSpPr>
        <p:spPr>
          <a:xfrm>
            <a:off x="5577840" y="1508760"/>
            <a:ext cx="2926080" cy="502920"/>
          </a:xfrm>
          <a:prstGeom prst="rect">
            <a:avLst/>
          </a:prstGeom>
          <a:noFill/>
          <a:ln/>
        </p:spPr>
        <p:txBody>
          <a:bodyPr wrap="square" lIns="0" tIns="0" rIns="0" bIns="0" rtlCol="0" anchor="ctr"/>
          <a:lstStyle/>
          <a:p>
            <a:pPr marL="0" indent="0">
              <a:buNone/>
            </a:pPr>
            <a:r>
              <a:rPr lang="en-US" sz="1700" b="1" dirty="0">
                <a:solidFill>
                  <a:srgbClr val="F1F5F9"/>
                </a:solidFill>
                <a:latin typeface="Calibri" pitchFamily="34" charset="0"/>
                <a:ea typeface="Calibri" pitchFamily="34" charset="-122"/>
                <a:cs typeface="Calibri" pitchFamily="34" charset="-120"/>
              </a:rPr>
              <a:t>Cold-chain failure found too late</a:t>
            </a:r>
            <a:endParaRPr lang="en-US" sz="1700" dirty="0"/>
          </a:p>
        </p:txBody>
      </p:sp>
      <p:sp>
        <p:nvSpPr>
          <p:cNvPr id="14" name="Text 10"/>
          <p:cNvSpPr txBox="1"/>
          <p:nvPr/>
        </p:nvSpPr>
        <p:spPr>
          <a:xfrm>
            <a:off x="4937760" y="2148840"/>
            <a:ext cx="3520440" cy="960120"/>
          </a:xfrm>
          <a:prstGeom prst="rect">
            <a:avLst/>
          </a:prstGeom>
          <a:noFill/>
          <a:ln/>
        </p:spPr>
        <p:txBody>
          <a:bodyPr wrap="square" lIns="0" tIns="0" rIns="0" bIns="0" rtlCol="0" anchor="t"/>
          <a:lstStyle/>
          <a:p>
            <a:pPr marL="0" indent="0">
              <a:buNone/>
            </a:pPr>
            <a:r>
              <a:rPr lang="en-US" sz="1250" dirty="0">
                <a:solidFill>
                  <a:srgbClr val="CBD5E1"/>
                </a:solidFill>
                <a:latin typeface="Calibri" pitchFamily="34" charset="0"/>
                <a:ea typeface="Calibri" pitchFamily="34" charset="-122"/>
                <a:cs typeface="Calibri" pitchFamily="34" charset="-120"/>
              </a:rPr>
              <a:t>100 active shipments produce 14,400–28,800 IoT readings a day. Nobody reviews them live, so excursions surface at the dock, when nothing can be done.</a:t>
            </a:r>
            <a:endParaRPr lang="en-US" sz="1250" dirty="0"/>
          </a:p>
        </p:txBody>
      </p:sp>
      <p:sp>
        <p:nvSpPr>
          <p:cNvPr id="15" name="Text 11"/>
          <p:cNvSpPr txBox="1"/>
          <p:nvPr/>
        </p:nvSpPr>
        <p:spPr>
          <a:xfrm>
            <a:off x="457200" y="3474720"/>
            <a:ext cx="2560320" cy="640080"/>
          </a:xfrm>
          <a:prstGeom prst="rect">
            <a:avLst/>
          </a:prstGeom>
          <a:noFill/>
          <a:ln/>
        </p:spPr>
        <p:txBody>
          <a:bodyPr wrap="square" lIns="0" tIns="0" rIns="0" bIns="0" rtlCol="0" anchor="t"/>
          <a:lstStyle/>
          <a:p>
            <a:pPr marL="0" indent="0">
              <a:buNone/>
            </a:pPr>
            <a:r>
              <a:rPr lang="en-US" sz="3400" b="1" dirty="0">
                <a:solidFill>
                  <a:srgbClr val="F43F5E"/>
                </a:solidFill>
                <a:latin typeface="Arial" pitchFamily="34" charset="0"/>
                <a:ea typeface="Arial" pitchFamily="34" charset="-122"/>
                <a:cs typeface="Arial" pitchFamily="34" charset="-120"/>
              </a:rPr>
              <a:t>$500K+</a:t>
            </a:r>
            <a:endParaRPr lang="en-US" sz="3400" dirty="0"/>
          </a:p>
        </p:txBody>
      </p:sp>
      <p:sp>
        <p:nvSpPr>
          <p:cNvPr id="16" name="Text 12"/>
          <p:cNvSpPr txBox="1"/>
          <p:nvPr/>
        </p:nvSpPr>
        <p:spPr>
          <a:xfrm>
            <a:off x="457200" y="4114800"/>
            <a:ext cx="2377440" cy="457200"/>
          </a:xfrm>
          <a:prstGeom prst="rect">
            <a:avLst/>
          </a:prstGeom>
          <a:noFill/>
          <a:ln/>
        </p:spPr>
        <p:txBody>
          <a:bodyPr wrap="square" lIns="0" tIns="0" rIns="0" bIns="0" rtlCol="0" anchor="t"/>
          <a:lstStyle/>
          <a:p>
            <a:pPr marL="0" indent="0">
              <a:buNone/>
            </a:pPr>
            <a:r>
              <a:rPr lang="en-US" sz="1150" dirty="0">
                <a:solidFill>
                  <a:srgbClr val="94A3B8"/>
                </a:solidFill>
                <a:latin typeface="Calibri" pitchFamily="34" charset="0"/>
                <a:ea typeface="Calibri" pitchFamily="34" charset="-122"/>
                <a:cs typeface="Calibri" pitchFamily="34" charset="-120"/>
              </a:rPr>
              <a:t>cargo loss per rejected vaccine shipment</a:t>
            </a:r>
            <a:endParaRPr lang="en-US" sz="1150" dirty="0"/>
          </a:p>
        </p:txBody>
      </p:sp>
      <p:sp>
        <p:nvSpPr>
          <p:cNvPr id="17" name="Text 13"/>
          <p:cNvSpPr txBox="1"/>
          <p:nvPr/>
        </p:nvSpPr>
        <p:spPr>
          <a:xfrm>
            <a:off x="3273552" y="3474720"/>
            <a:ext cx="2560320" cy="640080"/>
          </a:xfrm>
          <a:prstGeom prst="rect">
            <a:avLst/>
          </a:prstGeom>
          <a:noFill/>
          <a:ln/>
        </p:spPr>
        <p:txBody>
          <a:bodyPr wrap="square" lIns="0" tIns="0" rIns="0" bIns="0" rtlCol="0" anchor="t"/>
          <a:lstStyle/>
          <a:p>
            <a:pPr marL="0" indent="0">
              <a:buNone/>
            </a:pPr>
            <a:r>
              <a:rPr lang="en-US" sz="3400" b="1" dirty="0">
                <a:solidFill>
                  <a:srgbClr val="F59E0B"/>
                </a:solidFill>
                <a:latin typeface="Arial" pitchFamily="34" charset="0"/>
                <a:ea typeface="Arial" pitchFamily="34" charset="-122"/>
                <a:cs typeface="Arial" pitchFamily="34" charset="-120"/>
              </a:rPr>
              <a:t>$10B+</a:t>
            </a:r>
            <a:endParaRPr lang="en-US" sz="3400" dirty="0"/>
          </a:p>
        </p:txBody>
      </p:sp>
      <p:sp>
        <p:nvSpPr>
          <p:cNvPr id="18" name="Text 14"/>
          <p:cNvSpPr txBox="1"/>
          <p:nvPr/>
        </p:nvSpPr>
        <p:spPr>
          <a:xfrm>
            <a:off x="3273552" y="4114800"/>
            <a:ext cx="2377440" cy="457200"/>
          </a:xfrm>
          <a:prstGeom prst="rect">
            <a:avLst/>
          </a:prstGeom>
          <a:noFill/>
          <a:ln/>
        </p:spPr>
        <p:txBody>
          <a:bodyPr wrap="square" lIns="0" tIns="0" rIns="0" bIns="0" rtlCol="0" anchor="t"/>
          <a:lstStyle/>
          <a:p>
            <a:pPr marL="0" indent="0">
              <a:buNone/>
            </a:pPr>
            <a:r>
              <a:rPr lang="en-US" sz="1150" dirty="0">
                <a:solidFill>
                  <a:srgbClr val="94A3B8"/>
                </a:solidFill>
                <a:latin typeface="Calibri" pitchFamily="34" charset="0"/>
                <a:ea typeface="Calibri" pitchFamily="34" charset="-122"/>
                <a:cs typeface="Calibri" pitchFamily="34" charset="-120"/>
              </a:rPr>
              <a:t>impact of one major port event (LA/Long Beach 2021)</a:t>
            </a:r>
            <a:endParaRPr lang="en-US" sz="1150" dirty="0"/>
          </a:p>
        </p:txBody>
      </p:sp>
      <p:sp>
        <p:nvSpPr>
          <p:cNvPr id="19" name="Text 15"/>
          <p:cNvSpPr txBox="1"/>
          <p:nvPr/>
        </p:nvSpPr>
        <p:spPr>
          <a:xfrm>
            <a:off x="6089904" y="3474720"/>
            <a:ext cx="2560320" cy="640080"/>
          </a:xfrm>
          <a:prstGeom prst="rect">
            <a:avLst/>
          </a:prstGeom>
          <a:noFill/>
          <a:ln/>
        </p:spPr>
        <p:txBody>
          <a:bodyPr wrap="square" lIns="0" tIns="0" rIns="0" bIns="0" rtlCol="0" anchor="t"/>
          <a:lstStyle/>
          <a:p>
            <a:pPr marL="0" indent="0">
              <a:buNone/>
            </a:pPr>
            <a:r>
              <a:rPr lang="en-US" sz="3400" b="1" dirty="0">
                <a:solidFill>
                  <a:srgbClr val="EAB308"/>
                </a:solidFill>
                <a:latin typeface="Arial" pitchFamily="34" charset="0"/>
                <a:ea typeface="Arial" pitchFamily="34" charset="-122"/>
                <a:cs typeface="Arial" pitchFamily="34" charset="-120"/>
              </a:rPr>
              <a:t>4–8 hrs</a:t>
            </a:r>
            <a:endParaRPr lang="en-US" sz="3400" dirty="0"/>
          </a:p>
        </p:txBody>
      </p:sp>
      <p:sp>
        <p:nvSpPr>
          <p:cNvPr id="20" name="Text 16"/>
          <p:cNvSpPr txBox="1"/>
          <p:nvPr/>
        </p:nvSpPr>
        <p:spPr>
          <a:xfrm>
            <a:off x="6089904" y="4114800"/>
            <a:ext cx="2377440" cy="457200"/>
          </a:xfrm>
          <a:prstGeom prst="rect">
            <a:avLst/>
          </a:prstGeom>
          <a:noFill/>
          <a:ln/>
        </p:spPr>
        <p:txBody>
          <a:bodyPr wrap="square" lIns="0" tIns="0" rIns="0" bIns="0" rtlCol="0" anchor="t"/>
          <a:lstStyle/>
          <a:p>
            <a:pPr marL="0" indent="0">
              <a:buNone/>
            </a:pPr>
            <a:r>
              <a:rPr lang="en-US" sz="1150" dirty="0">
                <a:solidFill>
                  <a:srgbClr val="94A3B8"/>
                </a:solidFill>
                <a:latin typeface="Calibri" pitchFamily="34" charset="0"/>
                <a:ea typeface="Calibri" pitchFamily="34" charset="-122"/>
                <a:cs typeface="Calibri" pitchFamily="34" charset="-120"/>
              </a:rPr>
              <a:t>quality-manager time per manual GDP excursion report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03  ·  THE SOLUTION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A real-time supply chain control tower</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3 / 8</a:t>
            </a:r>
            <a:endParaRPr lang="en-US" sz="900" dirty="0"/>
          </a:p>
        </p:txBody>
      </p:sp>
      <p:sp>
        <p:nvSpPr>
          <p:cNvPr id="5" name="Text 3"/>
          <p:cNvSpPr txBox="1"/>
          <p:nvPr/>
        </p:nvSpPr>
        <p:spPr>
          <a:xfrm>
            <a:off x="457200" y="1097280"/>
            <a:ext cx="8229600" cy="320040"/>
          </a:xfrm>
          <a:prstGeom prst="rect">
            <a:avLst/>
          </a:prstGeom>
          <a:noFill/>
          <a:ln/>
        </p:spPr>
        <p:txBody>
          <a:bodyPr wrap="square" lIns="0" tIns="0" rIns="0" bIns="0" rtlCol="0" anchor="t"/>
          <a:lstStyle/>
          <a:p>
            <a:pPr marL="0" indent="0">
              <a:buNone/>
            </a:pPr>
            <a:r>
              <a:rPr lang="en-US" sz="1500" i="1" dirty="0">
                <a:solidFill>
                  <a:srgbClr val="22D3EE"/>
                </a:solidFill>
                <a:latin typeface="Calibri" pitchFamily="34" charset="0"/>
                <a:ea typeface="Calibri" pitchFamily="34" charset="-122"/>
                <a:cs typeface="Calibri" pitchFamily="34" charset="-120"/>
              </a:rPr>
              <a:t>Detect  →  Assess  →  Optimise  →  Act</a:t>
            </a:r>
            <a:endParaRPr lang="en-US" sz="1500" dirty="0"/>
          </a:p>
        </p:txBody>
      </p:sp>
      <p:sp>
        <p:nvSpPr>
          <p:cNvPr id="6" name="Shape 4"/>
          <p:cNvSpPr/>
          <p:nvPr/>
        </p:nvSpPr>
        <p:spPr>
          <a:xfrm>
            <a:off x="457200" y="1645920"/>
            <a:ext cx="1426464" cy="2697480"/>
          </a:xfrm>
          <a:prstGeom prst="roundRect">
            <a:avLst>
              <a:gd name="adj" fmla="val 5128"/>
            </a:avLst>
          </a:prstGeom>
          <a:solidFill>
            <a:srgbClr val="14213D"/>
          </a:solidFill>
          <a:ln w="12700">
            <a:solidFill>
              <a:srgbClr val="14213D"/>
            </a:solidFill>
            <a:prstDash val="solid"/>
          </a:ln>
        </p:spPr>
      </p:sp>
      <p:sp>
        <p:nvSpPr>
          <p:cNvPr id="7" name="Shape 5"/>
          <p:cNvSpPr/>
          <p:nvPr/>
        </p:nvSpPr>
        <p:spPr>
          <a:xfrm>
            <a:off x="896112" y="1874520"/>
            <a:ext cx="548640" cy="548640"/>
          </a:xfrm>
          <a:prstGeom prst="ellipse">
            <a:avLst/>
          </a:prstGeom>
          <a:solidFill>
            <a:srgbClr val="0E3A4A"/>
          </a:solidFill>
          <a:ln w="12700">
            <a:solidFill>
              <a:srgbClr val="0E3A4A"/>
            </a:solidFill>
            <a:prstDash val="solid"/>
          </a:ln>
        </p:spPr>
      </p:sp>
      <p:pic>
        <p:nvPicPr>
          <p:cNvPr id="8" name="Image 0" descr="preencoded.png"/>
          <p:cNvPicPr>
            <a:picLocks noChangeAspect="1"/>
          </p:cNvPicPr>
          <p:nvPr/>
        </p:nvPicPr>
        <p:blipFill>
          <a:blip r:embed="rId1"/>
          <a:stretch>
            <a:fillRect/>
          </a:stretch>
        </p:blipFill>
        <p:spPr>
          <a:xfrm>
            <a:off x="1033272" y="2011680"/>
            <a:ext cx="274320" cy="274320"/>
          </a:xfrm>
          <a:prstGeom prst="rect">
            <a:avLst/>
          </a:prstGeom>
        </p:spPr>
      </p:pic>
      <p:sp>
        <p:nvSpPr>
          <p:cNvPr id="9" name="Text 6"/>
          <p:cNvSpPr txBox="1"/>
          <p:nvPr/>
        </p:nvSpPr>
        <p:spPr>
          <a:xfrm>
            <a:off x="566928"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1. Detect</a:t>
            </a:r>
            <a:endParaRPr lang="en-US" sz="1400" dirty="0"/>
          </a:p>
        </p:txBody>
      </p:sp>
      <p:sp>
        <p:nvSpPr>
          <p:cNvPr id="10" name="Text 7"/>
          <p:cNvSpPr txBox="1"/>
          <p:nvPr/>
        </p:nvSpPr>
        <p:spPr>
          <a:xfrm>
            <a:off x="585216"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Geospatial engine finds every shipment exposed to a disruption</a:t>
            </a:r>
            <a:endParaRPr lang="en-US" sz="1150" dirty="0"/>
          </a:p>
        </p:txBody>
      </p:sp>
      <p:sp>
        <p:nvSpPr>
          <p:cNvPr id="11" name="Shape 8"/>
          <p:cNvSpPr/>
          <p:nvPr/>
        </p:nvSpPr>
        <p:spPr>
          <a:xfrm>
            <a:off x="1929384" y="2148840"/>
            <a:ext cx="182880" cy="0"/>
          </a:xfrm>
          <a:prstGeom prst="line">
            <a:avLst/>
          </a:prstGeom>
          <a:noFill/>
          <a:ln w="15875">
            <a:solidFill>
              <a:srgbClr val="22D3EE"/>
            </a:solidFill>
            <a:prstDash val="solid"/>
            <a:tailEnd type="triangle"/>
          </a:ln>
        </p:spPr>
      </p:sp>
      <p:sp>
        <p:nvSpPr>
          <p:cNvPr id="12" name="Shape 9"/>
          <p:cNvSpPr/>
          <p:nvPr/>
        </p:nvSpPr>
        <p:spPr>
          <a:xfrm>
            <a:off x="2157984" y="1645920"/>
            <a:ext cx="1426464" cy="2697480"/>
          </a:xfrm>
          <a:prstGeom prst="roundRect">
            <a:avLst>
              <a:gd name="adj" fmla="val 5128"/>
            </a:avLst>
          </a:prstGeom>
          <a:solidFill>
            <a:srgbClr val="14213D"/>
          </a:solidFill>
          <a:ln w="12700">
            <a:solidFill>
              <a:srgbClr val="14213D"/>
            </a:solidFill>
            <a:prstDash val="solid"/>
          </a:ln>
        </p:spPr>
      </p:sp>
      <p:sp>
        <p:nvSpPr>
          <p:cNvPr id="13" name="Shape 10"/>
          <p:cNvSpPr/>
          <p:nvPr/>
        </p:nvSpPr>
        <p:spPr>
          <a:xfrm>
            <a:off x="2596896" y="1874520"/>
            <a:ext cx="548640" cy="548640"/>
          </a:xfrm>
          <a:prstGeom prst="ellipse">
            <a:avLst/>
          </a:prstGeom>
          <a:solidFill>
            <a:srgbClr val="0E3A4A"/>
          </a:solidFill>
          <a:ln w="12700">
            <a:solidFill>
              <a:srgbClr val="0E3A4A"/>
            </a:solidFill>
            <a:prstDash val="solid"/>
          </a:ln>
        </p:spPr>
      </p:sp>
      <p:pic>
        <p:nvPicPr>
          <p:cNvPr id="14" name="Image 1" descr="preencoded.png"/>
          <p:cNvPicPr>
            <a:picLocks noChangeAspect="1"/>
          </p:cNvPicPr>
          <p:nvPr/>
        </p:nvPicPr>
        <p:blipFill>
          <a:blip r:embed="rId2"/>
          <a:stretch>
            <a:fillRect/>
          </a:stretch>
        </p:blipFill>
        <p:spPr>
          <a:xfrm>
            <a:off x="2734056" y="2011680"/>
            <a:ext cx="274320" cy="274320"/>
          </a:xfrm>
          <a:prstGeom prst="rect">
            <a:avLst/>
          </a:prstGeom>
        </p:spPr>
      </p:pic>
      <p:sp>
        <p:nvSpPr>
          <p:cNvPr id="15" name="Text 11"/>
          <p:cNvSpPr txBox="1"/>
          <p:nvPr/>
        </p:nvSpPr>
        <p:spPr>
          <a:xfrm>
            <a:off x="2267712"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2. Score</a:t>
            </a:r>
            <a:endParaRPr lang="en-US" sz="1400" dirty="0"/>
          </a:p>
        </p:txBody>
      </p:sp>
      <p:sp>
        <p:nvSpPr>
          <p:cNvPr id="16" name="Text 12"/>
          <p:cNvSpPr txBox="1"/>
          <p:nvPr/>
        </p:nvSpPr>
        <p:spPr>
          <a:xfrm>
            <a:off x="2286000"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6-factor deterministic risk engine ranks each one 0–100</a:t>
            </a:r>
            <a:endParaRPr lang="en-US" sz="1150" dirty="0"/>
          </a:p>
        </p:txBody>
      </p:sp>
      <p:sp>
        <p:nvSpPr>
          <p:cNvPr id="17" name="Shape 13"/>
          <p:cNvSpPr/>
          <p:nvPr/>
        </p:nvSpPr>
        <p:spPr>
          <a:xfrm>
            <a:off x="3630168" y="2148840"/>
            <a:ext cx="182880" cy="0"/>
          </a:xfrm>
          <a:prstGeom prst="line">
            <a:avLst/>
          </a:prstGeom>
          <a:noFill/>
          <a:ln w="15875">
            <a:solidFill>
              <a:srgbClr val="22D3EE"/>
            </a:solidFill>
            <a:prstDash val="solid"/>
            <a:tailEnd type="triangle"/>
          </a:ln>
        </p:spPr>
      </p:sp>
      <p:sp>
        <p:nvSpPr>
          <p:cNvPr id="18" name="Shape 14"/>
          <p:cNvSpPr/>
          <p:nvPr/>
        </p:nvSpPr>
        <p:spPr>
          <a:xfrm>
            <a:off x="3858768" y="1645920"/>
            <a:ext cx="1426464" cy="2697480"/>
          </a:xfrm>
          <a:prstGeom prst="roundRect">
            <a:avLst>
              <a:gd name="adj" fmla="val 5128"/>
            </a:avLst>
          </a:prstGeom>
          <a:solidFill>
            <a:srgbClr val="14213D"/>
          </a:solidFill>
          <a:ln w="12700">
            <a:solidFill>
              <a:srgbClr val="14213D"/>
            </a:solidFill>
            <a:prstDash val="solid"/>
          </a:ln>
        </p:spPr>
      </p:sp>
      <p:sp>
        <p:nvSpPr>
          <p:cNvPr id="19" name="Shape 15"/>
          <p:cNvSpPr/>
          <p:nvPr/>
        </p:nvSpPr>
        <p:spPr>
          <a:xfrm>
            <a:off x="4297680" y="1874520"/>
            <a:ext cx="548640" cy="548640"/>
          </a:xfrm>
          <a:prstGeom prst="ellipse">
            <a:avLst/>
          </a:prstGeom>
          <a:solidFill>
            <a:srgbClr val="0E3A4A"/>
          </a:solidFill>
          <a:ln w="12700">
            <a:solidFill>
              <a:srgbClr val="0E3A4A"/>
            </a:solidFill>
            <a:prstDash val="solid"/>
          </a:ln>
        </p:spPr>
      </p:sp>
      <p:pic>
        <p:nvPicPr>
          <p:cNvPr id="20" name="Image 2" descr="preencoded.png"/>
          <p:cNvPicPr>
            <a:picLocks noChangeAspect="1"/>
          </p:cNvPicPr>
          <p:nvPr/>
        </p:nvPicPr>
        <p:blipFill>
          <a:blip r:embed="rId3"/>
          <a:stretch>
            <a:fillRect/>
          </a:stretch>
        </p:blipFill>
        <p:spPr>
          <a:xfrm>
            <a:off x="4434840" y="2011680"/>
            <a:ext cx="274320" cy="274320"/>
          </a:xfrm>
          <a:prstGeom prst="rect">
            <a:avLst/>
          </a:prstGeom>
        </p:spPr>
      </p:pic>
      <p:sp>
        <p:nvSpPr>
          <p:cNvPr id="21" name="Text 16"/>
          <p:cNvSpPr txBox="1"/>
          <p:nvPr/>
        </p:nvSpPr>
        <p:spPr>
          <a:xfrm>
            <a:off x="3968496"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3. Optimise</a:t>
            </a:r>
            <a:endParaRPr lang="en-US" sz="1400" dirty="0"/>
          </a:p>
        </p:txBody>
      </p:sp>
      <p:sp>
        <p:nvSpPr>
          <p:cNvPr id="22" name="Text 17"/>
          <p:cNvSpPr txBox="1"/>
          <p:nvPr/>
        </p:nvSpPr>
        <p:spPr>
          <a:xfrm>
            <a:off x="3986784"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Ranked reroutes plus matching of idle reefer trucks</a:t>
            </a:r>
            <a:endParaRPr lang="en-US" sz="1150" dirty="0"/>
          </a:p>
        </p:txBody>
      </p:sp>
      <p:sp>
        <p:nvSpPr>
          <p:cNvPr id="23" name="Shape 18"/>
          <p:cNvSpPr/>
          <p:nvPr/>
        </p:nvSpPr>
        <p:spPr>
          <a:xfrm>
            <a:off x="5330952" y="2148840"/>
            <a:ext cx="182880" cy="0"/>
          </a:xfrm>
          <a:prstGeom prst="line">
            <a:avLst/>
          </a:prstGeom>
          <a:noFill/>
          <a:ln w="15875">
            <a:solidFill>
              <a:srgbClr val="22D3EE"/>
            </a:solidFill>
            <a:prstDash val="solid"/>
            <a:tailEnd type="triangle"/>
          </a:ln>
        </p:spPr>
      </p:sp>
      <p:sp>
        <p:nvSpPr>
          <p:cNvPr id="24" name="Shape 19"/>
          <p:cNvSpPr/>
          <p:nvPr/>
        </p:nvSpPr>
        <p:spPr>
          <a:xfrm>
            <a:off x="5559552" y="1645920"/>
            <a:ext cx="1426464" cy="2697480"/>
          </a:xfrm>
          <a:prstGeom prst="roundRect">
            <a:avLst>
              <a:gd name="adj" fmla="val 5128"/>
            </a:avLst>
          </a:prstGeom>
          <a:solidFill>
            <a:srgbClr val="14213D"/>
          </a:solidFill>
          <a:ln w="12700">
            <a:solidFill>
              <a:srgbClr val="14213D"/>
            </a:solidFill>
            <a:prstDash val="solid"/>
          </a:ln>
        </p:spPr>
      </p:sp>
      <p:sp>
        <p:nvSpPr>
          <p:cNvPr id="25" name="Shape 20"/>
          <p:cNvSpPr/>
          <p:nvPr/>
        </p:nvSpPr>
        <p:spPr>
          <a:xfrm>
            <a:off x="5998464" y="1874520"/>
            <a:ext cx="548640" cy="548640"/>
          </a:xfrm>
          <a:prstGeom prst="ellipse">
            <a:avLst/>
          </a:prstGeom>
          <a:solidFill>
            <a:srgbClr val="0E3A4A"/>
          </a:solidFill>
          <a:ln w="12700">
            <a:solidFill>
              <a:srgbClr val="0E3A4A"/>
            </a:solidFill>
            <a:prstDash val="solid"/>
          </a:ln>
        </p:spPr>
      </p:sp>
      <p:pic>
        <p:nvPicPr>
          <p:cNvPr id="26" name="Image 3" descr="preencoded.png"/>
          <p:cNvPicPr>
            <a:picLocks noChangeAspect="1"/>
          </p:cNvPicPr>
          <p:nvPr/>
        </p:nvPicPr>
        <p:blipFill>
          <a:blip r:embed="rId4"/>
          <a:stretch>
            <a:fillRect/>
          </a:stretch>
        </p:blipFill>
        <p:spPr>
          <a:xfrm>
            <a:off x="6135624" y="2011680"/>
            <a:ext cx="274320" cy="274320"/>
          </a:xfrm>
          <a:prstGeom prst="rect">
            <a:avLst/>
          </a:prstGeom>
        </p:spPr>
      </p:pic>
      <p:sp>
        <p:nvSpPr>
          <p:cNvPr id="27" name="Text 21"/>
          <p:cNvSpPr txBox="1"/>
          <p:nvPr/>
        </p:nvSpPr>
        <p:spPr>
          <a:xfrm>
            <a:off x="5669280"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4. Act</a:t>
            </a:r>
            <a:endParaRPr lang="en-US" sz="1400" dirty="0"/>
          </a:p>
        </p:txBody>
      </p:sp>
      <p:sp>
        <p:nvSpPr>
          <p:cNvPr id="28" name="Text 22"/>
          <p:cNvSpPr txBox="1"/>
          <p:nvPr/>
        </p:nvSpPr>
        <p:spPr>
          <a:xfrm>
            <a:off x="5687568"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Human approves; every action writes an immutable audit event</a:t>
            </a:r>
            <a:endParaRPr lang="en-US" sz="1150" dirty="0"/>
          </a:p>
        </p:txBody>
      </p:sp>
      <p:sp>
        <p:nvSpPr>
          <p:cNvPr id="29" name="Shape 23"/>
          <p:cNvSpPr/>
          <p:nvPr/>
        </p:nvSpPr>
        <p:spPr>
          <a:xfrm>
            <a:off x="7031736" y="2148840"/>
            <a:ext cx="182880" cy="0"/>
          </a:xfrm>
          <a:prstGeom prst="line">
            <a:avLst/>
          </a:prstGeom>
          <a:noFill/>
          <a:ln w="15875">
            <a:solidFill>
              <a:srgbClr val="22D3EE"/>
            </a:solidFill>
            <a:prstDash val="solid"/>
            <a:tailEnd type="triangle"/>
          </a:ln>
        </p:spPr>
      </p:sp>
      <p:sp>
        <p:nvSpPr>
          <p:cNvPr id="30" name="Shape 24"/>
          <p:cNvSpPr/>
          <p:nvPr/>
        </p:nvSpPr>
        <p:spPr>
          <a:xfrm>
            <a:off x="7260336" y="1645920"/>
            <a:ext cx="1426464" cy="2697480"/>
          </a:xfrm>
          <a:prstGeom prst="roundRect">
            <a:avLst>
              <a:gd name="adj" fmla="val 5128"/>
            </a:avLst>
          </a:prstGeom>
          <a:solidFill>
            <a:srgbClr val="14213D"/>
          </a:solidFill>
          <a:ln w="12700">
            <a:solidFill>
              <a:srgbClr val="14213D"/>
            </a:solidFill>
            <a:prstDash val="solid"/>
          </a:ln>
        </p:spPr>
      </p:sp>
      <p:sp>
        <p:nvSpPr>
          <p:cNvPr id="31" name="Shape 25"/>
          <p:cNvSpPr/>
          <p:nvPr/>
        </p:nvSpPr>
        <p:spPr>
          <a:xfrm>
            <a:off x="7699248" y="1874520"/>
            <a:ext cx="548640" cy="548640"/>
          </a:xfrm>
          <a:prstGeom prst="ellipse">
            <a:avLst/>
          </a:prstGeom>
          <a:solidFill>
            <a:srgbClr val="2A2560"/>
          </a:solidFill>
          <a:ln w="12700">
            <a:solidFill>
              <a:srgbClr val="2A2560"/>
            </a:solidFill>
            <a:prstDash val="solid"/>
          </a:ln>
        </p:spPr>
      </p:sp>
      <p:pic>
        <p:nvPicPr>
          <p:cNvPr id="32" name="Image 4" descr="preencoded.png"/>
          <p:cNvPicPr>
            <a:picLocks noChangeAspect="1"/>
          </p:cNvPicPr>
          <p:nvPr/>
        </p:nvPicPr>
        <p:blipFill>
          <a:blip r:embed="rId5"/>
          <a:stretch>
            <a:fillRect/>
          </a:stretch>
        </p:blipFill>
        <p:spPr>
          <a:xfrm>
            <a:off x="7836408" y="2011680"/>
            <a:ext cx="274320" cy="274320"/>
          </a:xfrm>
          <a:prstGeom prst="rect">
            <a:avLst/>
          </a:prstGeom>
        </p:spPr>
      </p:pic>
      <p:sp>
        <p:nvSpPr>
          <p:cNvPr id="33" name="Text 26"/>
          <p:cNvSpPr txBox="1"/>
          <p:nvPr/>
        </p:nvSpPr>
        <p:spPr>
          <a:xfrm>
            <a:off x="7370064" y="2560320"/>
            <a:ext cx="1207008" cy="320040"/>
          </a:xfrm>
          <a:prstGeom prst="rect">
            <a:avLst/>
          </a:prstGeom>
          <a:noFill/>
          <a:ln/>
        </p:spPr>
        <p:txBody>
          <a:bodyPr wrap="square" lIns="0" tIns="0" rIns="0" bIns="0" rtlCol="0" anchor="t"/>
          <a:lstStyle/>
          <a:p>
            <a:pPr marL="0" indent="0" algn="ctr">
              <a:buNone/>
            </a:pPr>
            <a:r>
              <a:rPr lang="en-US" sz="1400" b="1" dirty="0">
                <a:solidFill>
                  <a:srgbClr val="F1F5F9"/>
                </a:solidFill>
                <a:latin typeface="Calibri" pitchFamily="34" charset="0"/>
                <a:ea typeface="Calibri" pitchFamily="34" charset="-122"/>
                <a:cs typeface="Calibri" pitchFamily="34" charset="-120"/>
              </a:rPr>
              <a:t>5. Monitor</a:t>
            </a:r>
            <a:endParaRPr lang="en-US" sz="1400" dirty="0"/>
          </a:p>
        </p:txBody>
      </p:sp>
      <p:sp>
        <p:nvSpPr>
          <p:cNvPr id="34" name="Text 27"/>
          <p:cNvSpPr txBox="1"/>
          <p:nvPr/>
        </p:nvSpPr>
        <p:spPr>
          <a:xfrm>
            <a:off x="7388352" y="2944368"/>
            <a:ext cx="1170432" cy="1280160"/>
          </a:xfrm>
          <a:prstGeom prst="rect">
            <a:avLst/>
          </a:prstGeom>
          <a:noFill/>
          <a:ln/>
        </p:spPr>
        <p:txBody>
          <a:bodyPr wrap="square" lIns="0" tIns="0" rIns="0" bIns="0" rtlCol="0" anchor="t"/>
          <a:lstStyle/>
          <a:p>
            <a:pPr marL="0" indent="0" algn="ctr">
              <a:buNone/>
            </a:pPr>
            <a:r>
              <a:rPr lang="en-US" sz="1150" dirty="0">
                <a:solidFill>
                  <a:srgbClr val="CBD5E1"/>
                </a:solidFill>
                <a:latin typeface="Calibri" pitchFamily="34" charset="0"/>
                <a:ea typeface="Calibri" pitchFamily="34" charset="-122"/>
                <a:cs typeface="Calibri" pitchFamily="34" charset="-120"/>
              </a:rPr>
              <a:t>IoT telemetry watched 24/7; watsonx.ai classifies excursions before delivery</a:t>
            </a:r>
            <a:endParaRPr lang="en-US" sz="1150" dirty="0"/>
          </a:p>
        </p:txBody>
      </p:sp>
      <p:sp>
        <p:nvSpPr>
          <p:cNvPr id="35" name="Text 28"/>
          <p:cNvSpPr txBox="1"/>
          <p:nvPr/>
        </p:nvSpPr>
        <p:spPr>
          <a:xfrm>
            <a:off x="457200" y="4526280"/>
            <a:ext cx="6858000" cy="274320"/>
          </a:xfrm>
          <a:prstGeom prst="rect">
            <a:avLst/>
          </a:prstGeom>
          <a:noFill/>
          <a:ln/>
        </p:spPr>
        <p:txBody>
          <a:bodyPr wrap="square" lIns="0" tIns="0" rIns="0" bIns="0" rtlCol="0" anchor="t"/>
          <a:lstStyle/>
          <a:p>
            <a:pPr marL="0" indent="0">
              <a:buNone/>
            </a:pPr>
            <a:r>
              <a:rPr lang="en-US" sz="1200" dirty="0">
                <a:solidFill>
                  <a:srgbClr val="94A3B8"/>
                </a:solidFill>
                <a:latin typeface="Calibri" pitchFamily="34" charset="0"/>
                <a:ea typeface="Calibri" pitchFamily="34" charset="-122"/>
                <a:cs typeface="Calibri" pitchFamily="34" charset="-120"/>
              </a:rPr>
              <a:t>Deterministic engines calculate  ·  watsonx.ai explains  ·  the operator decides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04  ·  ARCHITECTURE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Deterministic engines + AI overlay</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4 / 8</a:t>
            </a:r>
            <a:endParaRPr lang="en-US" sz="900" dirty="0"/>
          </a:p>
        </p:txBody>
      </p:sp>
      <p:sp>
        <p:nvSpPr>
          <p:cNvPr id="5" name="Shape 3"/>
          <p:cNvSpPr/>
          <p:nvPr/>
        </p:nvSpPr>
        <p:spPr>
          <a:xfrm>
            <a:off x="457200" y="1280160"/>
            <a:ext cx="1371600" cy="548640"/>
          </a:xfrm>
          <a:prstGeom prst="roundRect">
            <a:avLst>
              <a:gd name="adj" fmla="val 10000"/>
            </a:avLst>
          </a:prstGeom>
          <a:solidFill>
            <a:srgbClr val="1F2A44"/>
          </a:solidFill>
          <a:ln w="12700">
            <a:solidFill>
              <a:srgbClr val="1F2A44"/>
            </a:solidFill>
            <a:prstDash val="solid"/>
          </a:ln>
        </p:spPr>
      </p:sp>
      <p:sp>
        <p:nvSpPr>
          <p:cNvPr id="6" name="Text 4"/>
          <p:cNvSpPr txBox="1"/>
          <p:nvPr/>
        </p:nvSpPr>
        <p:spPr>
          <a:xfrm>
            <a:off x="502920" y="1280160"/>
            <a:ext cx="1280160" cy="548640"/>
          </a:xfrm>
          <a:prstGeom prst="rect">
            <a:avLst/>
          </a:prstGeom>
          <a:noFill/>
          <a:ln/>
        </p:spPr>
        <p:txBody>
          <a:bodyPr wrap="square" lIns="0" tIns="0" rIns="0" bIns="0" rtlCol="0" anchor="ctr"/>
          <a:lstStyle/>
          <a:p>
            <a:pPr marL="0" indent="0" algn="ctr">
              <a:buNone/>
            </a:pPr>
            <a:r>
              <a:rPr lang="en-US" sz="1050" b="1" dirty="0">
                <a:solidFill>
                  <a:srgbClr val="CBD5E1"/>
                </a:solidFill>
                <a:latin typeface="Calibri" pitchFamily="34" charset="0"/>
                <a:ea typeface="Calibri" pitchFamily="34" charset="-122"/>
                <a:cs typeface="Calibri" pitchFamily="34" charset="-120"/>
              </a:rPr>
              <a:t>IoT Sensor Stream (5s)</a:t>
            </a:r>
            <a:endParaRPr lang="en-US" sz="1050" dirty="0"/>
          </a:p>
        </p:txBody>
      </p:sp>
      <p:sp>
        <p:nvSpPr>
          <p:cNvPr id="7" name="Shape 5"/>
          <p:cNvSpPr/>
          <p:nvPr/>
        </p:nvSpPr>
        <p:spPr>
          <a:xfrm>
            <a:off x="2171700" y="1280160"/>
            <a:ext cx="1371600" cy="548640"/>
          </a:xfrm>
          <a:prstGeom prst="roundRect">
            <a:avLst>
              <a:gd name="adj" fmla="val 10000"/>
            </a:avLst>
          </a:prstGeom>
          <a:solidFill>
            <a:srgbClr val="0E3A4A"/>
          </a:solidFill>
          <a:ln w="12700">
            <a:solidFill>
              <a:srgbClr val="0E3A4A"/>
            </a:solidFill>
            <a:prstDash val="solid"/>
          </a:ln>
        </p:spPr>
      </p:sp>
      <p:sp>
        <p:nvSpPr>
          <p:cNvPr id="8" name="Text 6"/>
          <p:cNvSpPr txBox="1"/>
          <p:nvPr/>
        </p:nvSpPr>
        <p:spPr>
          <a:xfrm>
            <a:off x="2217420" y="128016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Cold Chain Engine</a:t>
            </a:r>
            <a:endParaRPr lang="en-US" sz="1050" dirty="0"/>
          </a:p>
        </p:txBody>
      </p:sp>
      <p:sp>
        <p:nvSpPr>
          <p:cNvPr id="9" name="Shape 7"/>
          <p:cNvSpPr/>
          <p:nvPr/>
        </p:nvSpPr>
        <p:spPr>
          <a:xfrm>
            <a:off x="3886200" y="1280160"/>
            <a:ext cx="1371600" cy="548640"/>
          </a:xfrm>
          <a:prstGeom prst="roundRect">
            <a:avLst>
              <a:gd name="adj" fmla="val 10000"/>
            </a:avLst>
          </a:prstGeom>
          <a:solidFill>
            <a:srgbClr val="2A2560"/>
          </a:solidFill>
          <a:ln w="12700">
            <a:solidFill>
              <a:srgbClr val="2A2560"/>
            </a:solidFill>
            <a:prstDash val="solid"/>
          </a:ln>
        </p:spPr>
      </p:sp>
      <p:sp>
        <p:nvSpPr>
          <p:cNvPr id="10" name="Text 8"/>
          <p:cNvSpPr txBox="1"/>
          <p:nvPr/>
        </p:nvSpPr>
        <p:spPr>
          <a:xfrm>
            <a:off x="3931920" y="1280160"/>
            <a:ext cx="1280160" cy="548640"/>
          </a:xfrm>
          <a:prstGeom prst="rect">
            <a:avLst/>
          </a:prstGeom>
          <a:noFill/>
          <a:ln/>
        </p:spPr>
        <p:txBody>
          <a:bodyPr wrap="square" lIns="0" tIns="0" rIns="0" bIns="0" rtlCol="0" anchor="ctr"/>
          <a:lstStyle/>
          <a:p>
            <a:pPr marL="0" indent="0" algn="ctr">
              <a:buNone/>
            </a:pPr>
            <a:r>
              <a:rPr lang="en-US" sz="1050" b="1" dirty="0">
                <a:solidFill>
                  <a:srgbClr val="DDD6FE"/>
                </a:solidFill>
                <a:latin typeface="Calibri" pitchFamily="34" charset="0"/>
                <a:ea typeface="Calibri" pitchFamily="34" charset="-122"/>
                <a:cs typeface="Calibri" pitchFamily="34" charset="-120"/>
              </a:rPr>
              <a:t>watsonx.ai GDP Classification</a:t>
            </a:r>
            <a:endParaRPr lang="en-US" sz="1050" dirty="0"/>
          </a:p>
        </p:txBody>
      </p:sp>
      <p:sp>
        <p:nvSpPr>
          <p:cNvPr id="11" name="Shape 9"/>
          <p:cNvSpPr/>
          <p:nvPr/>
        </p:nvSpPr>
        <p:spPr>
          <a:xfrm>
            <a:off x="1865376" y="1554480"/>
            <a:ext cx="274320" cy="0"/>
          </a:xfrm>
          <a:prstGeom prst="line">
            <a:avLst/>
          </a:prstGeom>
          <a:noFill/>
          <a:ln w="15875">
            <a:solidFill>
              <a:srgbClr val="94A3B8"/>
            </a:solidFill>
            <a:prstDash val="solid"/>
            <a:tailEnd type="triangle"/>
          </a:ln>
        </p:spPr>
      </p:sp>
      <p:sp>
        <p:nvSpPr>
          <p:cNvPr id="12" name="Shape 10"/>
          <p:cNvSpPr/>
          <p:nvPr/>
        </p:nvSpPr>
        <p:spPr>
          <a:xfrm>
            <a:off x="3579876" y="1554480"/>
            <a:ext cx="274320" cy="0"/>
          </a:xfrm>
          <a:prstGeom prst="line">
            <a:avLst/>
          </a:prstGeom>
          <a:noFill/>
          <a:ln w="15875">
            <a:solidFill>
              <a:srgbClr val="94A3B8"/>
            </a:solidFill>
            <a:prstDash val="solid"/>
            <a:tailEnd type="triangle"/>
          </a:ln>
        </p:spPr>
      </p:sp>
      <p:sp>
        <p:nvSpPr>
          <p:cNvPr id="13" name="Shape 11"/>
          <p:cNvSpPr/>
          <p:nvPr/>
        </p:nvSpPr>
        <p:spPr>
          <a:xfrm>
            <a:off x="457200" y="2103120"/>
            <a:ext cx="1371600" cy="548640"/>
          </a:xfrm>
          <a:prstGeom prst="roundRect">
            <a:avLst>
              <a:gd name="adj" fmla="val 10000"/>
            </a:avLst>
          </a:prstGeom>
          <a:solidFill>
            <a:srgbClr val="1F2A44"/>
          </a:solidFill>
          <a:ln w="12700">
            <a:solidFill>
              <a:srgbClr val="1F2A44"/>
            </a:solidFill>
            <a:prstDash val="solid"/>
          </a:ln>
        </p:spPr>
      </p:sp>
      <p:sp>
        <p:nvSpPr>
          <p:cNvPr id="14" name="Text 12"/>
          <p:cNvSpPr txBox="1"/>
          <p:nvPr/>
        </p:nvSpPr>
        <p:spPr>
          <a:xfrm>
            <a:off x="502920" y="2103120"/>
            <a:ext cx="1280160" cy="548640"/>
          </a:xfrm>
          <a:prstGeom prst="rect">
            <a:avLst/>
          </a:prstGeom>
          <a:noFill/>
          <a:ln/>
        </p:spPr>
        <p:txBody>
          <a:bodyPr wrap="square" lIns="0" tIns="0" rIns="0" bIns="0" rtlCol="0" anchor="ctr"/>
          <a:lstStyle/>
          <a:p>
            <a:pPr marL="0" indent="0" algn="ctr">
              <a:buNone/>
            </a:pPr>
            <a:r>
              <a:rPr lang="en-US" sz="1050" b="1" dirty="0">
                <a:solidFill>
                  <a:srgbClr val="CBD5E1"/>
                </a:solidFill>
                <a:latin typeface="Calibri" pitchFamily="34" charset="0"/>
                <a:ea typeface="Calibri" pitchFamily="34" charset="-122"/>
                <a:cs typeface="Calibri" pitchFamily="34" charset="-120"/>
              </a:rPr>
              <a:t>Disruption Event</a:t>
            </a:r>
            <a:endParaRPr lang="en-US" sz="1050" dirty="0"/>
          </a:p>
        </p:txBody>
      </p:sp>
      <p:sp>
        <p:nvSpPr>
          <p:cNvPr id="15" name="Shape 13"/>
          <p:cNvSpPr/>
          <p:nvPr/>
        </p:nvSpPr>
        <p:spPr>
          <a:xfrm>
            <a:off x="1865376" y="2377440"/>
            <a:ext cx="274320" cy="0"/>
          </a:xfrm>
          <a:prstGeom prst="line">
            <a:avLst/>
          </a:prstGeom>
          <a:noFill/>
          <a:ln w="15875">
            <a:solidFill>
              <a:srgbClr val="94A3B8"/>
            </a:solidFill>
            <a:prstDash val="solid"/>
            <a:tailEnd type="triangle"/>
          </a:ln>
        </p:spPr>
      </p:sp>
      <p:sp>
        <p:nvSpPr>
          <p:cNvPr id="16" name="Shape 14"/>
          <p:cNvSpPr/>
          <p:nvPr/>
        </p:nvSpPr>
        <p:spPr>
          <a:xfrm>
            <a:off x="2171700" y="2103120"/>
            <a:ext cx="1371600" cy="548640"/>
          </a:xfrm>
          <a:prstGeom prst="roundRect">
            <a:avLst>
              <a:gd name="adj" fmla="val 10000"/>
            </a:avLst>
          </a:prstGeom>
          <a:solidFill>
            <a:srgbClr val="0E3A4A"/>
          </a:solidFill>
          <a:ln w="12700">
            <a:solidFill>
              <a:srgbClr val="0E3A4A"/>
            </a:solidFill>
            <a:prstDash val="solid"/>
          </a:ln>
        </p:spPr>
      </p:sp>
      <p:sp>
        <p:nvSpPr>
          <p:cNvPr id="17" name="Text 15"/>
          <p:cNvSpPr txBox="1"/>
          <p:nvPr/>
        </p:nvSpPr>
        <p:spPr>
          <a:xfrm>
            <a:off x="2217420" y="210312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Impact Engine</a:t>
            </a:r>
            <a:endParaRPr lang="en-US" sz="1050" dirty="0"/>
          </a:p>
        </p:txBody>
      </p:sp>
      <p:sp>
        <p:nvSpPr>
          <p:cNvPr id="18" name="Shape 16"/>
          <p:cNvSpPr/>
          <p:nvPr/>
        </p:nvSpPr>
        <p:spPr>
          <a:xfrm>
            <a:off x="3579876" y="2377440"/>
            <a:ext cx="274320" cy="0"/>
          </a:xfrm>
          <a:prstGeom prst="line">
            <a:avLst/>
          </a:prstGeom>
          <a:noFill/>
          <a:ln w="15875">
            <a:solidFill>
              <a:srgbClr val="94A3B8"/>
            </a:solidFill>
            <a:prstDash val="solid"/>
            <a:tailEnd type="triangle"/>
          </a:ln>
        </p:spPr>
      </p:sp>
      <p:sp>
        <p:nvSpPr>
          <p:cNvPr id="19" name="Shape 17"/>
          <p:cNvSpPr/>
          <p:nvPr/>
        </p:nvSpPr>
        <p:spPr>
          <a:xfrm>
            <a:off x="3886200" y="2103120"/>
            <a:ext cx="1371600" cy="548640"/>
          </a:xfrm>
          <a:prstGeom prst="roundRect">
            <a:avLst>
              <a:gd name="adj" fmla="val 10000"/>
            </a:avLst>
          </a:prstGeom>
          <a:solidFill>
            <a:srgbClr val="0E3A4A"/>
          </a:solidFill>
          <a:ln w="12700">
            <a:solidFill>
              <a:srgbClr val="0E3A4A"/>
            </a:solidFill>
            <a:prstDash val="solid"/>
          </a:ln>
        </p:spPr>
      </p:sp>
      <p:sp>
        <p:nvSpPr>
          <p:cNvPr id="20" name="Text 18"/>
          <p:cNvSpPr txBox="1"/>
          <p:nvPr/>
        </p:nvSpPr>
        <p:spPr>
          <a:xfrm>
            <a:off x="3931920" y="210312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Risk Engine</a:t>
            </a:r>
            <a:endParaRPr lang="en-US" sz="1050" dirty="0"/>
          </a:p>
        </p:txBody>
      </p:sp>
      <p:sp>
        <p:nvSpPr>
          <p:cNvPr id="21" name="Shape 19"/>
          <p:cNvSpPr/>
          <p:nvPr/>
        </p:nvSpPr>
        <p:spPr>
          <a:xfrm>
            <a:off x="5294376" y="2377440"/>
            <a:ext cx="274320" cy="0"/>
          </a:xfrm>
          <a:prstGeom prst="line">
            <a:avLst/>
          </a:prstGeom>
          <a:noFill/>
          <a:ln w="15875">
            <a:solidFill>
              <a:srgbClr val="94A3B8"/>
            </a:solidFill>
            <a:prstDash val="solid"/>
            <a:tailEnd type="triangle"/>
          </a:ln>
        </p:spPr>
      </p:sp>
      <p:sp>
        <p:nvSpPr>
          <p:cNvPr id="22" name="Shape 20"/>
          <p:cNvSpPr/>
          <p:nvPr/>
        </p:nvSpPr>
        <p:spPr>
          <a:xfrm>
            <a:off x="5600700" y="2103120"/>
            <a:ext cx="1371600" cy="548640"/>
          </a:xfrm>
          <a:prstGeom prst="roundRect">
            <a:avLst>
              <a:gd name="adj" fmla="val 10000"/>
            </a:avLst>
          </a:prstGeom>
          <a:solidFill>
            <a:srgbClr val="0E3A4A"/>
          </a:solidFill>
          <a:ln w="12700">
            <a:solidFill>
              <a:srgbClr val="0E3A4A"/>
            </a:solidFill>
            <a:prstDash val="solid"/>
          </a:ln>
        </p:spPr>
      </p:sp>
      <p:sp>
        <p:nvSpPr>
          <p:cNvPr id="23" name="Text 21"/>
          <p:cNvSpPr txBox="1"/>
          <p:nvPr/>
        </p:nvSpPr>
        <p:spPr>
          <a:xfrm>
            <a:off x="5646420" y="210312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Route Optimizer</a:t>
            </a:r>
            <a:endParaRPr lang="en-US" sz="1050" dirty="0"/>
          </a:p>
        </p:txBody>
      </p:sp>
      <p:sp>
        <p:nvSpPr>
          <p:cNvPr id="24" name="Shape 22"/>
          <p:cNvSpPr/>
          <p:nvPr/>
        </p:nvSpPr>
        <p:spPr>
          <a:xfrm>
            <a:off x="7008876" y="2377440"/>
            <a:ext cx="274320" cy="0"/>
          </a:xfrm>
          <a:prstGeom prst="line">
            <a:avLst/>
          </a:prstGeom>
          <a:noFill/>
          <a:ln w="15875">
            <a:solidFill>
              <a:srgbClr val="94A3B8"/>
            </a:solidFill>
            <a:prstDash val="solid"/>
            <a:tailEnd type="triangle"/>
          </a:ln>
        </p:spPr>
      </p:sp>
      <p:sp>
        <p:nvSpPr>
          <p:cNvPr id="25" name="Shape 23"/>
          <p:cNvSpPr/>
          <p:nvPr/>
        </p:nvSpPr>
        <p:spPr>
          <a:xfrm>
            <a:off x="7315200" y="2103120"/>
            <a:ext cx="1371600" cy="548640"/>
          </a:xfrm>
          <a:prstGeom prst="roundRect">
            <a:avLst>
              <a:gd name="adj" fmla="val 10000"/>
            </a:avLst>
          </a:prstGeom>
          <a:solidFill>
            <a:srgbClr val="0E3A4A"/>
          </a:solidFill>
          <a:ln w="12700">
            <a:solidFill>
              <a:srgbClr val="0E3A4A"/>
            </a:solidFill>
            <a:prstDash val="solid"/>
          </a:ln>
        </p:spPr>
      </p:sp>
      <p:sp>
        <p:nvSpPr>
          <p:cNvPr id="26" name="Text 24"/>
          <p:cNvSpPr txBox="1"/>
          <p:nvPr/>
        </p:nvSpPr>
        <p:spPr>
          <a:xfrm>
            <a:off x="7360920" y="2103120"/>
            <a:ext cx="1280160" cy="548640"/>
          </a:xfrm>
          <a:prstGeom prst="rect">
            <a:avLst/>
          </a:prstGeom>
          <a:noFill/>
          <a:ln/>
        </p:spPr>
        <p:txBody>
          <a:bodyPr wrap="square" lIns="0" tIns="0" rIns="0" bIns="0" rtlCol="0" anchor="ctr"/>
          <a:lstStyle/>
          <a:p>
            <a:pPr marL="0" indent="0" algn="ctr">
              <a:buNone/>
            </a:pPr>
            <a:r>
              <a:rPr lang="en-US" sz="1050" b="1" dirty="0">
                <a:solidFill>
                  <a:srgbClr val="A5F3FC"/>
                </a:solidFill>
                <a:latin typeface="Calibri" pitchFamily="34" charset="0"/>
                <a:ea typeface="Calibri" pitchFamily="34" charset="-122"/>
                <a:cs typeface="Calibri" pitchFamily="34" charset="-120"/>
              </a:rPr>
              <a:t>Fleet Matcher</a:t>
            </a:r>
            <a:endParaRPr lang="en-US" sz="1050" dirty="0"/>
          </a:p>
        </p:txBody>
      </p:sp>
      <p:sp>
        <p:nvSpPr>
          <p:cNvPr id="27" name="Shape 25"/>
          <p:cNvSpPr/>
          <p:nvPr/>
        </p:nvSpPr>
        <p:spPr>
          <a:xfrm>
            <a:off x="457200" y="2926080"/>
            <a:ext cx="1371600" cy="548640"/>
          </a:xfrm>
          <a:prstGeom prst="roundRect">
            <a:avLst>
              <a:gd name="adj" fmla="val 10000"/>
            </a:avLst>
          </a:prstGeom>
          <a:solidFill>
            <a:srgbClr val="1F2A44"/>
          </a:solidFill>
          <a:ln w="12700">
            <a:solidFill>
              <a:srgbClr val="1F2A44"/>
            </a:solidFill>
            <a:prstDash val="solid"/>
          </a:ln>
        </p:spPr>
      </p:sp>
      <p:sp>
        <p:nvSpPr>
          <p:cNvPr id="28" name="Text 26"/>
          <p:cNvSpPr txBox="1"/>
          <p:nvPr/>
        </p:nvSpPr>
        <p:spPr>
          <a:xfrm>
            <a:off x="502920" y="2926080"/>
            <a:ext cx="1280160" cy="548640"/>
          </a:xfrm>
          <a:prstGeom prst="rect">
            <a:avLst/>
          </a:prstGeom>
          <a:noFill/>
          <a:ln/>
        </p:spPr>
        <p:txBody>
          <a:bodyPr wrap="square" lIns="0" tIns="0" rIns="0" bIns="0" rtlCol="0" anchor="ctr"/>
          <a:lstStyle/>
          <a:p>
            <a:pPr marL="0" indent="0" algn="ctr">
              <a:buNone/>
            </a:pPr>
            <a:r>
              <a:rPr lang="en-US" sz="1050" b="1" dirty="0">
                <a:solidFill>
                  <a:srgbClr val="CBD5E1"/>
                </a:solidFill>
                <a:latin typeface="Calibri" pitchFamily="34" charset="0"/>
                <a:ea typeface="Calibri" pitchFamily="34" charset="-122"/>
                <a:cs typeface="Calibri" pitchFamily="34" charset="-120"/>
              </a:rPr>
              <a:t>Operator Chat</a:t>
            </a:r>
            <a:endParaRPr lang="en-US" sz="1050" dirty="0"/>
          </a:p>
        </p:txBody>
      </p:sp>
      <p:sp>
        <p:nvSpPr>
          <p:cNvPr id="29" name="Shape 27"/>
          <p:cNvSpPr/>
          <p:nvPr/>
        </p:nvSpPr>
        <p:spPr>
          <a:xfrm>
            <a:off x="2171700" y="2926080"/>
            <a:ext cx="1371600" cy="548640"/>
          </a:xfrm>
          <a:prstGeom prst="roundRect">
            <a:avLst>
              <a:gd name="adj" fmla="val 10000"/>
            </a:avLst>
          </a:prstGeom>
          <a:solidFill>
            <a:srgbClr val="2A2560"/>
          </a:solidFill>
          <a:ln w="12700">
            <a:solidFill>
              <a:srgbClr val="2A2560"/>
            </a:solidFill>
            <a:prstDash val="solid"/>
          </a:ln>
        </p:spPr>
      </p:sp>
      <p:sp>
        <p:nvSpPr>
          <p:cNvPr id="30" name="Text 28"/>
          <p:cNvSpPr txBox="1"/>
          <p:nvPr/>
        </p:nvSpPr>
        <p:spPr>
          <a:xfrm>
            <a:off x="2217420" y="2926080"/>
            <a:ext cx="1280160" cy="548640"/>
          </a:xfrm>
          <a:prstGeom prst="rect">
            <a:avLst/>
          </a:prstGeom>
          <a:noFill/>
          <a:ln/>
        </p:spPr>
        <p:txBody>
          <a:bodyPr wrap="square" lIns="0" tIns="0" rIns="0" bIns="0" rtlCol="0" anchor="ctr"/>
          <a:lstStyle/>
          <a:p>
            <a:pPr marL="0" indent="0" algn="ctr">
              <a:buNone/>
            </a:pPr>
            <a:r>
              <a:rPr lang="en-US" sz="1050" b="1" dirty="0">
                <a:solidFill>
                  <a:srgbClr val="DDD6FE"/>
                </a:solidFill>
                <a:latin typeface="Calibri" pitchFamily="34" charset="0"/>
                <a:ea typeface="Calibri" pitchFamily="34" charset="-122"/>
                <a:cs typeface="Calibri" pitchFamily="34" charset="-120"/>
              </a:rPr>
              <a:t>watsonx.ai Copilot (live context)</a:t>
            </a:r>
            <a:endParaRPr lang="en-US" sz="1050" dirty="0"/>
          </a:p>
        </p:txBody>
      </p:sp>
      <p:sp>
        <p:nvSpPr>
          <p:cNvPr id="31" name="Shape 29"/>
          <p:cNvSpPr/>
          <p:nvPr/>
        </p:nvSpPr>
        <p:spPr>
          <a:xfrm>
            <a:off x="1865376" y="3200400"/>
            <a:ext cx="274320" cy="0"/>
          </a:xfrm>
          <a:prstGeom prst="line">
            <a:avLst/>
          </a:prstGeom>
          <a:noFill/>
          <a:ln w="15875">
            <a:solidFill>
              <a:srgbClr val="94A3B8"/>
            </a:solidFill>
            <a:prstDash val="solid"/>
            <a:tailEnd type="triangle"/>
          </a:ln>
        </p:spPr>
      </p:sp>
      <p:sp>
        <p:nvSpPr>
          <p:cNvPr id="32" name="Shape 30"/>
          <p:cNvSpPr/>
          <p:nvPr/>
        </p:nvSpPr>
        <p:spPr>
          <a:xfrm>
            <a:off x="7315200" y="2926080"/>
            <a:ext cx="1371600" cy="548640"/>
          </a:xfrm>
          <a:prstGeom prst="roundRect">
            <a:avLst>
              <a:gd name="adj" fmla="val 10000"/>
            </a:avLst>
          </a:prstGeom>
          <a:solidFill>
            <a:srgbClr val="2A2560"/>
          </a:solidFill>
          <a:ln w="12700">
            <a:solidFill>
              <a:srgbClr val="2A2560"/>
            </a:solidFill>
            <a:prstDash val="solid"/>
          </a:ln>
        </p:spPr>
      </p:sp>
      <p:sp>
        <p:nvSpPr>
          <p:cNvPr id="33" name="Text 31"/>
          <p:cNvSpPr txBox="1"/>
          <p:nvPr/>
        </p:nvSpPr>
        <p:spPr>
          <a:xfrm>
            <a:off x="7360920" y="2926080"/>
            <a:ext cx="1280160" cy="548640"/>
          </a:xfrm>
          <a:prstGeom prst="rect">
            <a:avLst/>
          </a:prstGeom>
          <a:noFill/>
          <a:ln/>
        </p:spPr>
        <p:txBody>
          <a:bodyPr wrap="square" lIns="0" tIns="0" rIns="0" bIns="0" rtlCol="0" anchor="ctr"/>
          <a:lstStyle/>
          <a:p>
            <a:pPr marL="0" indent="0" algn="ctr">
              <a:buNone/>
            </a:pPr>
            <a:r>
              <a:rPr lang="en-US" sz="1050" b="1" dirty="0">
                <a:solidFill>
                  <a:srgbClr val="DDD6FE"/>
                </a:solidFill>
                <a:latin typeface="Calibri" pitchFamily="34" charset="0"/>
                <a:ea typeface="Calibri" pitchFamily="34" charset="-122"/>
                <a:cs typeface="Calibri" pitchFamily="34" charset="-120"/>
              </a:rPr>
              <a:t>AI Action Center</a:t>
            </a:r>
            <a:endParaRPr lang="en-US" sz="1050" dirty="0"/>
          </a:p>
        </p:txBody>
      </p:sp>
      <p:sp>
        <p:nvSpPr>
          <p:cNvPr id="34" name="Shape 32"/>
          <p:cNvSpPr/>
          <p:nvPr/>
        </p:nvSpPr>
        <p:spPr>
          <a:xfrm>
            <a:off x="8001000" y="2670048"/>
            <a:ext cx="0" cy="256032"/>
          </a:xfrm>
          <a:prstGeom prst="line">
            <a:avLst/>
          </a:prstGeom>
          <a:noFill/>
          <a:ln w="15875">
            <a:solidFill>
              <a:srgbClr val="94A3B8"/>
            </a:solidFill>
            <a:prstDash val="solid"/>
            <a:tailEnd type="triangle"/>
          </a:ln>
        </p:spPr>
      </p:sp>
      <p:sp>
        <p:nvSpPr>
          <p:cNvPr id="35" name="Shape 33"/>
          <p:cNvSpPr/>
          <p:nvPr/>
        </p:nvSpPr>
        <p:spPr>
          <a:xfrm>
            <a:off x="457200" y="3749040"/>
            <a:ext cx="5394960" cy="868680"/>
          </a:xfrm>
          <a:prstGeom prst="roundRect">
            <a:avLst>
              <a:gd name="adj" fmla="val 8421"/>
            </a:avLst>
          </a:prstGeom>
          <a:solidFill>
            <a:srgbClr val="14213D"/>
          </a:solidFill>
          <a:ln w="12700">
            <a:solidFill>
              <a:srgbClr val="14213D"/>
            </a:solidFill>
            <a:prstDash val="solid"/>
          </a:ln>
        </p:spPr>
      </p:sp>
      <p:sp>
        <p:nvSpPr>
          <p:cNvPr id="36" name="Text 34"/>
          <p:cNvSpPr txBox="1"/>
          <p:nvPr/>
        </p:nvSpPr>
        <p:spPr>
          <a:xfrm>
            <a:off x="685800" y="3840480"/>
            <a:ext cx="5029200" cy="365760"/>
          </a:xfrm>
          <a:prstGeom prst="rect">
            <a:avLst/>
          </a:prstGeom>
          <a:noFill/>
          <a:ln/>
        </p:spPr>
        <p:txBody>
          <a:bodyPr wrap="square" lIns="0" tIns="0" rIns="0" bIns="0" rtlCol="0" anchor="t"/>
          <a:lstStyle/>
          <a:p>
            <a:pPr marL="0" indent="0">
              <a:buNone/>
            </a:pPr>
            <a:r>
              <a:rPr lang="en-US" sz="1600" b="1" dirty="0">
                <a:solidFill>
                  <a:srgbClr val="F1F5F9"/>
                </a:solidFill>
                <a:latin typeface="Calibri" pitchFamily="34" charset="0"/>
                <a:ea typeface="Calibri" pitchFamily="34" charset="-122"/>
                <a:cs typeface="Calibri" pitchFamily="34" charset="-120"/>
              </a:rPr>
              <a:t>AI explains; deterministic engines calculate the facts.</a:t>
            </a:r>
            <a:endParaRPr lang="en-US" sz="1600" dirty="0"/>
          </a:p>
        </p:txBody>
      </p:sp>
      <p:sp>
        <p:nvSpPr>
          <p:cNvPr id="37" name="Text 35"/>
          <p:cNvSpPr txBox="1"/>
          <p:nvPr/>
        </p:nvSpPr>
        <p:spPr>
          <a:xfrm>
            <a:off x="685800" y="4206240"/>
            <a:ext cx="5029200" cy="274320"/>
          </a:xfrm>
          <a:prstGeom prst="rect">
            <a:avLst/>
          </a:prstGeom>
          <a:noFill/>
          <a:ln/>
        </p:spPr>
        <p:txBody>
          <a:bodyPr wrap="square" lIns="0" tIns="0" rIns="0" bIns="0" rtlCol="0" anchor="t"/>
          <a:lstStyle/>
          <a:p>
            <a:pPr marL="0" indent="0">
              <a:buNone/>
            </a:pPr>
            <a:r>
              <a:rPr lang="en-US" sz="1200" dirty="0">
                <a:solidFill>
                  <a:srgbClr val="94A3B8"/>
                </a:solidFill>
                <a:latin typeface="Calibri" pitchFamily="34" charset="0"/>
                <a:ea typeface="Calibri" pitchFamily="34" charset="-122"/>
                <a:cs typeface="Calibri" pitchFamily="34" charset="-120"/>
              </a:rPr>
              <a:t>No hallucination risk for operational numbers.</a:t>
            </a:r>
            <a:endParaRPr lang="en-US" sz="1200" dirty="0"/>
          </a:p>
        </p:txBody>
      </p:sp>
      <p:sp>
        <p:nvSpPr>
          <p:cNvPr id="38" name="Shape 36"/>
          <p:cNvSpPr/>
          <p:nvPr/>
        </p:nvSpPr>
        <p:spPr>
          <a:xfrm>
            <a:off x="6217920" y="3794760"/>
            <a:ext cx="201168" cy="182880"/>
          </a:xfrm>
          <a:prstGeom prst="roundRect">
            <a:avLst>
              <a:gd name="adj" fmla="val 20000"/>
            </a:avLst>
          </a:prstGeom>
          <a:solidFill>
            <a:srgbClr val="1F2A44"/>
          </a:solidFill>
          <a:ln w="12700">
            <a:solidFill>
              <a:srgbClr val="334155"/>
            </a:solidFill>
            <a:prstDash val="solid"/>
          </a:ln>
        </p:spPr>
      </p:sp>
      <p:sp>
        <p:nvSpPr>
          <p:cNvPr id="39" name="Text 37"/>
          <p:cNvSpPr txBox="1"/>
          <p:nvPr/>
        </p:nvSpPr>
        <p:spPr>
          <a:xfrm>
            <a:off x="6510528" y="3767328"/>
            <a:ext cx="2103120" cy="237744"/>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Input</a:t>
            </a:r>
            <a:endParaRPr lang="en-US" sz="1100" dirty="0"/>
          </a:p>
        </p:txBody>
      </p:sp>
      <p:sp>
        <p:nvSpPr>
          <p:cNvPr id="40" name="Shape 38"/>
          <p:cNvSpPr/>
          <p:nvPr/>
        </p:nvSpPr>
        <p:spPr>
          <a:xfrm>
            <a:off x="6217920" y="4069080"/>
            <a:ext cx="201168" cy="182880"/>
          </a:xfrm>
          <a:prstGeom prst="roundRect">
            <a:avLst>
              <a:gd name="adj" fmla="val 20000"/>
            </a:avLst>
          </a:prstGeom>
          <a:solidFill>
            <a:srgbClr val="0E3A4A"/>
          </a:solidFill>
          <a:ln w="12700">
            <a:solidFill>
              <a:srgbClr val="0E3A4A"/>
            </a:solidFill>
            <a:prstDash val="solid"/>
          </a:ln>
        </p:spPr>
      </p:sp>
      <p:sp>
        <p:nvSpPr>
          <p:cNvPr id="41" name="Text 39"/>
          <p:cNvSpPr txBox="1"/>
          <p:nvPr/>
        </p:nvSpPr>
        <p:spPr>
          <a:xfrm>
            <a:off x="6510528" y="4041648"/>
            <a:ext cx="2103120" cy="237744"/>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Deterministic engine</a:t>
            </a:r>
            <a:endParaRPr lang="en-US" sz="1100" dirty="0"/>
          </a:p>
        </p:txBody>
      </p:sp>
      <p:sp>
        <p:nvSpPr>
          <p:cNvPr id="42" name="Shape 40"/>
          <p:cNvSpPr/>
          <p:nvPr/>
        </p:nvSpPr>
        <p:spPr>
          <a:xfrm>
            <a:off x="6217920" y="4343400"/>
            <a:ext cx="201168" cy="182880"/>
          </a:xfrm>
          <a:prstGeom prst="roundRect">
            <a:avLst>
              <a:gd name="adj" fmla="val 20000"/>
            </a:avLst>
          </a:prstGeom>
          <a:solidFill>
            <a:srgbClr val="2A2560"/>
          </a:solidFill>
          <a:ln w="12700">
            <a:solidFill>
              <a:srgbClr val="2A2560"/>
            </a:solidFill>
            <a:prstDash val="solid"/>
          </a:ln>
        </p:spPr>
      </p:sp>
      <p:sp>
        <p:nvSpPr>
          <p:cNvPr id="43" name="Text 41"/>
          <p:cNvSpPr txBox="1"/>
          <p:nvPr/>
        </p:nvSpPr>
        <p:spPr>
          <a:xfrm>
            <a:off x="6510528" y="4315968"/>
            <a:ext cx="2103120" cy="237744"/>
          </a:xfrm>
          <a:prstGeom prst="rect">
            <a:avLst/>
          </a:prstGeom>
          <a:noFill/>
          <a:ln/>
        </p:spPr>
        <p:txBody>
          <a:bodyPr wrap="square" lIns="0" tIns="0" rIns="0" bIns="0" rtlCol="0" anchor="ctr"/>
          <a:lstStyle/>
          <a:p>
            <a:pPr marL="0" indent="0">
              <a:buNone/>
            </a:pPr>
            <a:r>
              <a:rPr lang="en-US" sz="1100" dirty="0">
                <a:solidFill>
                  <a:srgbClr val="CBD5E1"/>
                </a:solidFill>
                <a:latin typeface="Calibri" pitchFamily="34" charset="0"/>
                <a:ea typeface="Calibri" pitchFamily="34" charset="-122"/>
                <a:cs typeface="Calibri" pitchFamily="34" charset="-120"/>
              </a:rPr>
              <a:t>watsonx.ai / AI layer</a:t>
            </a:r>
            <a:endParaRPr lang="en-US" sz="1100" dirty="0"/>
          </a:p>
        </p:txBody>
      </p:sp>
      <p:sp>
        <p:nvSpPr>
          <p:cNvPr id="44" name="Text 42"/>
          <p:cNvSpPr txBox="1"/>
          <p:nvPr/>
        </p:nvSpPr>
        <p:spPr>
          <a:xfrm>
            <a:off x="457200" y="4754880"/>
            <a:ext cx="6858000" cy="228600"/>
          </a:xfrm>
          <a:prstGeom prst="rect">
            <a:avLst/>
          </a:prstGeom>
          <a:noFill/>
          <a:ln/>
        </p:spPr>
        <p:txBody>
          <a:bodyPr wrap="square" lIns="0" tIns="0" rIns="0" bIns="0" rtlCol="0" anchor="t"/>
          <a:lstStyle/>
          <a:p>
            <a:pPr marL="0" indent="0">
              <a:buNone/>
            </a:pPr>
            <a:r>
              <a:rPr lang="en-US" sz="950" dirty="0">
                <a:solidFill>
                  <a:srgbClr val="94A3B8"/>
                </a:solidFill>
                <a:latin typeface="Calibri" pitchFamily="34" charset="0"/>
                <a:ea typeface="Calibri" pitchFamily="34" charset="-122"/>
                <a:cs typeface="Calibri" pitchFamily="34" charset="-120"/>
              </a:rPr>
              <a:t>Next.js 16 · React 19 · Express 5 · Socket.IO · MongoDB 7 · @ibm-cloud/watsonx-ai</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05  ·  LIVE DEMO WALKTHROUGH</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LA Port Strike scenario</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5 / 8</a:t>
            </a:r>
            <a:endParaRPr lang="en-US" sz="900" dirty="0"/>
          </a:p>
        </p:txBody>
      </p:sp>
      <p:sp>
        <p:nvSpPr>
          <p:cNvPr id="5" name="Shape 3"/>
          <p:cNvSpPr/>
          <p:nvPr/>
        </p:nvSpPr>
        <p:spPr>
          <a:xfrm>
            <a:off x="457200" y="1280160"/>
            <a:ext cx="329184" cy="329184"/>
          </a:xfrm>
          <a:prstGeom prst="ellipse">
            <a:avLst/>
          </a:prstGeom>
          <a:solidFill>
            <a:srgbClr val="0E3A4A"/>
          </a:solidFill>
          <a:ln w="12700">
            <a:solidFill>
              <a:srgbClr val="0E3A4A"/>
            </a:solidFill>
            <a:prstDash val="solid"/>
          </a:ln>
        </p:spPr>
      </p:sp>
      <p:sp>
        <p:nvSpPr>
          <p:cNvPr id="6" name="Text 4"/>
          <p:cNvSpPr txBox="1"/>
          <p:nvPr/>
        </p:nvSpPr>
        <p:spPr>
          <a:xfrm>
            <a:off x="457200" y="1280160"/>
            <a:ext cx="329184" cy="329184"/>
          </a:xfrm>
          <a:prstGeom prst="rect">
            <a:avLst/>
          </a:prstGeom>
          <a:noFill/>
          <a:ln/>
        </p:spPr>
        <p:txBody>
          <a:bodyPr wrap="square" lIns="0" tIns="0" rIns="0" bIns="0" rtlCol="0" anchor="ctr"/>
          <a:lstStyle/>
          <a:p>
            <a:pPr marL="0" indent="0" algn="ctr">
              <a:buNone/>
            </a:pPr>
            <a:r>
              <a:rPr lang="en-US" sz="1200" b="1" dirty="0">
                <a:solidFill>
                  <a:srgbClr val="22D3EE"/>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960120" y="1280160"/>
            <a:ext cx="4480560" cy="329184"/>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Operator clicks “LA Port Strike” on the dashboard</a:t>
            </a:r>
            <a:endParaRPr lang="en-US" sz="1300" dirty="0"/>
          </a:p>
        </p:txBody>
      </p:sp>
      <p:sp>
        <p:nvSpPr>
          <p:cNvPr id="8" name="Shape 6"/>
          <p:cNvSpPr/>
          <p:nvPr/>
        </p:nvSpPr>
        <p:spPr>
          <a:xfrm>
            <a:off x="457200" y="1764792"/>
            <a:ext cx="329184" cy="329184"/>
          </a:xfrm>
          <a:prstGeom prst="ellipse">
            <a:avLst/>
          </a:prstGeom>
          <a:solidFill>
            <a:srgbClr val="0E3A4A"/>
          </a:solidFill>
          <a:ln w="12700">
            <a:solidFill>
              <a:srgbClr val="0E3A4A"/>
            </a:solidFill>
            <a:prstDash val="solid"/>
          </a:ln>
        </p:spPr>
      </p:sp>
      <p:sp>
        <p:nvSpPr>
          <p:cNvPr id="9" name="Text 7"/>
          <p:cNvSpPr txBox="1"/>
          <p:nvPr/>
        </p:nvSpPr>
        <p:spPr>
          <a:xfrm>
            <a:off x="457200" y="1764792"/>
            <a:ext cx="329184" cy="329184"/>
          </a:xfrm>
          <a:prstGeom prst="rect">
            <a:avLst/>
          </a:prstGeom>
          <a:noFill/>
          <a:ln/>
        </p:spPr>
        <p:txBody>
          <a:bodyPr wrap="square" lIns="0" tIns="0" rIns="0" bIns="0" rtlCol="0" anchor="ctr"/>
          <a:lstStyle/>
          <a:p>
            <a:pPr marL="0" indent="0" algn="ctr">
              <a:buNone/>
            </a:pPr>
            <a:r>
              <a:rPr lang="en-US" sz="1200" b="1" dirty="0">
                <a:solidFill>
                  <a:srgbClr val="22D3EE"/>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60120" y="1764792"/>
            <a:ext cx="4480560" cy="329184"/>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Impact Engine maps 3 affected vaccine shipments in &lt; 1 second</a:t>
            </a:r>
            <a:endParaRPr lang="en-US" sz="1300" dirty="0"/>
          </a:p>
        </p:txBody>
      </p:sp>
      <p:sp>
        <p:nvSpPr>
          <p:cNvPr id="11" name="Shape 9"/>
          <p:cNvSpPr/>
          <p:nvPr/>
        </p:nvSpPr>
        <p:spPr>
          <a:xfrm>
            <a:off x="457200" y="2249424"/>
            <a:ext cx="329184" cy="329184"/>
          </a:xfrm>
          <a:prstGeom prst="ellipse">
            <a:avLst/>
          </a:prstGeom>
          <a:solidFill>
            <a:srgbClr val="0E3A4A"/>
          </a:solidFill>
          <a:ln w="12700">
            <a:solidFill>
              <a:srgbClr val="0E3A4A"/>
            </a:solidFill>
            <a:prstDash val="solid"/>
          </a:ln>
        </p:spPr>
      </p:sp>
      <p:sp>
        <p:nvSpPr>
          <p:cNvPr id="12" name="Text 10"/>
          <p:cNvSpPr txBox="1"/>
          <p:nvPr/>
        </p:nvSpPr>
        <p:spPr>
          <a:xfrm>
            <a:off x="457200" y="2249424"/>
            <a:ext cx="329184" cy="329184"/>
          </a:xfrm>
          <a:prstGeom prst="rect">
            <a:avLst/>
          </a:prstGeom>
          <a:noFill/>
          <a:ln/>
        </p:spPr>
        <p:txBody>
          <a:bodyPr wrap="square" lIns="0" tIns="0" rIns="0" bIns="0" rtlCol="0" anchor="ctr"/>
          <a:lstStyle/>
          <a:p>
            <a:pPr marL="0" indent="0" algn="ctr">
              <a:buNone/>
            </a:pPr>
            <a:r>
              <a:rPr lang="en-US" sz="1200" b="1" dirty="0">
                <a:solidFill>
                  <a:srgbClr val="22D3EE"/>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960120" y="2249424"/>
            <a:ext cx="4480560" cy="329184"/>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Risk Engine scores each shipment on 6 factors</a:t>
            </a:r>
            <a:endParaRPr lang="en-US" sz="1300" dirty="0"/>
          </a:p>
        </p:txBody>
      </p:sp>
      <p:sp>
        <p:nvSpPr>
          <p:cNvPr id="14" name="Shape 12"/>
          <p:cNvSpPr/>
          <p:nvPr/>
        </p:nvSpPr>
        <p:spPr>
          <a:xfrm>
            <a:off x="457200" y="2734056"/>
            <a:ext cx="329184" cy="329184"/>
          </a:xfrm>
          <a:prstGeom prst="ellipse">
            <a:avLst/>
          </a:prstGeom>
          <a:solidFill>
            <a:srgbClr val="0E3A4A"/>
          </a:solidFill>
          <a:ln w="12700">
            <a:solidFill>
              <a:srgbClr val="0E3A4A"/>
            </a:solidFill>
            <a:prstDash val="solid"/>
          </a:ln>
        </p:spPr>
      </p:sp>
      <p:sp>
        <p:nvSpPr>
          <p:cNvPr id="15" name="Text 13"/>
          <p:cNvSpPr txBox="1"/>
          <p:nvPr/>
        </p:nvSpPr>
        <p:spPr>
          <a:xfrm>
            <a:off x="457200" y="2734056"/>
            <a:ext cx="329184" cy="329184"/>
          </a:xfrm>
          <a:prstGeom prst="rect">
            <a:avLst/>
          </a:prstGeom>
          <a:noFill/>
          <a:ln/>
        </p:spPr>
        <p:txBody>
          <a:bodyPr wrap="square" lIns="0" tIns="0" rIns="0" bIns="0" rtlCol="0" anchor="ctr"/>
          <a:lstStyle/>
          <a:p>
            <a:pPr marL="0" indent="0" algn="ctr">
              <a:buNone/>
            </a:pPr>
            <a:r>
              <a:rPr lang="en-US" sz="1200" b="1" dirty="0">
                <a:solidFill>
                  <a:srgbClr val="22D3EE"/>
                </a:solidFill>
                <a:latin typeface="Calibri" pitchFamily="34" charset="0"/>
                <a:ea typeface="Calibri" pitchFamily="34" charset="-122"/>
                <a:cs typeface="Calibri" pitchFamily="34" charset="-120"/>
              </a:rPr>
              <a:t>4</a:t>
            </a:r>
            <a:endParaRPr lang="en-US" sz="1200" dirty="0"/>
          </a:p>
        </p:txBody>
      </p:sp>
      <p:sp>
        <p:nvSpPr>
          <p:cNvPr id="16" name="Text 14"/>
          <p:cNvSpPr txBox="1"/>
          <p:nvPr/>
        </p:nvSpPr>
        <p:spPr>
          <a:xfrm>
            <a:off x="960120" y="2734056"/>
            <a:ext cx="4480560" cy="329184"/>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Route Optimizer + Fleet Matcher generate ranked recommendations</a:t>
            </a:r>
            <a:endParaRPr lang="en-US" sz="1300" dirty="0"/>
          </a:p>
        </p:txBody>
      </p:sp>
      <p:sp>
        <p:nvSpPr>
          <p:cNvPr id="17" name="Shape 15"/>
          <p:cNvSpPr/>
          <p:nvPr/>
        </p:nvSpPr>
        <p:spPr>
          <a:xfrm>
            <a:off x="457200" y="3218688"/>
            <a:ext cx="329184" cy="329184"/>
          </a:xfrm>
          <a:prstGeom prst="ellipse">
            <a:avLst/>
          </a:prstGeom>
          <a:solidFill>
            <a:srgbClr val="0E3A4A"/>
          </a:solidFill>
          <a:ln w="12700">
            <a:solidFill>
              <a:srgbClr val="0E3A4A"/>
            </a:solidFill>
            <a:prstDash val="solid"/>
          </a:ln>
        </p:spPr>
      </p:sp>
      <p:sp>
        <p:nvSpPr>
          <p:cNvPr id="18" name="Text 16"/>
          <p:cNvSpPr txBox="1"/>
          <p:nvPr/>
        </p:nvSpPr>
        <p:spPr>
          <a:xfrm>
            <a:off x="457200" y="3218688"/>
            <a:ext cx="329184" cy="329184"/>
          </a:xfrm>
          <a:prstGeom prst="rect">
            <a:avLst/>
          </a:prstGeom>
          <a:noFill/>
          <a:ln/>
        </p:spPr>
        <p:txBody>
          <a:bodyPr wrap="square" lIns="0" tIns="0" rIns="0" bIns="0" rtlCol="0" anchor="ctr"/>
          <a:lstStyle/>
          <a:p>
            <a:pPr marL="0" indent="0" algn="ctr">
              <a:buNone/>
            </a:pPr>
            <a:r>
              <a:rPr lang="en-US" sz="1200" b="1" dirty="0">
                <a:solidFill>
                  <a:srgbClr val="22D3EE"/>
                </a:solidFill>
                <a:latin typeface="Calibri" pitchFamily="34" charset="0"/>
                <a:ea typeface="Calibri" pitchFamily="34" charset="-122"/>
                <a:cs typeface="Calibri" pitchFamily="34" charset="-120"/>
              </a:rPr>
              <a:t>5</a:t>
            </a:r>
            <a:endParaRPr lang="en-US" sz="1200" dirty="0"/>
          </a:p>
        </p:txBody>
      </p:sp>
      <p:sp>
        <p:nvSpPr>
          <p:cNvPr id="19" name="Text 17"/>
          <p:cNvSpPr txBox="1"/>
          <p:nvPr/>
        </p:nvSpPr>
        <p:spPr>
          <a:xfrm>
            <a:off x="960120" y="3218688"/>
            <a:ext cx="4480560" cy="329184"/>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watsonx.ai writes the rationale in natural language</a:t>
            </a:r>
            <a:endParaRPr lang="en-US" sz="1300" dirty="0"/>
          </a:p>
        </p:txBody>
      </p:sp>
      <p:sp>
        <p:nvSpPr>
          <p:cNvPr id="20" name="Shape 18"/>
          <p:cNvSpPr/>
          <p:nvPr/>
        </p:nvSpPr>
        <p:spPr>
          <a:xfrm>
            <a:off x="457200" y="3703320"/>
            <a:ext cx="329184" cy="329184"/>
          </a:xfrm>
          <a:prstGeom prst="ellipse">
            <a:avLst/>
          </a:prstGeom>
          <a:solidFill>
            <a:srgbClr val="0E3A4A"/>
          </a:solidFill>
          <a:ln w="12700">
            <a:solidFill>
              <a:srgbClr val="0E3A4A"/>
            </a:solidFill>
            <a:prstDash val="solid"/>
          </a:ln>
        </p:spPr>
      </p:sp>
      <p:sp>
        <p:nvSpPr>
          <p:cNvPr id="21" name="Text 19"/>
          <p:cNvSpPr txBox="1"/>
          <p:nvPr/>
        </p:nvSpPr>
        <p:spPr>
          <a:xfrm>
            <a:off x="457200" y="3703320"/>
            <a:ext cx="329184" cy="329184"/>
          </a:xfrm>
          <a:prstGeom prst="rect">
            <a:avLst/>
          </a:prstGeom>
          <a:noFill/>
          <a:ln/>
        </p:spPr>
        <p:txBody>
          <a:bodyPr wrap="square" lIns="0" tIns="0" rIns="0" bIns="0" rtlCol="0" anchor="ctr"/>
          <a:lstStyle/>
          <a:p>
            <a:pPr marL="0" indent="0" algn="ctr">
              <a:buNone/>
            </a:pPr>
            <a:r>
              <a:rPr lang="en-US" sz="1200" b="1" dirty="0">
                <a:solidFill>
                  <a:srgbClr val="22D3EE"/>
                </a:solidFill>
                <a:latin typeface="Calibri" pitchFamily="34" charset="0"/>
                <a:ea typeface="Calibri" pitchFamily="34" charset="-122"/>
                <a:cs typeface="Calibri" pitchFamily="34" charset="-120"/>
              </a:rPr>
              <a:t>6</a:t>
            </a:r>
            <a:endParaRPr lang="en-US" sz="1200" dirty="0"/>
          </a:p>
        </p:txBody>
      </p:sp>
      <p:sp>
        <p:nvSpPr>
          <p:cNvPr id="22" name="Text 20"/>
          <p:cNvSpPr txBox="1"/>
          <p:nvPr/>
        </p:nvSpPr>
        <p:spPr>
          <a:xfrm>
            <a:off x="960120" y="3703320"/>
            <a:ext cx="4480560" cy="329184"/>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Operator clicks “Approve &amp; Execute” → AuditEvent created</a:t>
            </a:r>
            <a:endParaRPr lang="en-US" sz="1300" dirty="0"/>
          </a:p>
        </p:txBody>
      </p:sp>
      <p:sp>
        <p:nvSpPr>
          <p:cNvPr id="23" name="Shape 21"/>
          <p:cNvSpPr/>
          <p:nvPr/>
        </p:nvSpPr>
        <p:spPr>
          <a:xfrm>
            <a:off x="457200" y="4187952"/>
            <a:ext cx="329184" cy="329184"/>
          </a:xfrm>
          <a:prstGeom prst="ellipse">
            <a:avLst/>
          </a:prstGeom>
          <a:solidFill>
            <a:srgbClr val="0E3A4A"/>
          </a:solidFill>
          <a:ln w="12700">
            <a:solidFill>
              <a:srgbClr val="0E3A4A"/>
            </a:solidFill>
            <a:prstDash val="solid"/>
          </a:ln>
        </p:spPr>
      </p:sp>
      <p:sp>
        <p:nvSpPr>
          <p:cNvPr id="24" name="Text 22"/>
          <p:cNvSpPr txBox="1"/>
          <p:nvPr/>
        </p:nvSpPr>
        <p:spPr>
          <a:xfrm>
            <a:off x="457200" y="4187952"/>
            <a:ext cx="329184" cy="329184"/>
          </a:xfrm>
          <a:prstGeom prst="rect">
            <a:avLst/>
          </a:prstGeom>
          <a:noFill/>
          <a:ln/>
        </p:spPr>
        <p:txBody>
          <a:bodyPr wrap="square" lIns="0" tIns="0" rIns="0" bIns="0" rtlCol="0" anchor="ctr"/>
          <a:lstStyle/>
          <a:p>
            <a:pPr marL="0" indent="0" algn="ctr">
              <a:buNone/>
            </a:pPr>
            <a:r>
              <a:rPr lang="en-US" sz="1200" b="1" dirty="0">
                <a:solidFill>
                  <a:srgbClr val="22D3EE"/>
                </a:solidFill>
                <a:latin typeface="Calibri" pitchFamily="34" charset="0"/>
                <a:ea typeface="Calibri" pitchFamily="34" charset="-122"/>
                <a:cs typeface="Calibri" pitchFamily="34" charset="-120"/>
              </a:rPr>
              <a:t>7</a:t>
            </a:r>
            <a:endParaRPr lang="en-US" sz="1200" dirty="0"/>
          </a:p>
        </p:txBody>
      </p:sp>
      <p:sp>
        <p:nvSpPr>
          <p:cNvPr id="25" name="Text 23"/>
          <p:cNvSpPr txBox="1"/>
          <p:nvPr/>
        </p:nvSpPr>
        <p:spPr>
          <a:xfrm>
            <a:off x="960120" y="4187952"/>
            <a:ext cx="4480560" cy="329184"/>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AI Chat: “Which shipments are most at risk and why?”</a:t>
            </a:r>
            <a:endParaRPr lang="en-US" sz="1300" dirty="0"/>
          </a:p>
        </p:txBody>
      </p:sp>
      <p:sp>
        <p:nvSpPr>
          <p:cNvPr id="26" name="Shape 24"/>
          <p:cNvSpPr/>
          <p:nvPr/>
        </p:nvSpPr>
        <p:spPr>
          <a:xfrm>
            <a:off x="5669280" y="1280160"/>
            <a:ext cx="3017520" cy="3246120"/>
          </a:xfrm>
          <a:prstGeom prst="roundRect">
            <a:avLst>
              <a:gd name="adj" fmla="val 2424"/>
            </a:avLst>
          </a:prstGeom>
          <a:solidFill>
            <a:srgbClr val="14213D"/>
          </a:solidFill>
          <a:ln w="12700">
            <a:solidFill>
              <a:srgbClr val="14213D"/>
            </a:solidFill>
            <a:prstDash val="solid"/>
          </a:ln>
        </p:spPr>
      </p:sp>
      <p:sp>
        <p:nvSpPr>
          <p:cNvPr id="27" name="Text 25"/>
          <p:cNvSpPr txBox="1"/>
          <p:nvPr/>
        </p:nvSpPr>
        <p:spPr>
          <a:xfrm>
            <a:off x="5897880" y="1417320"/>
            <a:ext cx="2651760" cy="274320"/>
          </a:xfrm>
          <a:prstGeom prst="rect">
            <a:avLst/>
          </a:prstGeom>
          <a:noFill/>
          <a:ln/>
        </p:spPr>
        <p:txBody>
          <a:bodyPr wrap="square" lIns="0" tIns="0" rIns="0" bIns="0" rtlCol="0" anchor="t"/>
          <a:lstStyle/>
          <a:p>
            <a:pPr marL="0" indent="0">
              <a:buNone/>
            </a:pPr>
            <a:r>
              <a:rPr lang="en-US" sz="1300" b="1" dirty="0">
                <a:solidFill>
                  <a:srgbClr val="F1F5F9"/>
                </a:solidFill>
                <a:latin typeface="Calibri" pitchFamily="34" charset="0"/>
                <a:ea typeface="Calibri" pitchFamily="34" charset="-122"/>
                <a:cs typeface="Calibri" pitchFamily="34" charset="-120"/>
              </a:rPr>
              <a:t>Risk scores after the strike</a:t>
            </a:r>
            <a:endParaRPr lang="en-US" sz="1300" dirty="0"/>
          </a:p>
        </p:txBody>
      </p:sp>
      <p:sp>
        <p:nvSpPr>
          <p:cNvPr id="28" name="Text 26"/>
          <p:cNvSpPr txBox="1"/>
          <p:nvPr/>
        </p:nvSpPr>
        <p:spPr>
          <a:xfrm>
            <a:off x="5897880" y="1828800"/>
            <a:ext cx="1280160"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SHIP-001</a:t>
            </a:r>
            <a:endParaRPr lang="en-US" sz="1200" dirty="0"/>
          </a:p>
        </p:txBody>
      </p:sp>
      <p:sp>
        <p:nvSpPr>
          <p:cNvPr id="29" name="Text 27"/>
          <p:cNvSpPr txBox="1"/>
          <p:nvPr/>
        </p:nvSpPr>
        <p:spPr>
          <a:xfrm>
            <a:off x="5897880" y="2075688"/>
            <a:ext cx="1280160" cy="201168"/>
          </a:xfrm>
          <a:prstGeom prst="rect">
            <a:avLst/>
          </a:prstGeom>
          <a:noFill/>
          <a:ln/>
        </p:spPr>
        <p:txBody>
          <a:bodyPr wrap="square" lIns="0" tIns="0" rIns="0" bIns="0" rtlCol="0" anchor="t"/>
          <a:lstStyle/>
          <a:p>
            <a:pPr marL="0" indent="0">
              <a:buNone/>
            </a:pPr>
            <a:r>
              <a:rPr lang="en-US" sz="950" b="1" kern="0" spc="100" dirty="0">
                <a:solidFill>
                  <a:srgbClr val="F43F5E"/>
                </a:solidFill>
                <a:latin typeface="Calibri" pitchFamily="34" charset="0"/>
                <a:ea typeface="Calibri" pitchFamily="34" charset="-122"/>
                <a:cs typeface="Calibri" pitchFamily="34" charset="-120"/>
              </a:rPr>
              <a:t>CRITICAL</a:t>
            </a:r>
            <a:endParaRPr lang="en-US" sz="950" dirty="0"/>
          </a:p>
        </p:txBody>
      </p:sp>
      <p:sp>
        <p:nvSpPr>
          <p:cNvPr id="30" name="Text 28"/>
          <p:cNvSpPr txBox="1"/>
          <p:nvPr/>
        </p:nvSpPr>
        <p:spPr>
          <a:xfrm>
            <a:off x="7132320" y="1783080"/>
            <a:ext cx="1371600" cy="411480"/>
          </a:xfrm>
          <a:prstGeom prst="rect">
            <a:avLst/>
          </a:prstGeom>
          <a:noFill/>
          <a:ln/>
        </p:spPr>
        <p:txBody>
          <a:bodyPr wrap="square" lIns="0" tIns="0" rIns="0" bIns="0" rtlCol="0" anchor="ctr"/>
          <a:lstStyle/>
          <a:p>
            <a:pPr marL="0" indent="0" algn="r">
              <a:buNone/>
            </a:pPr>
            <a:r>
              <a:rPr lang="en-US" sz="2200" b="1" dirty="0">
                <a:solidFill>
                  <a:srgbClr val="F43F5E"/>
                </a:solidFill>
                <a:latin typeface="Arial" pitchFamily="34" charset="0"/>
                <a:ea typeface="Arial" pitchFamily="34" charset="-122"/>
                <a:cs typeface="Arial" pitchFamily="34" charset="-120"/>
              </a:rPr>
              <a:t>87</a:t>
            </a:r>
            <a:pPr marL="0" indent="0" algn="r">
              <a:buNone/>
            </a:pPr>
            <a:r>
              <a:rPr lang="en-US" sz="1000" dirty="0">
                <a:solidFill>
                  <a:srgbClr val="94A3B8"/>
                </a:solidFill>
                <a:latin typeface="Arial" pitchFamily="34" charset="0"/>
                <a:ea typeface="Arial" pitchFamily="34" charset="-122"/>
                <a:cs typeface="Arial" pitchFamily="34" charset="-120"/>
              </a:rPr>
              <a:t> /100</a:t>
            </a:r>
            <a:endParaRPr lang="en-US" sz="2200" dirty="0"/>
          </a:p>
        </p:txBody>
      </p:sp>
      <p:sp>
        <p:nvSpPr>
          <p:cNvPr id="31" name="Shape 29"/>
          <p:cNvSpPr/>
          <p:nvPr/>
        </p:nvSpPr>
        <p:spPr>
          <a:xfrm>
            <a:off x="5897880" y="2304288"/>
            <a:ext cx="2606040" cy="64008"/>
          </a:xfrm>
          <a:prstGeom prst="roundRect">
            <a:avLst>
              <a:gd name="adj" fmla="val 42857"/>
            </a:avLst>
          </a:prstGeom>
          <a:solidFill>
            <a:srgbClr val="334155"/>
          </a:solidFill>
          <a:ln w="12700">
            <a:solidFill>
              <a:srgbClr val="334155"/>
            </a:solidFill>
            <a:prstDash val="solid"/>
          </a:ln>
        </p:spPr>
      </p:sp>
      <p:sp>
        <p:nvSpPr>
          <p:cNvPr id="32" name="Shape 30"/>
          <p:cNvSpPr/>
          <p:nvPr/>
        </p:nvSpPr>
        <p:spPr>
          <a:xfrm>
            <a:off x="5897880" y="2304288"/>
            <a:ext cx="2267255" cy="64008"/>
          </a:xfrm>
          <a:prstGeom prst="roundRect">
            <a:avLst>
              <a:gd name="adj" fmla="val 42857"/>
            </a:avLst>
          </a:prstGeom>
          <a:solidFill>
            <a:srgbClr val="F43F5E"/>
          </a:solidFill>
          <a:ln w="12700">
            <a:solidFill>
              <a:srgbClr val="F43F5E"/>
            </a:solidFill>
            <a:prstDash val="solid"/>
          </a:ln>
        </p:spPr>
      </p:sp>
      <p:sp>
        <p:nvSpPr>
          <p:cNvPr id="33" name="Text 31"/>
          <p:cNvSpPr txBox="1"/>
          <p:nvPr/>
        </p:nvSpPr>
        <p:spPr>
          <a:xfrm>
            <a:off x="5897880" y="2487168"/>
            <a:ext cx="1280160"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SHIP-003</a:t>
            </a:r>
            <a:endParaRPr lang="en-US" sz="1200" dirty="0"/>
          </a:p>
        </p:txBody>
      </p:sp>
      <p:sp>
        <p:nvSpPr>
          <p:cNvPr id="34" name="Text 32"/>
          <p:cNvSpPr txBox="1"/>
          <p:nvPr/>
        </p:nvSpPr>
        <p:spPr>
          <a:xfrm>
            <a:off x="5897880" y="2734056"/>
            <a:ext cx="1280160" cy="201168"/>
          </a:xfrm>
          <a:prstGeom prst="rect">
            <a:avLst/>
          </a:prstGeom>
          <a:noFill/>
          <a:ln/>
        </p:spPr>
        <p:txBody>
          <a:bodyPr wrap="square" lIns="0" tIns="0" rIns="0" bIns="0" rtlCol="0" anchor="t"/>
          <a:lstStyle/>
          <a:p>
            <a:pPr marL="0" indent="0">
              <a:buNone/>
            </a:pPr>
            <a:r>
              <a:rPr lang="en-US" sz="950" b="1" kern="0" spc="100" dirty="0">
                <a:solidFill>
                  <a:srgbClr val="F59E0B"/>
                </a:solidFill>
                <a:latin typeface="Calibri" pitchFamily="34" charset="0"/>
                <a:ea typeface="Calibri" pitchFamily="34" charset="-122"/>
                <a:cs typeface="Calibri" pitchFamily="34" charset="-120"/>
              </a:rPr>
              <a:t>HIGH</a:t>
            </a:r>
            <a:endParaRPr lang="en-US" sz="950" dirty="0"/>
          </a:p>
        </p:txBody>
      </p:sp>
      <p:sp>
        <p:nvSpPr>
          <p:cNvPr id="35" name="Text 33"/>
          <p:cNvSpPr txBox="1"/>
          <p:nvPr/>
        </p:nvSpPr>
        <p:spPr>
          <a:xfrm>
            <a:off x="7132320" y="2441448"/>
            <a:ext cx="1371600" cy="411480"/>
          </a:xfrm>
          <a:prstGeom prst="rect">
            <a:avLst/>
          </a:prstGeom>
          <a:noFill/>
          <a:ln/>
        </p:spPr>
        <p:txBody>
          <a:bodyPr wrap="square" lIns="0" tIns="0" rIns="0" bIns="0" rtlCol="0" anchor="ctr"/>
          <a:lstStyle/>
          <a:p>
            <a:pPr marL="0" indent="0" algn="r">
              <a:buNone/>
            </a:pPr>
            <a:r>
              <a:rPr lang="en-US" sz="2200" b="1" dirty="0">
                <a:solidFill>
                  <a:srgbClr val="F59E0B"/>
                </a:solidFill>
                <a:latin typeface="Arial" pitchFamily="34" charset="0"/>
                <a:ea typeface="Arial" pitchFamily="34" charset="-122"/>
                <a:cs typeface="Arial" pitchFamily="34" charset="-120"/>
              </a:rPr>
              <a:t>72</a:t>
            </a:r>
            <a:pPr marL="0" indent="0" algn="r">
              <a:buNone/>
            </a:pPr>
            <a:r>
              <a:rPr lang="en-US" sz="1000" dirty="0">
                <a:solidFill>
                  <a:srgbClr val="94A3B8"/>
                </a:solidFill>
                <a:latin typeface="Arial" pitchFamily="34" charset="0"/>
                <a:ea typeface="Arial" pitchFamily="34" charset="-122"/>
                <a:cs typeface="Arial" pitchFamily="34" charset="-120"/>
              </a:rPr>
              <a:t> /100</a:t>
            </a:r>
            <a:endParaRPr lang="en-US" sz="2200" dirty="0"/>
          </a:p>
        </p:txBody>
      </p:sp>
      <p:sp>
        <p:nvSpPr>
          <p:cNvPr id="36" name="Shape 34"/>
          <p:cNvSpPr/>
          <p:nvPr/>
        </p:nvSpPr>
        <p:spPr>
          <a:xfrm>
            <a:off x="5897880" y="2962656"/>
            <a:ext cx="2606040" cy="64008"/>
          </a:xfrm>
          <a:prstGeom prst="roundRect">
            <a:avLst>
              <a:gd name="adj" fmla="val 42857"/>
            </a:avLst>
          </a:prstGeom>
          <a:solidFill>
            <a:srgbClr val="334155"/>
          </a:solidFill>
          <a:ln w="12700">
            <a:solidFill>
              <a:srgbClr val="334155"/>
            </a:solidFill>
            <a:prstDash val="solid"/>
          </a:ln>
        </p:spPr>
      </p:sp>
      <p:sp>
        <p:nvSpPr>
          <p:cNvPr id="37" name="Shape 35"/>
          <p:cNvSpPr/>
          <p:nvPr/>
        </p:nvSpPr>
        <p:spPr>
          <a:xfrm>
            <a:off x="5897880" y="2962656"/>
            <a:ext cx="1876349" cy="64008"/>
          </a:xfrm>
          <a:prstGeom prst="roundRect">
            <a:avLst>
              <a:gd name="adj" fmla="val 42857"/>
            </a:avLst>
          </a:prstGeom>
          <a:solidFill>
            <a:srgbClr val="F59E0B"/>
          </a:solidFill>
          <a:ln w="12700">
            <a:solidFill>
              <a:srgbClr val="F59E0B"/>
            </a:solidFill>
            <a:prstDash val="solid"/>
          </a:ln>
        </p:spPr>
      </p:sp>
      <p:sp>
        <p:nvSpPr>
          <p:cNvPr id="38" name="Text 36"/>
          <p:cNvSpPr txBox="1"/>
          <p:nvPr/>
        </p:nvSpPr>
        <p:spPr>
          <a:xfrm>
            <a:off x="5897880" y="3145536"/>
            <a:ext cx="1280160" cy="27432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SHIP-005</a:t>
            </a:r>
            <a:endParaRPr lang="en-US" sz="1200" dirty="0"/>
          </a:p>
        </p:txBody>
      </p:sp>
      <p:sp>
        <p:nvSpPr>
          <p:cNvPr id="39" name="Text 37"/>
          <p:cNvSpPr txBox="1"/>
          <p:nvPr/>
        </p:nvSpPr>
        <p:spPr>
          <a:xfrm>
            <a:off x="5897880" y="3392424"/>
            <a:ext cx="1280160" cy="201168"/>
          </a:xfrm>
          <a:prstGeom prst="rect">
            <a:avLst/>
          </a:prstGeom>
          <a:noFill/>
          <a:ln/>
        </p:spPr>
        <p:txBody>
          <a:bodyPr wrap="square" lIns="0" tIns="0" rIns="0" bIns="0" rtlCol="0" anchor="t"/>
          <a:lstStyle/>
          <a:p>
            <a:pPr marL="0" indent="0">
              <a:buNone/>
            </a:pPr>
            <a:r>
              <a:rPr lang="en-US" sz="950" b="1" kern="0" spc="100" dirty="0">
                <a:solidFill>
                  <a:srgbClr val="EAB308"/>
                </a:solidFill>
                <a:latin typeface="Calibri" pitchFamily="34" charset="0"/>
                <a:ea typeface="Calibri" pitchFamily="34" charset="-122"/>
                <a:cs typeface="Calibri" pitchFamily="34" charset="-120"/>
              </a:rPr>
              <a:t>WATCH</a:t>
            </a:r>
            <a:endParaRPr lang="en-US" sz="950" dirty="0"/>
          </a:p>
        </p:txBody>
      </p:sp>
      <p:sp>
        <p:nvSpPr>
          <p:cNvPr id="40" name="Text 38"/>
          <p:cNvSpPr txBox="1"/>
          <p:nvPr/>
        </p:nvSpPr>
        <p:spPr>
          <a:xfrm>
            <a:off x="7132320" y="3099816"/>
            <a:ext cx="1371600" cy="411480"/>
          </a:xfrm>
          <a:prstGeom prst="rect">
            <a:avLst/>
          </a:prstGeom>
          <a:noFill/>
          <a:ln/>
        </p:spPr>
        <p:txBody>
          <a:bodyPr wrap="square" lIns="0" tIns="0" rIns="0" bIns="0" rtlCol="0" anchor="ctr"/>
          <a:lstStyle/>
          <a:p>
            <a:pPr marL="0" indent="0" algn="r">
              <a:buNone/>
            </a:pPr>
            <a:r>
              <a:rPr lang="en-US" sz="2200" b="1" dirty="0">
                <a:solidFill>
                  <a:srgbClr val="EAB308"/>
                </a:solidFill>
                <a:latin typeface="Arial" pitchFamily="34" charset="0"/>
                <a:ea typeface="Arial" pitchFamily="34" charset="-122"/>
                <a:cs typeface="Arial" pitchFamily="34" charset="-120"/>
              </a:rPr>
              <a:t>61</a:t>
            </a:r>
            <a:pPr marL="0" indent="0" algn="r">
              <a:buNone/>
            </a:pPr>
            <a:r>
              <a:rPr lang="en-US" sz="1000" dirty="0">
                <a:solidFill>
                  <a:srgbClr val="94A3B8"/>
                </a:solidFill>
                <a:latin typeface="Arial" pitchFamily="34" charset="0"/>
                <a:ea typeface="Arial" pitchFamily="34" charset="-122"/>
                <a:cs typeface="Arial" pitchFamily="34" charset="-120"/>
              </a:rPr>
              <a:t> /100</a:t>
            </a:r>
            <a:endParaRPr lang="en-US" sz="2200" dirty="0"/>
          </a:p>
        </p:txBody>
      </p:sp>
      <p:sp>
        <p:nvSpPr>
          <p:cNvPr id="41" name="Shape 39"/>
          <p:cNvSpPr/>
          <p:nvPr/>
        </p:nvSpPr>
        <p:spPr>
          <a:xfrm>
            <a:off x="5897880" y="3621024"/>
            <a:ext cx="2606040" cy="64008"/>
          </a:xfrm>
          <a:prstGeom prst="roundRect">
            <a:avLst>
              <a:gd name="adj" fmla="val 42857"/>
            </a:avLst>
          </a:prstGeom>
          <a:solidFill>
            <a:srgbClr val="334155"/>
          </a:solidFill>
          <a:ln w="12700">
            <a:solidFill>
              <a:srgbClr val="334155"/>
            </a:solidFill>
            <a:prstDash val="solid"/>
          </a:ln>
        </p:spPr>
      </p:sp>
      <p:sp>
        <p:nvSpPr>
          <p:cNvPr id="42" name="Shape 40"/>
          <p:cNvSpPr/>
          <p:nvPr/>
        </p:nvSpPr>
        <p:spPr>
          <a:xfrm>
            <a:off x="5897880" y="3621024"/>
            <a:ext cx="1589684" cy="64008"/>
          </a:xfrm>
          <a:prstGeom prst="roundRect">
            <a:avLst>
              <a:gd name="adj" fmla="val 42857"/>
            </a:avLst>
          </a:prstGeom>
          <a:solidFill>
            <a:srgbClr val="EAB308"/>
          </a:solidFill>
          <a:ln w="12700">
            <a:solidFill>
              <a:srgbClr val="EAB308"/>
            </a:solidFill>
            <a:prstDash val="solid"/>
          </a:ln>
        </p:spPr>
      </p:sp>
      <p:sp>
        <p:nvSpPr>
          <p:cNvPr id="43" name="Text 41"/>
          <p:cNvSpPr txBox="1"/>
          <p:nvPr/>
        </p:nvSpPr>
        <p:spPr>
          <a:xfrm>
            <a:off x="5897880" y="3886200"/>
            <a:ext cx="2606040" cy="502920"/>
          </a:xfrm>
          <a:prstGeom prst="rect">
            <a:avLst/>
          </a:prstGeom>
          <a:noFill/>
          <a:ln/>
        </p:spPr>
        <p:txBody>
          <a:bodyPr wrap="square" lIns="0" tIns="0" rIns="0" bIns="0" rtlCol="0" anchor="t"/>
          <a:lstStyle/>
          <a:p>
            <a:pPr marL="0" indent="0">
              <a:buNone/>
            </a:pPr>
            <a:r>
              <a:rPr lang="en-US" sz="1050" i="1" dirty="0">
                <a:solidFill>
                  <a:srgbClr val="22D3EE"/>
                </a:solidFill>
                <a:latin typeface="Calibri" pitchFamily="34" charset="0"/>
                <a:ea typeface="Calibri" pitchFamily="34" charset="-122"/>
                <a:cs typeface="Calibri" pitchFamily="34" charset="-120"/>
              </a:rPr>
              <a:t>Recommendation: reroute SHIP-001 via Denver hub, assign truck T-002</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06  ·  IBM TECHNOLOGY INTEGRATION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Load-bearing, not decorative</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6 / 8</a:t>
            </a:r>
            <a:endParaRPr lang="en-US" sz="900" dirty="0"/>
          </a:p>
        </p:txBody>
      </p:sp>
      <p:sp>
        <p:nvSpPr>
          <p:cNvPr id="5" name="Shape 3"/>
          <p:cNvSpPr/>
          <p:nvPr/>
        </p:nvSpPr>
        <p:spPr>
          <a:xfrm>
            <a:off x="457200" y="1280160"/>
            <a:ext cx="2560320" cy="2880360"/>
          </a:xfrm>
          <a:prstGeom prst="roundRect">
            <a:avLst>
              <a:gd name="adj" fmla="val 2857"/>
            </a:avLst>
          </a:prstGeom>
          <a:solidFill>
            <a:srgbClr val="14213D"/>
          </a:solidFill>
          <a:ln w="12700">
            <a:solidFill>
              <a:srgbClr val="14213D"/>
            </a:solidFill>
            <a:prstDash val="solid"/>
          </a:ln>
        </p:spPr>
      </p:sp>
      <p:sp>
        <p:nvSpPr>
          <p:cNvPr id="6" name="Shape 4"/>
          <p:cNvSpPr/>
          <p:nvPr/>
        </p:nvSpPr>
        <p:spPr>
          <a:xfrm>
            <a:off x="685800" y="1508760"/>
            <a:ext cx="502920" cy="502920"/>
          </a:xfrm>
          <a:prstGeom prst="ellipse">
            <a:avLst/>
          </a:prstGeom>
          <a:solidFill>
            <a:srgbClr val="2A2560"/>
          </a:solidFill>
          <a:ln w="12700">
            <a:solidFill>
              <a:srgbClr val="2A2560"/>
            </a:solidFill>
            <a:prstDash val="solid"/>
          </a:ln>
        </p:spPr>
      </p:sp>
      <p:pic>
        <p:nvPicPr>
          <p:cNvPr id="7" name="Image 0" descr="preencoded.png"/>
          <p:cNvPicPr>
            <a:picLocks noChangeAspect="1"/>
          </p:cNvPicPr>
          <p:nvPr/>
        </p:nvPicPr>
        <p:blipFill>
          <a:blip r:embed="rId1"/>
          <a:stretch>
            <a:fillRect/>
          </a:stretch>
        </p:blipFill>
        <p:spPr>
          <a:xfrm>
            <a:off x="811530" y="1634490"/>
            <a:ext cx="251460" cy="251460"/>
          </a:xfrm>
          <a:prstGeom prst="rect">
            <a:avLst/>
          </a:prstGeom>
        </p:spPr>
      </p:pic>
      <p:sp>
        <p:nvSpPr>
          <p:cNvPr id="8" name="Text 5"/>
          <p:cNvSpPr txBox="1"/>
          <p:nvPr/>
        </p:nvSpPr>
        <p:spPr>
          <a:xfrm>
            <a:off x="685800" y="2148840"/>
            <a:ext cx="2194560" cy="320040"/>
          </a:xfrm>
          <a:prstGeom prst="rect">
            <a:avLst/>
          </a:prstGeom>
          <a:noFill/>
          <a:ln/>
        </p:spPr>
        <p:txBody>
          <a:bodyPr wrap="square" lIns="0" tIns="0" rIns="0" bIns="0" rtlCol="0" anchor="t"/>
          <a:lstStyle/>
          <a:p>
            <a:pPr marL="0" indent="0">
              <a:buNone/>
            </a:pPr>
            <a:r>
              <a:rPr lang="en-US" sz="1600" b="1" dirty="0">
                <a:solidFill>
                  <a:srgbClr val="F1F5F9"/>
                </a:solidFill>
                <a:latin typeface="Calibri" pitchFamily="34" charset="0"/>
                <a:ea typeface="Calibri" pitchFamily="34" charset="-122"/>
                <a:cs typeface="Calibri" pitchFamily="34" charset="-120"/>
              </a:rPr>
              <a:t>watsonx.ai</a:t>
            </a:r>
            <a:endParaRPr lang="en-US" sz="1600" dirty="0"/>
          </a:p>
        </p:txBody>
      </p:sp>
      <p:sp>
        <p:nvSpPr>
          <p:cNvPr id="9" name="Text 6"/>
          <p:cNvSpPr txBox="1"/>
          <p:nvPr/>
        </p:nvSpPr>
        <p:spPr>
          <a:xfrm>
            <a:off x="685800" y="2468880"/>
            <a:ext cx="2194560" cy="228600"/>
          </a:xfrm>
          <a:prstGeom prst="rect">
            <a:avLst/>
          </a:prstGeom>
          <a:noFill/>
          <a:ln/>
        </p:spPr>
        <p:txBody>
          <a:bodyPr wrap="square" lIns="0" tIns="0" rIns="0" bIns="0" rtlCol="0" anchor="t"/>
          <a:lstStyle/>
          <a:p>
            <a:pPr marL="0" indent="0">
              <a:buNone/>
            </a:pPr>
            <a:r>
              <a:rPr lang="en-US" sz="1100" dirty="0">
                <a:solidFill>
                  <a:srgbClr val="A78BFA"/>
                </a:solidFill>
                <a:latin typeface="Calibri" pitchFamily="34" charset="0"/>
                <a:ea typeface="Calibri" pitchFamily="34" charset="-122"/>
                <a:cs typeface="Calibri" pitchFamily="34" charset="-120"/>
              </a:rPr>
              <a:t>Llama 4 Maverick · 3 call types</a:t>
            </a:r>
            <a:endParaRPr lang="en-US" sz="1100" dirty="0"/>
          </a:p>
        </p:txBody>
      </p:sp>
      <p:sp>
        <p:nvSpPr>
          <p:cNvPr id="10" name="Text 7"/>
          <p:cNvSpPr txBox="1"/>
          <p:nvPr/>
        </p:nvSpPr>
        <p:spPr>
          <a:xfrm>
            <a:off x="685800" y="2834640"/>
            <a:ext cx="2194560" cy="123444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CBD5E1"/>
                </a:solidFill>
                <a:latin typeface="Calibri" pitchFamily="34" charset="0"/>
                <a:ea typeface="Calibri" pitchFamily="34" charset="-122"/>
                <a:cs typeface="Calibri" pitchFamily="34" charset="-120"/>
              </a:rPr>
              <a:t>GDP excursion severity classification</a:t>
            </a:r>
            <a:endParaRPr lang="en-US" sz="1150" dirty="0"/>
          </a:p>
          <a:p>
            <a:pPr marL="152400" indent="-152400">
              <a:spcAft>
                <a:spcPts val="500"/>
              </a:spcAft>
              <a:buSzPct val="100000"/>
              <a:buChar char="•"/>
            </a:pPr>
            <a:r>
              <a:rPr lang="en-US" sz="1150" dirty="0">
                <a:solidFill>
                  <a:srgbClr val="CBD5E1"/>
                </a:solidFill>
                <a:latin typeface="Calibri" pitchFamily="34" charset="0"/>
                <a:ea typeface="Calibri" pitchFamily="34" charset="-122"/>
                <a:cs typeface="Calibri" pitchFamily="34" charset="-120"/>
              </a:rPr>
              <a:t>Rerouting strategy generation</a:t>
            </a:r>
            <a:endParaRPr lang="en-US" sz="1150" dirty="0"/>
          </a:p>
          <a:p>
            <a:pPr marL="152400" indent="-152400">
              <a:spcAft>
                <a:spcPts val="500"/>
              </a:spcAft>
              <a:buSzPct val="100000"/>
              <a:buChar char="•"/>
            </a:pPr>
            <a:r>
              <a:rPr lang="en-US" sz="1150" dirty="0">
                <a:solidFill>
                  <a:srgbClr val="CBD5E1"/>
                </a:solidFill>
                <a:latin typeface="Calibri" pitchFamily="34" charset="0"/>
                <a:ea typeface="Calibri" pitchFamily="34" charset="-122"/>
                <a:cs typeface="Calibri" pitchFamily="34" charset="-120"/>
              </a:rPr>
              <a:t>Operations Copilot Q&amp;A with live system context</a:t>
            </a:r>
            <a:endParaRPr lang="en-US" sz="1150" dirty="0"/>
          </a:p>
        </p:txBody>
      </p:sp>
      <p:sp>
        <p:nvSpPr>
          <p:cNvPr id="11" name="Shape 8"/>
          <p:cNvSpPr/>
          <p:nvPr/>
        </p:nvSpPr>
        <p:spPr>
          <a:xfrm>
            <a:off x="3291840" y="1280160"/>
            <a:ext cx="2560320" cy="2880360"/>
          </a:xfrm>
          <a:prstGeom prst="roundRect">
            <a:avLst>
              <a:gd name="adj" fmla="val 2857"/>
            </a:avLst>
          </a:prstGeom>
          <a:solidFill>
            <a:srgbClr val="14213D"/>
          </a:solidFill>
          <a:ln w="12700">
            <a:solidFill>
              <a:srgbClr val="14213D"/>
            </a:solidFill>
            <a:prstDash val="solid"/>
          </a:ln>
        </p:spPr>
      </p:sp>
      <p:sp>
        <p:nvSpPr>
          <p:cNvPr id="12" name="Shape 9"/>
          <p:cNvSpPr/>
          <p:nvPr/>
        </p:nvSpPr>
        <p:spPr>
          <a:xfrm>
            <a:off x="3520440" y="1508760"/>
            <a:ext cx="502920" cy="502920"/>
          </a:xfrm>
          <a:prstGeom prst="ellipse">
            <a:avLst/>
          </a:prstGeom>
          <a:solidFill>
            <a:srgbClr val="2A2560"/>
          </a:solidFill>
          <a:ln w="12700">
            <a:solidFill>
              <a:srgbClr val="2A2560"/>
            </a:solidFill>
            <a:prstDash val="solid"/>
          </a:ln>
        </p:spPr>
      </p:sp>
      <p:pic>
        <p:nvPicPr>
          <p:cNvPr id="13" name="Image 1" descr="preencoded.png"/>
          <p:cNvPicPr>
            <a:picLocks noChangeAspect="1"/>
          </p:cNvPicPr>
          <p:nvPr/>
        </p:nvPicPr>
        <p:blipFill>
          <a:blip r:embed="rId2"/>
          <a:stretch>
            <a:fillRect/>
          </a:stretch>
        </p:blipFill>
        <p:spPr>
          <a:xfrm>
            <a:off x="3646170" y="1634490"/>
            <a:ext cx="251460" cy="251460"/>
          </a:xfrm>
          <a:prstGeom prst="rect">
            <a:avLst/>
          </a:prstGeom>
        </p:spPr>
      </p:pic>
      <p:sp>
        <p:nvSpPr>
          <p:cNvPr id="14" name="Text 10"/>
          <p:cNvSpPr txBox="1"/>
          <p:nvPr/>
        </p:nvSpPr>
        <p:spPr>
          <a:xfrm>
            <a:off x="3520440" y="2148840"/>
            <a:ext cx="2194560" cy="320040"/>
          </a:xfrm>
          <a:prstGeom prst="rect">
            <a:avLst/>
          </a:prstGeom>
          <a:noFill/>
          <a:ln/>
        </p:spPr>
        <p:txBody>
          <a:bodyPr wrap="square" lIns="0" tIns="0" rIns="0" bIns="0" rtlCol="0" anchor="t"/>
          <a:lstStyle/>
          <a:p>
            <a:pPr marL="0" indent="0">
              <a:buNone/>
            </a:pPr>
            <a:r>
              <a:rPr lang="en-US" sz="1600" b="1" dirty="0">
                <a:solidFill>
                  <a:srgbClr val="F1F5F9"/>
                </a:solidFill>
                <a:latin typeface="Calibri" pitchFamily="34" charset="0"/>
                <a:ea typeface="Calibri" pitchFamily="34" charset="-122"/>
                <a:cs typeface="Calibri" pitchFamily="34" charset="-120"/>
              </a:rPr>
              <a:t>IBM Bob MCP Server</a:t>
            </a:r>
            <a:endParaRPr lang="en-US" sz="1600" dirty="0"/>
          </a:p>
        </p:txBody>
      </p:sp>
      <p:sp>
        <p:nvSpPr>
          <p:cNvPr id="15" name="Text 11"/>
          <p:cNvSpPr txBox="1"/>
          <p:nvPr/>
        </p:nvSpPr>
        <p:spPr>
          <a:xfrm>
            <a:off x="3520440" y="2468880"/>
            <a:ext cx="2194560" cy="228600"/>
          </a:xfrm>
          <a:prstGeom prst="rect">
            <a:avLst/>
          </a:prstGeom>
          <a:noFill/>
          <a:ln/>
        </p:spPr>
        <p:txBody>
          <a:bodyPr wrap="square" lIns="0" tIns="0" rIns="0" bIns="0" rtlCol="0" anchor="t"/>
          <a:lstStyle/>
          <a:p>
            <a:pPr marL="0" indent="0">
              <a:buNone/>
            </a:pPr>
            <a:r>
              <a:rPr lang="en-US" sz="1100" dirty="0">
                <a:solidFill>
                  <a:srgbClr val="A78BFA"/>
                </a:solidFill>
                <a:latin typeface="Calibri" pitchFamily="34" charset="0"/>
                <a:ea typeface="Calibri" pitchFamily="34" charset="-122"/>
                <a:cs typeface="Calibri" pitchFamily="34" charset="-120"/>
              </a:rPr>
              <a:t>Custom 6-tool server</a:t>
            </a:r>
            <a:endParaRPr lang="en-US" sz="1100" dirty="0"/>
          </a:p>
        </p:txBody>
      </p:sp>
      <p:sp>
        <p:nvSpPr>
          <p:cNvPr id="16" name="Text 12"/>
          <p:cNvSpPr txBox="1"/>
          <p:nvPr/>
        </p:nvSpPr>
        <p:spPr>
          <a:xfrm>
            <a:off x="3520440" y="2834640"/>
            <a:ext cx="2194560" cy="123444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CBD5E1"/>
                </a:solidFill>
                <a:latin typeface="Calibri" pitchFamily="34" charset="0"/>
                <a:ea typeface="Calibri" pitchFamily="34" charset="-122"/>
                <a:cs typeface="Calibri" pitchFamily="34" charset="-120"/>
              </a:rPr>
              <a:t>Connects Bob directly to live operational data</a:t>
            </a:r>
            <a:endParaRPr lang="en-US" sz="1150" dirty="0"/>
          </a:p>
          <a:p>
            <a:pPr marL="152400" indent="-152400">
              <a:spcAft>
                <a:spcPts val="500"/>
              </a:spcAft>
              <a:buSzPct val="100000"/>
              <a:buChar char="•"/>
            </a:pPr>
            <a:r>
              <a:rPr lang="en-US" sz="1150" dirty="0">
                <a:solidFill>
                  <a:srgbClr val="CBD5E1"/>
                </a:solidFill>
                <a:latin typeface="Calibri" pitchFamily="34" charset="0"/>
                <a:ea typeface="Calibri" pitchFamily="34" charset="-122"/>
                <a:cs typeface="Calibri" pitchFamily="34" charset="-120"/>
              </a:rPr>
              <a:t>get_shipment_risk returns the real 6-factor breakdown</a:t>
            </a:r>
            <a:endParaRPr lang="en-US" sz="1150" dirty="0"/>
          </a:p>
          <a:p>
            <a:pPr marL="152400" indent="-152400">
              <a:spcAft>
                <a:spcPts val="500"/>
              </a:spcAft>
              <a:buSzPct val="100000"/>
              <a:buChar char="•"/>
            </a:pPr>
            <a:r>
              <a:rPr lang="en-US" sz="1150" dirty="0">
                <a:solidFill>
                  <a:srgbClr val="CBD5E1"/>
                </a:solidFill>
                <a:latin typeface="Calibri" pitchFamily="34" charset="0"/>
                <a:ea typeface="Calibri" pitchFamily="34" charset="-122"/>
                <a:cs typeface="Calibri" pitchFamily="34" charset="-120"/>
              </a:rPr>
              <a:t>Bob queries real scores, never fabricates numbers</a:t>
            </a:r>
            <a:endParaRPr lang="en-US" sz="1150" dirty="0"/>
          </a:p>
        </p:txBody>
      </p:sp>
      <p:sp>
        <p:nvSpPr>
          <p:cNvPr id="17" name="Shape 13"/>
          <p:cNvSpPr/>
          <p:nvPr/>
        </p:nvSpPr>
        <p:spPr>
          <a:xfrm>
            <a:off x="6126480" y="1280160"/>
            <a:ext cx="2560320" cy="2880360"/>
          </a:xfrm>
          <a:prstGeom prst="roundRect">
            <a:avLst>
              <a:gd name="adj" fmla="val 2857"/>
            </a:avLst>
          </a:prstGeom>
          <a:solidFill>
            <a:srgbClr val="14213D"/>
          </a:solidFill>
          <a:ln w="12700">
            <a:solidFill>
              <a:srgbClr val="14213D"/>
            </a:solidFill>
            <a:prstDash val="solid"/>
          </a:ln>
        </p:spPr>
      </p:sp>
      <p:sp>
        <p:nvSpPr>
          <p:cNvPr id="18" name="Shape 14"/>
          <p:cNvSpPr/>
          <p:nvPr/>
        </p:nvSpPr>
        <p:spPr>
          <a:xfrm>
            <a:off x="6355080" y="1508760"/>
            <a:ext cx="502920" cy="502920"/>
          </a:xfrm>
          <a:prstGeom prst="ellipse">
            <a:avLst/>
          </a:prstGeom>
          <a:solidFill>
            <a:srgbClr val="2A2560"/>
          </a:solidFill>
          <a:ln w="12700">
            <a:solidFill>
              <a:srgbClr val="2A2560"/>
            </a:solidFill>
            <a:prstDash val="solid"/>
          </a:ln>
        </p:spPr>
      </p:sp>
      <p:pic>
        <p:nvPicPr>
          <p:cNvPr id="19" name="Image 2" descr="preencoded.png"/>
          <p:cNvPicPr>
            <a:picLocks noChangeAspect="1"/>
          </p:cNvPicPr>
          <p:nvPr/>
        </p:nvPicPr>
        <p:blipFill>
          <a:blip r:embed="rId3"/>
          <a:stretch>
            <a:fillRect/>
          </a:stretch>
        </p:blipFill>
        <p:spPr>
          <a:xfrm>
            <a:off x="6480810" y="1634490"/>
            <a:ext cx="251460" cy="251460"/>
          </a:xfrm>
          <a:prstGeom prst="rect">
            <a:avLst/>
          </a:prstGeom>
        </p:spPr>
      </p:pic>
      <p:sp>
        <p:nvSpPr>
          <p:cNvPr id="20" name="Text 15"/>
          <p:cNvSpPr txBox="1"/>
          <p:nvPr/>
        </p:nvSpPr>
        <p:spPr>
          <a:xfrm>
            <a:off x="6355080" y="2148840"/>
            <a:ext cx="2194560" cy="320040"/>
          </a:xfrm>
          <a:prstGeom prst="rect">
            <a:avLst/>
          </a:prstGeom>
          <a:noFill/>
          <a:ln/>
        </p:spPr>
        <p:txBody>
          <a:bodyPr wrap="square" lIns="0" tIns="0" rIns="0" bIns="0" rtlCol="0" anchor="t"/>
          <a:lstStyle/>
          <a:p>
            <a:pPr marL="0" indent="0">
              <a:buNone/>
            </a:pPr>
            <a:r>
              <a:rPr lang="en-US" sz="1600" b="1" dirty="0">
                <a:solidFill>
                  <a:srgbClr val="F1F5F9"/>
                </a:solidFill>
                <a:latin typeface="Calibri" pitchFamily="34" charset="0"/>
                <a:ea typeface="Calibri" pitchFamily="34" charset="-122"/>
                <a:cs typeface="Calibri" pitchFamily="34" charset="-120"/>
              </a:rPr>
              <a:t>IBM Bob</a:t>
            </a:r>
            <a:endParaRPr lang="en-US" sz="1600" dirty="0"/>
          </a:p>
        </p:txBody>
      </p:sp>
      <p:sp>
        <p:nvSpPr>
          <p:cNvPr id="21" name="Text 16"/>
          <p:cNvSpPr txBox="1"/>
          <p:nvPr/>
        </p:nvSpPr>
        <p:spPr>
          <a:xfrm>
            <a:off x="6355080" y="2468880"/>
            <a:ext cx="2194560" cy="228600"/>
          </a:xfrm>
          <a:prstGeom prst="rect">
            <a:avLst/>
          </a:prstGeom>
          <a:noFill/>
          <a:ln/>
        </p:spPr>
        <p:txBody>
          <a:bodyPr wrap="square" lIns="0" tIns="0" rIns="0" bIns="0" rtlCol="0" anchor="t"/>
          <a:lstStyle/>
          <a:p>
            <a:pPr marL="0" indent="0">
              <a:buNone/>
            </a:pPr>
            <a:r>
              <a:rPr lang="en-US" sz="1100" dirty="0">
                <a:solidFill>
                  <a:srgbClr val="A78BFA"/>
                </a:solidFill>
                <a:latin typeface="Calibri" pitchFamily="34" charset="0"/>
                <a:ea typeface="Calibri" pitchFamily="34" charset="-122"/>
                <a:cs typeface="Calibri" pitchFamily="34" charset="-120"/>
              </a:rPr>
              <a:t>AI coding agent</a:t>
            </a:r>
            <a:endParaRPr lang="en-US" sz="1100" dirty="0"/>
          </a:p>
        </p:txBody>
      </p:sp>
      <p:sp>
        <p:nvSpPr>
          <p:cNvPr id="22" name="Text 17"/>
          <p:cNvSpPr txBox="1"/>
          <p:nvPr/>
        </p:nvSpPr>
        <p:spPr>
          <a:xfrm>
            <a:off x="6355080" y="2834640"/>
            <a:ext cx="2194560" cy="123444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CBD5E1"/>
                </a:solidFill>
                <a:latin typeface="Calibri" pitchFamily="34" charset="0"/>
                <a:ea typeface="Calibri" pitchFamily="34" charset="-122"/>
                <a:cs typeface="Calibri" pitchFamily="34" charset="-120"/>
              </a:rPr>
              <a:t>Codebase exploration &amp; architecture review</a:t>
            </a:r>
            <a:endParaRPr lang="en-US" sz="1150" dirty="0"/>
          </a:p>
          <a:p>
            <a:pPr marL="152400" indent="-152400">
              <a:spcAft>
                <a:spcPts val="500"/>
              </a:spcAft>
              <a:buSzPct val="100000"/>
              <a:buChar char="•"/>
            </a:pPr>
            <a:r>
              <a:rPr lang="en-US" sz="1150" dirty="0">
                <a:solidFill>
                  <a:srgbClr val="CBD5E1"/>
                </a:solidFill>
                <a:latin typeface="Calibri" pitchFamily="34" charset="0"/>
                <a:ea typeface="Calibri" pitchFamily="34" charset="-122"/>
                <a:cs typeface="Calibri" pitchFamily="34" charset="-120"/>
              </a:rPr>
              <a:t>Feature implementation across all 5 engines</a:t>
            </a:r>
            <a:endParaRPr lang="en-US" sz="1150" dirty="0"/>
          </a:p>
          <a:p>
            <a:pPr marL="152400" indent="-152400">
              <a:spcAft>
                <a:spcPts val="500"/>
              </a:spcAft>
              <a:buSzPct val="100000"/>
              <a:buChar char="•"/>
            </a:pPr>
            <a:r>
              <a:rPr lang="en-US" sz="1150" dirty="0">
                <a:solidFill>
                  <a:srgbClr val="CBD5E1"/>
                </a:solidFill>
                <a:latin typeface="Calibri" pitchFamily="34" charset="0"/>
                <a:ea typeface="Calibri" pitchFamily="34" charset="-122"/>
                <a:cs typeface="Calibri" pitchFamily="34" charset="-120"/>
              </a:rPr>
              <a:t>Documentation and validation</a:t>
            </a:r>
            <a:endParaRPr lang="en-US" sz="1150" dirty="0"/>
          </a:p>
        </p:txBody>
      </p:sp>
      <p:sp>
        <p:nvSpPr>
          <p:cNvPr id="23" name="Text 18"/>
          <p:cNvSpPr txBox="1"/>
          <p:nvPr/>
        </p:nvSpPr>
        <p:spPr>
          <a:xfrm>
            <a:off x="457200" y="4315968"/>
            <a:ext cx="7132320" cy="411480"/>
          </a:xfrm>
          <a:prstGeom prst="rect">
            <a:avLst/>
          </a:prstGeom>
          <a:noFill/>
          <a:ln/>
        </p:spPr>
        <p:txBody>
          <a:bodyPr wrap="square" lIns="0" tIns="0" rIns="0" bIns="0" rtlCol="0" anchor="t"/>
          <a:lstStyle/>
          <a:p>
            <a:pPr marL="0" indent="0">
              <a:buNone/>
            </a:pPr>
            <a:r>
              <a:rPr lang="en-US" sz="900" dirty="0">
                <a:solidFill>
                  <a:srgbClr val="94A3B8"/>
                </a:solidFill>
                <a:latin typeface="Courier New" pitchFamily="34" charset="0"/>
                <a:ea typeface="Courier New" pitchFamily="34" charset="-122"/>
                <a:cs typeface="Courier New" pitchFamily="34" charset="-120"/>
              </a:rPr>
              <a:t>MCP tools:  get_active_disruptions · get_affected_shipments · get_shipment_risk</a:t>
            </a:r>
            <a:endParaRPr lang="en-US" sz="900" dirty="0"/>
          </a:p>
          <a:p>
            <a:pPr marL="0" indent="0">
              <a:buNone/>
            </a:pPr>
            <a:r>
              <a:rPr lang="en-US" sz="900" dirty="0">
                <a:solidFill>
                  <a:srgbClr val="94A3B8"/>
                </a:solidFill>
                <a:latin typeface="Courier New" pitchFamily="34" charset="0"/>
                <a:ea typeface="Courier New" pitchFamily="34" charset="-122"/>
                <a:cs typeface="Courier New" pitchFamily="34" charset="-120"/>
              </a:rPr>
              <a:t>            get_cold_chain_status · get_idle_fleet_assets · get_action_center</a:t>
            </a:r>
            <a:endParaRPr lang="en-US" sz="900" dirty="0"/>
          </a:p>
        </p:txBody>
      </p:sp>
    </p:spTree>
  </p:cSld>
  <p:clrMapOvr>
    <a:masterClrMapping/>
  </p:clrMapOvr>
</p:sld>
</file>

<file path=ppt/slides/slide7.xml><?xml version="1.0" encoding="utf-8"?>
<p:sld xmlns:p14="http://schemas.microsoft.com/office/powerpoint/2010/main" xmlns:a="http://schemas.openxmlformats.org/drawingml/2006/main" xmlns:r="http://schemas.openxmlformats.org/officeDocument/2006/relationships" xmlns:p="http://schemas.openxmlformats.org/presentationml/2006/main">
  <p:cSld name="Slide 7">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07  ·  BUSINESS IMPACT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What this changes</a:t>
            </a:r>
            <a:endParaRPr lang="en-US" sz="2800" dirty="0"/>
          </a:p>
        </p:txBody>
      </p:sp>
      <p:sp>
        <p:nvSpPr>
          <p:cNvPr id="4" name="Text 2"/>
          <p:cNvSpPr txBox="1"/>
          <p:nvPr/>
        </p:nvSpPr>
        <p:spPr>
          <a:xfrm>
            <a:off x="7772400" y="4773168"/>
            <a:ext cx="914400" cy="182880"/>
          </a:xfrm>
          <a:prstGeom prst="rect">
            <a:avLst/>
          </a:prstGeom>
          <a:noFill/>
          <a:ln/>
        </p:spPr>
        <p:txBody>
          <a:bodyPr wrap="square" lIns="0" tIns="0" rIns="0" bIns="0" rtlCol="0" anchor="t"/>
          <a:lstStyle/>
          <a:p>
            <a:pPr marL="0" indent="0" algn="r">
              <a:buNone/>
            </a:pPr>
            <a:r>
              <a:rPr lang="en-US" sz="900" dirty="0">
                <a:solidFill>
                  <a:srgbClr val="94A3B8"/>
                </a:solidFill>
                <a:latin typeface="Calibri" pitchFamily="34" charset="0"/>
                <a:ea typeface="Calibri" pitchFamily="34" charset="-122"/>
                <a:cs typeface="Calibri" pitchFamily="34" charset="-120"/>
              </a:rPr>
              <a:t>7 / 8</a:t>
            </a:r>
            <a:endParaRPr lang="en-US" sz="900" dirty="0"/>
          </a:p>
        </p:txBody>
      </p:sp>
      <p:sp>
        <p:nvSpPr>
          <p:cNvPr id="5" name="Shape 3"/>
          <p:cNvSpPr/>
          <p:nvPr/>
        </p:nvSpPr>
        <p:spPr>
          <a:xfrm>
            <a:off x="457200" y="1280160"/>
            <a:ext cx="2743200" cy="3246120"/>
          </a:xfrm>
          <a:prstGeom prst="roundRect">
            <a:avLst>
              <a:gd name="adj" fmla="val 2667"/>
            </a:avLst>
          </a:prstGeom>
          <a:solidFill>
            <a:srgbClr val="14213D"/>
          </a:solidFill>
          <a:ln w="12700">
            <a:solidFill>
              <a:srgbClr val="14213D"/>
            </a:solidFill>
            <a:prstDash val="solid"/>
          </a:ln>
        </p:spPr>
      </p:sp>
      <p:sp>
        <p:nvSpPr>
          <p:cNvPr id="6" name="Shape 4"/>
          <p:cNvSpPr/>
          <p:nvPr/>
        </p:nvSpPr>
        <p:spPr>
          <a:xfrm>
            <a:off x="685800" y="1508760"/>
            <a:ext cx="502920" cy="502920"/>
          </a:xfrm>
          <a:prstGeom prst="ellipse">
            <a:avLst/>
          </a:prstGeom>
          <a:solidFill>
            <a:srgbClr val="0E3A4A"/>
          </a:solidFill>
          <a:ln w="12700">
            <a:solidFill>
              <a:srgbClr val="0E3A4A"/>
            </a:solidFill>
            <a:prstDash val="solid"/>
          </a:ln>
        </p:spPr>
      </p:sp>
      <p:pic>
        <p:nvPicPr>
          <p:cNvPr id="7" name="Image 0" descr="preencoded.png"/>
          <p:cNvPicPr>
            <a:picLocks noChangeAspect="1"/>
          </p:cNvPicPr>
          <p:nvPr/>
        </p:nvPicPr>
        <p:blipFill>
          <a:blip r:embed="rId1"/>
          <a:stretch>
            <a:fillRect/>
          </a:stretch>
        </p:blipFill>
        <p:spPr>
          <a:xfrm>
            <a:off x="811530" y="1634490"/>
            <a:ext cx="251460" cy="251460"/>
          </a:xfrm>
          <a:prstGeom prst="rect">
            <a:avLst/>
          </a:prstGeom>
        </p:spPr>
      </p:pic>
      <p:sp>
        <p:nvSpPr>
          <p:cNvPr id="8" name="Text 5"/>
          <p:cNvSpPr txBox="1"/>
          <p:nvPr/>
        </p:nvSpPr>
        <p:spPr>
          <a:xfrm>
            <a:off x="685800" y="2194560"/>
            <a:ext cx="2286000" cy="365760"/>
          </a:xfrm>
          <a:prstGeom prst="rect">
            <a:avLst/>
          </a:prstGeom>
          <a:noFill/>
          <a:ln/>
        </p:spPr>
        <p:txBody>
          <a:bodyPr wrap="square" lIns="0" tIns="0" rIns="0" bIns="0" rtlCol="0" anchor="t"/>
          <a:lstStyle/>
          <a:p>
            <a:pPr marL="0" indent="0">
              <a:buNone/>
            </a:pPr>
            <a:r>
              <a:rPr lang="en-US" sz="2000" strike="sngStrike" dirty="0">
                <a:solidFill>
                  <a:srgbClr val="94A3B8"/>
                </a:solidFill>
                <a:latin typeface="Arial" pitchFamily="34" charset="0"/>
                <a:ea typeface="Arial" pitchFamily="34" charset="-122"/>
                <a:cs typeface="Arial" pitchFamily="34" charset="-120"/>
              </a:rPr>
              <a:t>2–4 hours</a:t>
            </a:r>
            <a:endParaRPr lang="en-US" sz="2000" dirty="0"/>
          </a:p>
        </p:txBody>
      </p:sp>
      <p:sp>
        <p:nvSpPr>
          <p:cNvPr id="9" name="Text 6"/>
          <p:cNvSpPr txBox="1"/>
          <p:nvPr/>
        </p:nvSpPr>
        <p:spPr>
          <a:xfrm>
            <a:off x="685800" y="2560320"/>
            <a:ext cx="2377440" cy="822960"/>
          </a:xfrm>
          <a:prstGeom prst="rect">
            <a:avLst/>
          </a:prstGeom>
          <a:noFill/>
          <a:ln/>
        </p:spPr>
        <p:txBody>
          <a:bodyPr wrap="square" lIns="0" tIns="0" rIns="0" bIns="0" rtlCol="0" anchor="t"/>
          <a:lstStyle/>
          <a:p>
            <a:pPr marL="0" indent="0">
              <a:buNone/>
            </a:pPr>
            <a:r>
              <a:rPr lang="en-US" sz="4800" b="1" dirty="0">
                <a:solidFill>
                  <a:srgbClr val="22D3EE"/>
                </a:solidFill>
                <a:latin typeface="Arial" pitchFamily="34" charset="0"/>
                <a:ea typeface="Arial" pitchFamily="34" charset="-122"/>
                <a:cs typeface="Arial" pitchFamily="34" charset="-120"/>
              </a:rPr>
              <a:t>&lt; 5 sec</a:t>
            </a:r>
            <a:endParaRPr lang="en-US" sz="4800" dirty="0"/>
          </a:p>
        </p:txBody>
      </p:sp>
      <p:sp>
        <p:nvSpPr>
          <p:cNvPr id="10" name="Text 7"/>
          <p:cNvSpPr txBox="1"/>
          <p:nvPr/>
        </p:nvSpPr>
        <p:spPr>
          <a:xfrm>
            <a:off x="685800" y="3474720"/>
            <a:ext cx="2286000" cy="731520"/>
          </a:xfrm>
          <a:prstGeom prst="rect">
            <a:avLst/>
          </a:prstGeom>
          <a:noFill/>
          <a:ln/>
        </p:spPr>
        <p:txBody>
          <a:bodyPr wrap="square" lIns="0" tIns="0" rIns="0" bIns="0" rtlCol="0" anchor="t"/>
          <a:lstStyle/>
          <a:p>
            <a:pPr marL="0" indent="0">
              <a:buNone/>
            </a:pPr>
            <a:r>
              <a:rPr lang="en-US" sz="1200" dirty="0">
                <a:solidFill>
                  <a:srgbClr val="CBD5E1"/>
                </a:solidFill>
                <a:latin typeface="Calibri" pitchFamily="34" charset="0"/>
                <a:ea typeface="Calibri" pitchFamily="34" charset="-122"/>
                <a:cs typeface="Calibri" pitchFamily="34" charset="-120"/>
              </a:rPr>
              <a:t>Disruption triage time, from manual spreadsheet work to automated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5212080" cy="914400"/>
        </p:xfrm>
        <a:graphic>
          <a:graphicData uri="http://schemas.openxmlformats.org/drawingml/2006/table">
            <a:tbl>
              <a:tblPr/>
              <a:tblGrid>
                <a:gridCol w="1783080"/>
                <a:gridCol w="1645920"/>
                <a:gridCol w="1783080"/>
              </a:tblGrid>
              <a:tr h="365760">
                <a:tc>
                  <a:txBody>
                    <a:bodyPr/>
                    <a:lstStyle/>
                    <a:p>
                      <a:pPr marL="0" indent="0">
                        <a:buNone/>
                      </a:pPr>
                      <a:r>
                        <a:rPr lang="en-US" sz="1000" b="1" dirty="0">
                          <a:solidFill>
                            <a:srgbClr val="94A3B8"/>
                          </a:solidFill>
                          <a:latin typeface="Calibri" pitchFamily="34" charset="0"/>
                          <a:ea typeface="Calibri" pitchFamily="34" charset="-122"/>
                          <a:cs typeface="Calibri" pitchFamily="34" charset="-120"/>
                        </a:rPr>
                        <a:t>METRIC</a:t>
                      </a:r>
                      <a:endParaRPr lang="en-US" sz="10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1426"/>
                    </a:solidFill>
                  </a:tcPr>
                </a:tc>
                <a:tc>
                  <a:txBody>
                    <a:bodyPr/>
                    <a:lstStyle/>
                    <a:p>
                      <a:pPr marL="0" indent="0">
                        <a:buNone/>
                      </a:pPr>
                      <a:r>
                        <a:rPr lang="en-US" sz="1000" b="1" dirty="0">
                          <a:solidFill>
                            <a:srgbClr val="94A3B8"/>
                          </a:solidFill>
                          <a:latin typeface="Calibri" pitchFamily="34" charset="0"/>
                          <a:ea typeface="Calibri" pitchFamily="34" charset="-122"/>
                          <a:cs typeface="Calibri" pitchFamily="34" charset="-120"/>
                        </a:rPr>
                        <a:t>BEFORE</a:t>
                      </a:r>
                      <a:endParaRPr lang="en-US" sz="10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1426"/>
                    </a:solidFill>
                  </a:tcPr>
                </a:tc>
                <a:tc>
                  <a:txBody>
                    <a:bodyPr/>
                    <a:lstStyle/>
                    <a:p>
                      <a:pPr marL="0" indent="0">
                        <a:buNone/>
                      </a:pPr>
                      <a:r>
                        <a:rPr lang="en-US" sz="1000" b="1" dirty="0">
                          <a:solidFill>
                            <a:srgbClr val="94A3B8"/>
                          </a:solidFill>
                          <a:latin typeface="Calibri" pitchFamily="34" charset="0"/>
                          <a:ea typeface="Calibri" pitchFamily="34" charset="-122"/>
                          <a:cs typeface="Calibri" pitchFamily="34" charset="-120"/>
                        </a:rPr>
                        <a:t>AFTER</a:t>
                      </a:r>
                      <a:endParaRPr lang="en-US" sz="10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1426"/>
                    </a:solidFill>
                  </a:tcPr>
                </a:tc>
              </a:tr>
              <a:tr h="566928">
                <a:tc>
                  <a:txBody>
                    <a:bodyPr/>
                    <a:lstStyle/>
                    <a:p>
                      <a:pPr marL="0" indent="0">
                        <a:buNone/>
                      </a:pPr>
                      <a:r>
                        <a:rPr lang="en-US" sz="1200" b="1" dirty="0">
                          <a:solidFill>
                            <a:srgbClr val="F1F5F9"/>
                          </a:solidFill>
                          <a:latin typeface="Calibri" pitchFamily="34" charset="0"/>
                          <a:ea typeface="Calibri" pitchFamily="34" charset="-122"/>
                          <a:cs typeface="Calibri" pitchFamily="34" charset="-120"/>
                        </a:rPr>
                        <a:t>Excursion detection</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14213D"/>
                    </a:solidFill>
                  </a:tcPr>
                </a:tc>
                <a:tc>
                  <a:txBody>
                    <a:bodyPr/>
                    <a:lstStyle/>
                    <a:p>
                      <a:pPr marL="0" indent="0">
                        <a:buNone/>
                      </a:pPr>
                      <a:r>
                        <a:rPr lang="en-US" sz="1200" dirty="0">
                          <a:solidFill>
                            <a:srgbClr val="94A3B8"/>
                          </a:solidFill>
                          <a:latin typeface="Calibri" pitchFamily="34" charset="0"/>
                          <a:ea typeface="Calibri" pitchFamily="34" charset="-122"/>
                          <a:cs typeface="Calibri" pitchFamily="34" charset="-120"/>
                        </a:rPr>
                        <a:t>At delivery (too late)</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14213D"/>
                    </a:solidFill>
                  </a:tcPr>
                </a:tc>
                <a:tc>
                  <a:txBody>
                    <a:bodyPr/>
                    <a:lstStyle/>
                    <a:p>
                      <a:pPr marL="0" indent="0">
                        <a:buNone/>
                      </a:pPr>
                      <a:r>
                        <a:rPr lang="en-US" sz="1200" b="1" dirty="0">
                          <a:solidFill>
                            <a:srgbClr val="22D3EE"/>
                          </a:solidFill>
                          <a:latin typeface="Calibri" pitchFamily="34" charset="0"/>
                          <a:ea typeface="Calibri" pitchFamily="34" charset="-122"/>
                          <a:cs typeface="Calibri" pitchFamily="34" charset="-120"/>
                        </a:rPr>
                        <a:t>Real-time, pre-delivery</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14213D"/>
                    </a:solidFill>
                  </a:tcPr>
                </a:tc>
              </a:tr>
              <a:tr h="566928">
                <a:tc>
                  <a:txBody>
                    <a:bodyPr/>
                    <a:lstStyle/>
                    <a:p>
                      <a:pPr marL="0" indent="0">
                        <a:buNone/>
                      </a:pPr>
                      <a:r>
                        <a:rPr lang="en-US" sz="1200" b="1" dirty="0">
                          <a:solidFill>
                            <a:srgbClr val="F1F5F9"/>
                          </a:solidFill>
                          <a:latin typeface="Calibri" pitchFamily="34" charset="0"/>
                          <a:ea typeface="Calibri" pitchFamily="34" charset="-122"/>
                          <a:cs typeface="Calibri" pitchFamily="34" charset="-120"/>
                        </a:rPr>
                        <a:t>GDP severity classification</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1426"/>
                    </a:solidFill>
                  </a:tcPr>
                </a:tc>
                <a:tc>
                  <a:txBody>
                    <a:bodyPr/>
                    <a:lstStyle/>
                    <a:p>
                      <a:pPr marL="0" indent="0">
                        <a:buNone/>
                      </a:pPr>
                      <a:r>
                        <a:rPr lang="en-US" sz="1200" dirty="0">
                          <a:solidFill>
                            <a:srgbClr val="94A3B8"/>
                          </a:solidFill>
                          <a:latin typeface="Calibri" pitchFamily="34" charset="0"/>
                          <a:ea typeface="Calibri" pitchFamily="34" charset="-122"/>
                          <a:cs typeface="Calibri" pitchFamily="34" charset="-120"/>
                        </a:rPr>
                        <a:t>4–8 hrs quality manager</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1426"/>
                    </a:solidFill>
                  </a:tcPr>
                </a:tc>
                <a:tc>
                  <a:txBody>
                    <a:bodyPr/>
                    <a:lstStyle/>
                    <a:p>
                      <a:pPr marL="0" indent="0">
                        <a:buNone/>
                      </a:pPr>
                      <a:r>
                        <a:rPr lang="en-US" sz="1200" b="1" dirty="0">
                          <a:solidFill>
                            <a:srgbClr val="22D3EE"/>
                          </a:solidFill>
                          <a:latin typeface="Calibri" pitchFamily="34" charset="0"/>
                          <a:ea typeface="Calibri" pitchFamily="34" charset="-122"/>
                          <a:cs typeface="Calibri" pitchFamily="34" charset="-120"/>
                        </a:rPr>
                        <a:t>Instant, watsonx.ai-grounded</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1426"/>
                    </a:solidFill>
                  </a:tcPr>
                </a:tc>
              </a:tr>
              <a:tr h="566928">
                <a:tc>
                  <a:txBody>
                    <a:bodyPr/>
                    <a:lstStyle/>
                    <a:p>
                      <a:pPr marL="0" indent="0">
                        <a:buNone/>
                      </a:pPr>
                      <a:r>
                        <a:rPr lang="en-US" sz="1200" b="1" dirty="0">
                          <a:solidFill>
                            <a:srgbClr val="F1F5F9"/>
                          </a:solidFill>
                          <a:latin typeface="Calibri" pitchFamily="34" charset="0"/>
                          <a:ea typeface="Calibri" pitchFamily="34" charset="-122"/>
                          <a:cs typeface="Calibri" pitchFamily="34" charset="-120"/>
                        </a:rPr>
                        <a:t>Fleet redeployment</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14213D"/>
                    </a:solidFill>
                  </a:tcPr>
                </a:tc>
                <a:tc>
                  <a:txBody>
                    <a:bodyPr/>
                    <a:lstStyle/>
                    <a:p>
                      <a:pPr marL="0" indent="0">
                        <a:buNone/>
                      </a:pPr>
                      <a:r>
                        <a:rPr lang="en-US" sz="1200" dirty="0">
                          <a:solidFill>
                            <a:srgbClr val="94A3B8"/>
                          </a:solidFill>
                          <a:latin typeface="Calibri" pitchFamily="34" charset="0"/>
                          <a:ea typeface="Calibri" pitchFamily="34" charset="-122"/>
                          <a:cs typeface="Calibri" pitchFamily="34" charset="-120"/>
                        </a:rPr>
                        <a:t>Email &amp; phone calls</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14213D"/>
                    </a:solidFill>
                  </a:tcPr>
                </a:tc>
                <a:tc>
                  <a:txBody>
                    <a:bodyPr/>
                    <a:lstStyle/>
                    <a:p>
                      <a:pPr marL="0" indent="0">
                        <a:buNone/>
                      </a:pPr>
                      <a:r>
                        <a:rPr lang="en-US" sz="1200" b="1" dirty="0">
                          <a:solidFill>
                            <a:srgbClr val="22D3EE"/>
                          </a:solidFill>
                          <a:latin typeface="Calibri" pitchFamily="34" charset="0"/>
                          <a:ea typeface="Calibri" pitchFamily="34" charset="-122"/>
                          <a:cs typeface="Calibri" pitchFamily="34" charset="-120"/>
                        </a:rPr>
                        <a:t>One-click approval</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14213D"/>
                    </a:solidFill>
                  </a:tcPr>
                </a:tc>
              </a:tr>
              <a:tr h="566928">
                <a:tc>
                  <a:txBody>
                    <a:bodyPr/>
                    <a:lstStyle/>
                    <a:p>
                      <a:pPr marL="0" indent="0">
                        <a:buNone/>
                      </a:pPr>
                      <a:r>
                        <a:rPr lang="en-US" sz="1200" b="1" dirty="0">
                          <a:solidFill>
                            <a:srgbClr val="F1F5F9"/>
                          </a:solidFill>
                          <a:latin typeface="Calibri" pitchFamily="34" charset="0"/>
                          <a:ea typeface="Calibri" pitchFamily="34" charset="-122"/>
                          <a:cs typeface="Calibri" pitchFamily="34" charset="-120"/>
                        </a:rPr>
                        <a:t>Audit trail</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1426"/>
                    </a:solidFill>
                  </a:tcPr>
                </a:tc>
                <a:tc>
                  <a:txBody>
                    <a:bodyPr/>
                    <a:lstStyle/>
                    <a:p>
                      <a:pPr marL="0" indent="0">
                        <a:buNone/>
                      </a:pPr>
                      <a:r>
                        <a:rPr lang="en-US" sz="1200" dirty="0">
                          <a:solidFill>
                            <a:srgbClr val="94A3B8"/>
                          </a:solidFill>
                          <a:latin typeface="Calibri" pitchFamily="34" charset="0"/>
                          <a:ea typeface="Calibri" pitchFamily="34" charset="-122"/>
                          <a:cs typeface="Calibri" pitchFamily="34" charset="-120"/>
                        </a:rPr>
                        <a:t>Spreadsheet</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1426"/>
                    </a:solidFill>
                  </a:tcPr>
                </a:tc>
                <a:tc>
                  <a:txBody>
                    <a:bodyPr/>
                    <a:lstStyle/>
                    <a:p>
                      <a:pPr marL="0" indent="0">
                        <a:buNone/>
                      </a:pPr>
                      <a:r>
                        <a:rPr lang="en-US" sz="1200" b="1" dirty="0">
                          <a:solidFill>
                            <a:srgbClr val="22D3EE"/>
                          </a:solidFill>
                          <a:latin typeface="Calibri" pitchFamily="34" charset="0"/>
                          <a:ea typeface="Calibri" pitchFamily="34" charset="-122"/>
                          <a:cs typeface="Calibri" pitchFamily="34" charset="-120"/>
                        </a:rPr>
                        <a:t>Immutable, timestamped</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1426"/>
                    </a:solidFill>
                  </a:tcPr>
                </a:tc>
              </a:tr>
              <a:tr h="566928">
                <a:tc>
                  <a:txBody>
                    <a:bodyPr/>
                    <a:lstStyle/>
                    <a:p>
                      <a:pPr marL="0" indent="0">
                        <a:buNone/>
                      </a:pPr>
                      <a:r>
                        <a:rPr lang="en-US" sz="1200" b="1" dirty="0">
                          <a:solidFill>
                            <a:srgbClr val="F1F5F9"/>
                          </a:solidFill>
                          <a:latin typeface="Calibri" pitchFamily="34" charset="0"/>
                          <a:ea typeface="Calibri" pitchFamily="34" charset="-122"/>
                          <a:cs typeface="Calibri" pitchFamily="34" charset="-120"/>
                        </a:rPr>
                        <a:t>Shipments monitored</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14213D"/>
                    </a:solidFill>
                  </a:tcPr>
                </a:tc>
                <a:tc>
                  <a:txBody>
                    <a:bodyPr/>
                    <a:lstStyle/>
                    <a:p>
                      <a:pPr marL="0" indent="0">
                        <a:buNone/>
                      </a:pPr>
                      <a:r>
                        <a:rPr lang="en-US" sz="1200" dirty="0">
                          <a:solidFill>
                            <a:srgbClr val="94A3B8"/>
                          </a:solidFill>
                          <a:latin typeface="Calibri" pitchFamily="34" charset="0"/>
                          <a:ea typeface="Calibri" pitchFamily="34" charset="-122"/>
                          <a:cs typeface="Calibri" pitchFamily="34" charset="-120"/>
                        </a:rPr>
                        <a:t>Manual (~10)</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14213D"/>
                    </a:solidFill>
                  </a:tcPr>
                </a:tc>
                <a:tc>
                  <a:txBody>
                    <a:bodyPr/>
                    <a:lstStyle/>
                    <a:p>
                      <a:pPr marL="0" indent="0">
                        <a:buNone/>
                      </a:pPr>
                      <a:r>
                        <a:rPr lang="en-US" sz="1200" b="1" dirty="0">
                          <a:solidFill>
                            <a:srgbClr val="22D3EE"/>
                          </a:solidFill>
                          <a:latin typeface="Calibri" pitchFamily="34" charset="0"/>
                          <a:ea typeface="Calibri" pitchFamily="34" charset="-122"/>
                          <a:cs typeface="Calibri" pitchFamily="34" charset="-120"/>
                        </a:rPr>
                        <a:t>Unlimited, continuous</a:t>
                      </a:r>
                      <a:endParaRPr lang="en-US" sz="12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14213D"/>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426"/>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08  ·  TEAM &amp; WHAT'S NEXT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t"/>
          <a:lstStyle/>
          <a:p>
            <a:pPr marL="0" indent="0">
              <a:buNone/>
            </a:pPr>
            <a:r>
              <a:rPr lang="en-US" sz="2800" b="1" dirty="0">
                <a:solidFill>
                  <a:srgbClr val="F1F5F9"/>
                </a:solidFill>
                <a:latin typeface="Arial" pitchFamily="34" charset="0"/>
                <a:ea typeface="Arial" pitchFamily="34" charset="-122"/>
                <a:cs typeface="Arial" pitchFamily="34" charset="-120"/>
              </a:rPr>
              <a:t>Team Error Fellows</a:t>
            </a:r>
            <a:endParaRPr lang="en-US" sz="2800" dirty="0"/>
          </a:p>
        </p:txBody>
      </p:sp>
      <p:sp>
        <p:nvSpPr>
          <p:cNvPr id="4" name="Shape 2"/>
          <p:cNvSpPr/>
          <p:nvPr/>
        </p:nvSpPr>
        <p:spPr>
          <a:xfrm>
            <a:off x="457200" y="1280160"/>
            <a:ext cx="3931920" cy="3063240"/>
          </a:xfrm>
          <a:prstGeom prst="roundRect">
            <a:avLst>
              <a:gd name="adj" fmla="val 2388"/>
            </a:avLst>
          </a:prstGeom>
          <a:solidFill>
            <a:srgbClr val="14213D"/>
          </a:solidFill>
          <a:ln w="12700">
            <a:solidFill>
              <a:srgbClr val="14213D"/>
            </a:solidFill>
            <a:prstDash val="solid"/>
          </a:ln>
        </p:spPr>
      </p:sp>
      <p:sp>
        <p:nvSpPr>
          <p:cNvPr id="5" name="Text 3"/>
          <p:cNvSpPr txBox="1"/>
          <p:nvPr/>
        </p:nvSpPr>
        <p:spPr>
          <a:xfrm>
            <a:off x="731520" y="1481328"/>
            <a:ext cx="347472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WHAT WE'RE MOST PROUD OF</a:t>
            </a:r>
            <a:endParaRPr lang="en-US" sz="1100" dirty="0"/>
          </a:p>
        </p:txBody>
      </p:sp>
      <p:sp>
        <p:nvSpPr>
          <p:cNvPr id="6" name="Text 4"/>
          <p:cNvSpPr txBox="1"/>
          <p:nvPr/>
        </p:nvSpPr>
        <p:spPr>
          <a:xfrm>
            <a:off x="731520" y="1828800"/>
            <a:ext cx="3429000" cy="1097280"/>
          </a:xfrm>
          <a:prstGeom prst="rect">
            <a:avLst/>
          </a:prstGeom>
          <a:noFill/>
          <a:ln/>
        </p:spPr>
        <p:txBody>
          <a:bodyPr wrap="square" lIns="0" tIns="0" rIns="0" bIns="0" rtlCol="0" anchor="t"/>
          <a:lstStyle/>
          <a:p>
            <a:pPr marL="0" indent="0">
              <a:buNone/>
            </a:pPr>
            <a:r>
              <a:rPr lang="en-US" sz="2000" b="1" dirty="0">
                <a:solidFill>
                  <a:srgbClr val="F1F5F9"/>
                </a:solidFill>
                <a:latin typeface="Arial" pitchFamily="34" charset="0"/>
                <a:ea typeface="Arial" pitchFamily="34" charset="-122"/>
                <a:cs typeface="Arial" pitchFamily="34" charset="-120"/>
              </a:rPr>
              <a:t>Every number an operator sees comes from a testable engine, not an LLM.</a:t>
            </a:r>
            <a:endParaRPr lang="en-US" sz="2000" dirty="0"/>
          </a:p>
        </p:txBody>
      </p:sp>
      <p:sp>
        <p:nvSpPr>
          <p:cNvPr id="7" name="Text 5"/>
          <p:cNvSpPr txBox="1"/>
          <p:nvPr/>
        </p:nvSpPr>
        <p:spPr>
          <a:xfrm>
            <a:off x="731520" y="3017520"/>
            <a:ext cx="3429000" cy="1188720"/>
          </a:xfrm>
          <a:prstGeom prst="rect">
            <a:avLst/>
          </a:prstGeom>
          <a:noFill/>
          <a:ln/>
        </p:spPr>
        <p:txBody>
          <a:bodyPr wrap="square" lIns="0" tIns="0" rIns="0" bIns="0" rtlCol="0" anchor="t"/>
          <a:lstStyle/>
          <a:p>
            <a:pPr marL="0" indent="0">
              <a:buNone/>
            </a:pPr>
            <a:r>
              <a:rPr lang="en-US" sz="1200" dirty="0">
                <a:solidFill>
                  <a:srgbClr val="CBD5E1"/>
                </a:solidFill>
                <a:latin typeface="Calibri" pitchFamily="34" charset="0"/>
                <a:ea typeface="Calibri" pitchFamily="34" charset="-122"/>
                <a:cs typeface="Calibri" pitchFamily="34" charset="-120"/>
              </a:rPr>
              <a:t>Strict separation of deterministic computation from generative AI. watsonx.ai explains and orchestrates; it never invents operational facts. This is the production-grade pattern.</a:t>
            </a:r>
            <a:endParaRPr lang="en-US" sz="1200" dirty="0"/>
          </a:p>
        </p:txBody>
      </p:sp>
      <p:sp>
        <p:nvSpPr>
          <p:cNvPr id="8" name="Text 6"/>
          <p:cNvSpPr txBox="1"/>
          <p:nvPr/>
        </p:nvSpPr>
        <p:spPr>
          <a:xfrm>
            <a:off x="4754880" y="1280160"/>
            <a:ext cx="3931920" cy="228600"/>
          </a:xfrm>
          <a:prstGeom prst="rect">
            <a:avLst/>
          </a:prstGeom>
          <a:noFill/>
          <a:ln/>
        </p:spPr>
        <p:txBody>
          <a:bodyPr wrap="square" lIns="0" tIns="0" rIns="0" bIns="0" rtlCol="0" anchor="t"/>
          <a:lstStyle/>
          <a:p>
            <a:pPr marL="0" indent="0">
              <a:buNone/>
            </a:pPr>
            <a:r>
              <a:rPr lang="en-US" sz="1100" b="1" kern="0" spc="200" dirty="0">
                <a:solidFill>
                  <a:srgbClr val="22D3EE"/>
                </a:solidFill>
                <a:latin typeface="Calibri" pitchFamily="34" charset="0"/>
                <a:ea typeface="Calibri" pitchFamily="34" charset="-122"/>
                <a:cs typeface="Calibri" pitchFamily="34" charset="-120"/>
              </a:rPr>
              <a:t>WHAT THIS COULD BECOME</a:t>
            </a:r>
            <a:endParaRPr lang="en-US" sz="1100" dirty="0"/>
          </a:p>
        </p:txBody>
      </p:sp>
      <p:sp>
        <p:nvSpPr>
          <p:cNvPr id="9" name="Shape 7"/>
          <p:cNvSpPr/>
          <p:nvPr/>
        </p:nvSpPr>
        <p:spPr>
          <a:xfrm>
            <a:off x="4754880" y="1645920"/>
            <a:ext cx="457200" cy="457200"/>
          </a:xfrm>
          <a:prstGeom prst="ellipse">
            <a:avLst/>
          </a:prstGeom>
          <a:solidFill>
            <a:srgbClr val="0E3A4A"/>
          </a:solidFill>
          <a:ln w="12700">
            <a:solidFill>
              <a:srgbClr val="0E3A4A"/>
            </a:solidFill>
            <a:prstDash val="solid"/>
          </a:ln>
        </p:spPr>
      </p:sp>
      <p:pic>
        <p:nvPicPr>
          <p:cNvPr id="10" name="Image 0" descr="preencoded.png"/>
          <p:cNvPicPr>
            <a:picLocks noChangeAspect="1"/>
          </p:cNvPicPr>
          <p:nvPr/>
        </p:nvPicPr>
        <p:blipFill>
          <a:blip r:embed="rId1"/>
          <a:stretch>
            <a:fillRect/>
          </a:stretch>
        </p:blipFill>
        <p:spPr>
          <a:xfrm>
            <a:off x="4869180" y="1760220"/>
            <a:ext cx="228600" cy="228600"/>
          </a:xfrm>
          <a:prstGeom prst="rect">
            <a:avLst/>
          </a:prstGeom>
        </p:spPr>
      </p:pic>
      <p:sp>
        <p:nvSpPr>
          <p:cNvPr id="11" name="Text 8"/>
          <p:cNvSpPr txBox="1"/>
          <p:nvPr/>
        </p:nvSpPr>
        <p:spPr>
          <a:xfrm>
            <a:off x="5394960" y="1627632"/>
            <a:ext cx="3291840" cy="256032"/>
          </a:xfrm>
          <a:prstGeom prst="rect">
            <a:avLst/>
          </a:prstGeom>
          <a:noFill/>
          <a:ln/>
        </p:spPr>
        <p:txBody>
          <a:bodyPr wrap="square" lIns="0" tIns="0" rIns="0" bIns="0" rtlCol="0" anchor="t"/>
          <a:lstStyle/>
          <a:p>
            <a:pPr marL="0" indent="0">
              <a:buNone/>
            </a:pPr>
            <a:r>
              <a:rPr lang="en-US" sz="1350" b="1" dirty="0">
                <a:solidFill>
                  <a:srgbClr val="F1F5F9"/>
                </a:solidFill>
                <a:latin typeface="Calibri" pitchFamily="34" charset="0"/>
                <a:ea typeface="Calibri" pitchFamily="34" charset="-122"/>
                <a:cs typeface="Calibri" pitchFamily="34" charset="-120"/>
              </a:rPr>
              <a:t>Live disruption feeds</a:t>
            </a:r>
            <a:endParaRPr lang="en-US" sz="1350" dirty="0"/>
          </a:p>
        </p:txBody>
      </p:sp>
      <p:sp>
        <p:nvSpPr>
          <p:cNvPr id="12" name="Text 9"/>
          <p:cNvSpPr txBox="1"/>
          <p:nvPr/>
        </p:nvSpPr>
        <p:spPr>
          <a:xfrm>
            <a:off x="5394960" y="1883664"/>
            <a:ext cx="3291840" cy="2286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FlightAware, port APIs, weather APIs</a:t>
            </a:r>
            <a:endParaRPr lang="en-US" sz="1100" dirty="0"/>
          </a:p>
        </p:txBody>
      </p:sp>
      <p:sp>
        <p:nvSpPr>
          <p:cNvPr id="13" name="Shape 10"/>
          <p:cNvSpPr/>
          <p:nvPr/>
        </p:nvSpPr>
        <p:spPr>
          <a:xfrm>
            <a:off x="4754880" y="2331720"/>
            <a:ext cx="457200" cy="457200"/>
          </a:xfrm>
          <a:prstGeom prst="ellipse">
            <a:avLst/>
          </a:prstGeom>
          <a:solidFill>
            <a:srgbClr val="0E3A4A"/>
          </a:solidFill>
          <a:ln w="12700">
            <a:solidFill>
              <a:srgbClr val="0E3A4A"/>
            </a:solidFill>
            <a:prstDash val="solid"/>
          </a:ln>
        </p:spPr>
      </p:sp>
      <p:pic>
        <p:nvPicPr>
          <p:cNvPr id="14" name="Image 1" descr="preencoded.png"/>
          <p:cNvPicPr>
            <a:picLocks noChangeAspect="1"/>
          </p:cNvPicPr>
          <p:nvPr/>
        </p:nvPicPr>
        <p:blipFill>
          <a:blip r:embed="rId2"/>
          <a:stretch>
            <a:fillRect/>
          </a:stretch>
        </p:blipFill>
        <p:spPr>
          <a:xfrm>
            <a:off x="4869180" y="2446020"/>
            <a:ext cx="228600" cy="228600"/>
          </a:xfrm>
          <a:prstGeom prst="rect">
            <a:avLst/>
          </a:prstGeom>
        </p:spPr>
      </p:pic>
      <p:sp>
        <p:nvSpPr>
          <p:cNvPr id="15" name="Text 11"/>
          <p:cNvSpPr txBox="1"/>
          <p:nvPr/>
        </p:nvSpPr>
        <p:spPr>
          <a:xfrm>
            <a:off x="5394960" y="2313432"/>
            <a:ext cx="3291840" cy="256032"/>
          </a:xfrm>
          <a:prstGeom prst="rect">
            <a:avLst/>
          </a:prstGeom>
          <a:noFill/>
          <a:ln/>
        </p:spPr>
        <p:txBody>
          <a:bodyPr wrap="square" lIns="0" tIns="0" rIns="0" bIns="0" rtlCol="0" anchor="t"/>
          <a:lstStyle/>
          <a:p>
            <a:pPr marL="0" indent="0">
              <a:buNone/>
            </a:pPr>
            <a:r>
              <a:rPr lang="en-US" sz="1350" b="1" dirty="0">
                <a:solidFill>
                  <a:srgbClr val="F1F5F9"/>
                </a:solidFill>
                <a:latin typeface="Calibri" pitchFamily="34" charset="0"/>
                <a:ea typeface="Calibri" pitchFamily="34" charset="-122"/>
                <a:cs typeface="Calibri" pitchFamily="34" charset="-120"/>
              </a:rPr>
              <a:t>Real TMS routing engine</a:t>
            </a:r>
            <a:endParaRPr lang="en-US" sz="1350" dirty="0"/>
          </a:p>
        </p:txBody>
      </p:sp>
      <p:sp>
        <p:nvSpPr>
          <p:cNvPr id="16" name="Text 12"/>
          <p:cNvSpPr txBox="1"/>
          <p:nvPr/>
        </p:nvSpPr>
        <p:spPr>
          <a:xfrm>
            <a:off x="5394960" y="2569464"/>
            <a:ext cx="3291840" cy="2286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Replaces the demo route network</a:t>
            </a:r>
            <a:endParaRPr lang="en-US" sz="1100" dirty="0"/>
          </a:p>
        </p:txBody>
      </p:sp>
      <p:sp>
        <p:nvSpPr>
          <p:cNvPr id="17" name="Shape 13"/>
          <p:cNvSpPr/>
          <p:nvPr/>
        </p:nvSpPr>
        <p:spPr>
          <a:xfrm>
            <a:off x="4754880" y="3017520"/>
            <a:ext cx="457200" cy="457200"/>
          </a:xfrm>
          <a:prstGeom prst="ellipse">
            <a:avLst/>
          </a:prstGeom>
          <a:solidFill>
            <a:srgbClr val="0E3A4A"/>
          </a:solidFill>
          <a:ln w="12700">
            <a:solidFill>
              <a:srgbClr val="0E3A4A"/>
            </a:solidFill>
            <a:prstDash val="solid"/>
          </a:ln>
        </p:spPr>
      </p:sp>
      <p:pic>
        <p:nvPicPr>
          <p:cNvPr id="18" name="Image 2" descr="preencoded.png"/>
          <p:cNvPicPr>
            <a:picLocks noChangeAspect="1"/>
          </p:cNvPicPr>
          <p:nvPr/>
        </p:nvPicPr>
        <p:blipFill>
          <a:blip r:embed="rId3"/>
          <a:stretch>
            <a:fillRect/>
          </a:stretch>
        </p:blipFill>
        <p:spPr>
          <a:xfrm>
            <a:off x="4869180" y="3131820"/>
            <a:ext cx="228600" cy="228600"/>
          </a:xfrm>
          <a:prstGeom prst="rect">
            <a:avLst/>
          </a:prstGeom>
        </p:spPr>
      </p:pic>
      <p:sp>
        <p:nvSpPr>
          <p:cNvPr id="19" name="Text 14"/>
          <p:cNvSpPr txBox="1"/>
          <p:nvPr/>
        </p:nvSpPr>
        <p:spPr>
          <a:xfrm>
            <a:off x="5394960" y="2999232"/>
            <a:ext cx="3291840" cy="256032"/>
          </a:xfrm>
          <a:prstGeom prst="rect">
            <a:avLst/>
          </a:prstGeom>
          <a:noFill/>
          <a:ln/>
        </p:spPr>
        <p:txBody>
          <a:bodyPr wrap="square" lIns="0" tIns="0" rIns="0" bIns="0" rtlCol="0" anchor="t"/>
          <a:lstStyle/>
          <a:p>
            <a:pPr marL="0" indent="0">
              <a:buNone/>
            </a:pPr>
            <a:r>
              <a:rPr lang="en-US" sz="1350" b="1" dirty="0">
                <a:solidFill>
                  <a:srgbClr val="F1F5F9"/>
                </a:solidFill>
                <a:latin typeface="Calibri" pitchFamily="34" charset="0"/>
                <a:ea typeface="Calibri" pitchFamily="34" charset="-122"/>
                <a:cs typeface="Calibri" pitchFamily="34" charset="-120"/>
              </a:rPr>
              <a:t>Production scale on IBM Cloud</a:t>
            </a:r>
            <a:endParaRPr lang="en-US" sz="1350" dirty="0"/>
          </a:p>
        </p:txBody>
      </p:sp>
      <p:sp>
        <p:nvSpPr>
          <p:cNvPr id="20" name="Text 15"/>
          <p:cNvSpPr txBox="1"/>
          <p:nvPr/>
        </p:nvSpPr>
        <p:spPr>
          <a:xfrm>
            <a:off x="5394960" y="3255264"/>
            <a:ext cx="3291840" cy="2286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MongoDB Atlas + Redis</a:t>
            </a:r>
            <a:endParaRPr lang="en-US" sz="1100" dirty="0"/>
          </a:p>
        </p:txBody>
      </p:sp>
      <p:sp>
        <p:nvSpPr>
          <p:cNvPr id="21" name="Shape 16"/>
          <p:cNvSpPr/>
          <p:nvPr/>
        </p:nvSpPr>
        <p:spPr>
          <a:xfrm>
            <a:off x="4754880" y="3703320"/>
            <a:ext cx="457200" cy="457200"/>
          </a:xfrm>
          <a:prstGeom prst="ellipse">
            <a:avLst/>
          </a:prstGeom>
          <a:solidFill>
            <a:srgbClr val="0E3A4A"/>
          </a:solidFill>
          <a:ln w="12700">
            <a:solidFill>
              <a:srgbClr val="0E3A4A"/>
            </a:solidFill>
            <a:prstDash val="solid"/>
          </a:ln>
        </p:spPr>
      </p:sp>
      <p:pic>
        <p:nvPicPr>
          <p:cNvPr id="22" name="Image 3" descr="preencoded.png"/>
          <p:cNvPicPr>
            <a:picLocks noChangeAspect="1"/>
          </p:cNvPicPr>
          <p:nvPr/>
        </p:nvPicPr>
        <p:blipFill>
          <a:blip r:embed="rId4"/>
          <a:stretch>
            <a:fillRect/>
          </a:stretch>
        </p:blipFill>
        <p:spPr>
          <a:xfrm>
            <a:off x="4869180" y="3817620"/>
            <a:ext cx="228600" cy="228600"/>
          </a:xfrm>
          <a:prstGeom prst="rect">
            <a:avLst/>
          </a:prstGeom>
        </p:spPr>
      </p:pic>
      <p:sp>
        <p:nvSpPr>
          <p:cNvPr id="23" name="Text 17"/>
          <p:cNvSpPr txBox="1"/>
          <p:nvPr/>
        </p:nvSpPr>
        <p:spPr>
          <a:xfrm>
            <a:off x="5394960" y="3685032"/>
            <a:ext cx="3291840" cy="256032"/>
          </a:xfrm>
          <a:prstGeom prst="rect">
            <a:avLst/>
          </a:prstGeom>
          <a:noFill/>
          <a:ln/>
        </p:spPr>
        <p:txBody>
          <a:bodyPr wrap="square" lIns="0" tIns="0" rIns="0" bIns="0" rtlCol="0" anchor="t"/>
          <a:lstStyle/>
          <a:p>
            <a:pPr marL="0" indent="0">
              <a:buNone/>
            </a:pPr>
            <a:r>
              <a:rPr lang="en-US" sz="1350" b="1" dirty="0">
                <a:solidFill>
                  <a:srgbClr val="F1F5F9"/>
                </a:solidFill>
                <a:latin typeface="Calibri" pitchFamily="34" charset="0"/>
                <a:ea typeface="Calibri" pitchFamily="34" charset="-122"/>
                <a:cs typeface="Calibri" pitchFamily="34" charset="-120"/>
              </a:rPr>
              <a:t>Multi-tenant MCP tools</a:t>
            </a:r>
            <a:endParaRPr lang="en-US" sz="1350" dirty="0"/>
          </a:p>
        </p:txBody>
      </p:sp>
      <p:sp>
        <p:nvSpPr>
          <p:cNvPr id="24" name="Text 18"/>
          <p:cNvSpPr txBox="1"/>
          <p:nvPr/>
        </p:nvSpPr>
        <p:spPr>
          <a:xfrm>
            <a:off x="5394960" y="3941064"/>
            <a:ext cx="3291840" cy="2286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Carrier management across tenants</a:t>
            </a:r>
            <a:endParaRPr lang="en-US" sz="1100" dirty="0"/>
          </a:p>
        </p:txBody>
      </p:sp>
      <p:sp>
        <p:nvSpPr>
          <p:cNvPr id="25" name="Text 19"/>
          <p:cNvSpPr txBox="1"/>
          <p:nvPr/>
        </p:nvSpPr>
        <p:spPr>
          <a:xfrm>
            <a:off x="457200" y="4553712"/>
            <a:ext cx="6217920" cy="27432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Lead: Nilkanth Patel  ·  Team: Manav Shah, Priyank Patel, Prachi Patel</a:t>
            </a:r>
            <a:endParaRPr lang="en-US" sz="1050" dirty="0"/>
          </a:p>
        </p:txBody>
      </p:sp>
      <p:sp>
        <p:nvSpPr>
          <p:cNvPr id="26" name="Text 20"/>
          <p:cNvSpPr txBox="1"/>
          <p:nvPr/>
        </p:nvSpPr>
        <p:spPr>
          <a:xfrm>
            <a:off x="6675120" y="4480560"/>
            <a:ext cx="2011680" cy="365760"/>
          </a:xfrm>
          <a:prstGeom prst="rect">
            <a:avLst/>
          </a:prstGeom>
          <a:noFill/>
          <a:ln/>
        </p:spPr>
        <p:txBody>
          <a:bodyPr wrap="square" lIns="0" tIns="0" rIns="0" bIns="0" rtlCol="0" anchor="ctr"/>
          <a:lstStyle/>
          <a:p>
            <a:pPr marL="0" indent="0" algn="r">
              <a:buNone/>
            </a:pPr>
            <a:r>
              <a:rPr lang="en-US" sz="1800" b="1" dirty="0">
                <a:solidFill>
                  <a:srgbClr val="22D3EE"/>
                </a:solidFill>
                <a:latin typeface="Arial" pitchFamily="34" charset="0"/>
                <a:ea typeface="Arial" pitchFamily="34" charset="-122"/>
                <a:cs typeface="Arial" pitchFamily="34" charset="-120"/>
              </a:rPr>
              <a:t>Thank you</a:t>
            </a:r>
            <a:endParaRPr lang="en-US" sz="1800" dirty="0"/>
          </a:p>
        </p:txBody>
      </p:sp>
    </p:spTree>
  </p:cSld>
  <p:clrMapOvr>
    <a:masterClrMapping/>
  </p:clrMapOvr>
</p:sld>
</file>

<file path=ppt/theme/theme1.xml><?xml version="1.0" encoding="utf-8"?>
<a:theme xmlns:thm15="http://schemas.microsoft.com/office/thememl/2012/main"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ap:Properties xmlns:vt="http://schemas.openxmlformats.org/officeDocument/2006/docPropsVTypes" xmlns:ap="http://schemas.openxmlformats.org/officeDocument/2006/extended-properties">
  <ap:TotalTime>0</ap:TotalTime>
  <ap:Words>0</ap:Words>
  <ap:Application>Microsoft Office PowerPoint</ap:Application>
  <ap:PresentationFormat>On-screen Show (16:9)</ap:PresentationFormat>
  <ap:Paragraphs>0</ap:Paragraphs>
  <ap:Slides>8</ap:Slides>
  <ap:Notes>8</ap:Notes>
  <ap:HiddenSlides>0</ap:HiddenSlides>
  <ap:MMClips>0</ap:MMClips>
  <ap:ScaleCrop>false</ap:ScaleCrop>
  <ap:HeadingPairs>
    <vt:vector baseType="variant" size="6">
      <vt:variant>
        <vt:lpstr>Fonts Used</vt:lpstr>
      </vt:variant>
      <vt:variant>
        <vt:i4>2</vt:i4>
      </vt:variant>
      <vt:variant>
        <vt:lpstr>Theme</vt:lpstr>
      </vt:variant>
      <vt:variant>
        <vt:i4>1</vt:i4>
      </vt:variant>
      <vt:variant>
        <vt:lpstr>Slide Titles</vt:lpstr>
      </vt:variant>
      <vt:variant>
        <vt:i4>8</vt:i4>
      </vt:variant>
    </vt:vector>
  </ap:HeadingPairs>
  <ap:TitlesOfParts>
    <vt:vector baseType="lpstr" size="11">
      <vt:lpstr>Arial</vt:lpstr>
      <vt:lpstr>Calibri</vt:lpstr>
      <vt:lpstr>Office Theme</vt:lpstr>
      <vt:lpstr>Slide 1</vt:lpstr>
      <vt:lpstr>Slide 2</vt:lpstr>
      <vt:lpstr>Slide 3</vt:lpstr>
      <vt:lpstr>Slide 4</vt:lpstr>
      <vt:lpstr>Slide 5</vt:lpstr>
      <vt:lpstr>Slide 6</vt:lpstr>
      <vt:lpstr>Slide 7</vt:lpstr>
      <vt:lpstr>Slide 8</vt:lpstr>
    </vt:vector>
  </ap:TitlesOfParts>
  <ap:Company>PptxGenJS</ap:Company>
  <ap:LinksUpToDate>false</ap:LinksUpToDate>
  <ap:SharedDoc>false</ap:SharedDoc>
  <ap:HyperlinksChanged>false</ap:HyperlinksChanged>
  <ap:AppVersion>16.0000</ap:AppVersion>
</ap: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SupplyChain AI Copilot</dc:title>
  <dc:subject>PptxGenJS Presentation</dc:subject>
  <dc:creator>PptxGenJS</dc:creator>
  <cp:lastModifiedBy>PptxGenJS</cp:lastModifiedBy>
  <cp:revision>1</cp:revision>
  <dcterms:created xsi:type="dcterms:W3CDTF">2026-09-15T17:44:23Z</dcterms:created>
  <dcterms:modified xsi:type="dcterms:W3CDTF">2026-09-15T17:44:23Z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1.0.150</vt:lpwstr>
  </op:property>
  <op:property fmtid="{D5CDD505-2E9C-101B-9397-08002B2CF9AE}" pid="3" name="OfficeCLI.LastModified">
    <vt:lpwstr xmlns:vt="http://schemas.openxmlformats.org/officeDocument/2006/docPropsVTypes">2026-09-15T17:49:10Z</vt:lpwstr>
  </op:property>
</op:Properties>
</file>